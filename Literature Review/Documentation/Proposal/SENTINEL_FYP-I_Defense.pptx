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Assalam o Alaikum respected evaluators and supervisor. We are presenting our FYP-I defense for SENTINEL. Our team is Muddassir, Faiz and Qaim. SENTINEL is an end-to-end surveillance framework that turns passive CCTV cameras into real-time threat detection systems that alert security staff as incidents unfold. (Fill in the supervisor name on this slide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Millions of CCTV cameras are installed, yet most only record. They depend on human operators watching many screens. Vigilance research going back to Mackworth in 1948 shows that detection performance falls significantly during prolonged monitoring. SENTINEL never tires: it analyzes every frame and alerts a human when something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surveillance exists but has three gaps. First, static blindness: a system that only looks for guns misses a weaponless assault or mugging. Second, models that do recognize actions typically use 3D-CNNs that need server GPUs and cannot keep real-time frame rates. Third, single-frame errors, such as a phone glare that looks like a gun for one frame, trigger false alarms until operators mute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research questions guide the work. Can we combine pose estimation with weapon detection in one pipeline? Do skeletal keypoints give a lighter and more effective representation for violence detection than bounding-box tracking? And how much does a temporal consistency buffer reduce false positives? Our main engineering objective is to sustain at least 25 frames per second on consumer-grade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SENTINEL splits processing into two streams. Stream 1 uses YOLOv8s to detect weapons. Stream 2 extracts 17 skeletal keypoints per person with YOLOv8m-Pose and feeds sequences of them into a 2-layer LSTM to classify behavior. A temporal consistency buffer then verifies that a threat persists before it becomes an alert, which is streamed to a live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review of recent 2025-2026 work, Bonde et al. and Shanthi et al. provide strong weapon detection but no temporal behavior modeling. Praveen et al. introduce a temporal buffer but only for binary normal-versus-abnormal anomaly detection. SENTINEL is positioned as the framework that combines weapon detection, pose-based behavior classification and false-alarm suppression in real time. (Add full citations on the References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Walking through the architecture: frames enter through OpenCV. The inference engine runs weapon detection and pose extraction. Pose keypoints are collected over a sliding window of about 10 frames and classified by the LSTM. If a weapon or a violent action is detected, the temporal filter verifies persistence. Verified incidents are logged and broadcast over WebSockets to the dashboard. Our design goal is sub-second latency from frame to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weapon detection we chose the Small variant of YOLOv8 for its trade-off between accuracy and speed. The model is fine-tuned on two classes, Gun and Knife, which are the classes with consistent labeling across public datasets. The main challenges are the small size of weapons in CCTV frames and partial occlusion by hands and bodies. The boxes shown on the left are an illustration, not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stream handles behavior. Instead of processing heavy video pixels, YOLOv8m-Pose extracts 17 keypoints per person, such as shoulders, elbows and knees. We feed the coordinates over a window of frames into a 2-layer LSTM, which is designed for sequences and can learn the spatiotemporal pattern of a punch or a struggle. Target classes are Fighting, Robbery, Shooting and Normal, matching categories that exist in the UCF-Crime dataset. Snatching is kept as a stretch goal because no suitable public dataset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AI sees a gun in a single frame, we do not sound the alarm. The temporal consistency buffer waits to see whether the same object, tracked by Intersection over Union, persists as a threat in, for example, 6 of the last 10 frames. This filters out flickering glitches. Because it is simple counting logic rather than a second neural network, its processing overhead is negligible. RQ3 will measure exactly how much it reduces false positives.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stack is chosen for speed. PyTorch and Ultralytics YOLOv8 for the models. FastAPI for the backend because its asynchronous design suits video streaming. OpenCV for ingestion and SQLite for incident logging. React with Vite on the frontend, using HTML5 Canvas to draw bounding boxes over the stream, and WebSockets for low-latency communication between backend and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 on UCF-Crime, which has 128 hours of real-world surveillance video across 13 anomaly classes, and use RWF-2000, 2,000 real-world CCTV fight clips, to support the Fighting class. These are low-resolution, messy, real-world videos, not staged footage. Because crime footage is rare, we emphasize per-class precision, recall, F1 and mAP@50 rather than raw accuracy. Our operational targets are at least 25 FPS on an RTX 3060 and sub-second alert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example settings: a school or campus entrance where a gun is detected and security receives an alert with a snapshot; a mall or food court where a fight is recognized from pose sequences; a retail store or ATM where robbery behavior is flagged for review; and a transit station or parking lot where a knife is detected in a crowded scene. On the right is an illustrative mock-up of the dashboard alert with threat type, confidence, camera and timestamp.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benefits: SENTINEL works around the clock without fatigue; alerts reach staff instantly through the dashboard and notifications; temporal filtering reduces false alarms; it runs on consumer GPUs and reuses existing cameras; every incident is saved with visual evidence; and humans remain in control of the final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identified the main risks and how we plan to manage them. Pose accuracy degrades under occlusion and low resolution, so we use a larger pose variant. Small weapons are handled through fine-tuning and augmentation. Class imbalance is handled with augmentation and by evaluating with F1 and per-class recall. Crowded scenes can reduce FPS, so we use lightweight pose extraction and asynchronous processing. Concealed weapons, face recognition and multi-camera tracking are deliberately out of scope. Finally, SENTINEL supports operators and does not replace human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deliver a polished system in about 10 months we keep the scope tight. In scope: single-stream ingestion, weapon detection, behavior classification, the temporal buffer and the live dashboard. Out of scope: multi-camera re-identification, face recognition and concealed weapon detection. Faces are rarely clear in real CCTV, and face recognition would compete with real-time performance. Roadmap: research and dataset preparation (Aug-Oct 2026) is complete; model training runs Nov 2026 to Jan 2027; integration and testing Feb to Apr 2027; final documentation and defense May to June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SENTINEL moves surveillance from a passive tool used after an incident to a proactive system that helps security staff respond in real time. It combines weapon detection, pose-based behavior recognition and false-alarm suppression in one pipeline. Our next step is dataset curation and model training. Thank you. We welcome your questions and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for the datasets, models and background literature used in this presentation. Add the full citations for the three 2025-2026 papers in the last entry before the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slideLayout" Target="../slideLayouts/slideLayout1.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731520" y="685800"/>
            <a:ext cx="5486400" cy="274320"/>
          </a:xfrm>
          <a:prstGeom prst="rect">
            <a:avLst/>
          </a:prstGeom>
          <a:noFill/>
          <a:ln/>
        </p:spPr>
        <p:txBody>
          <a:bodyPr wrap="square" lIns="0" tIns="0" rIns="0" bIns="0" rtlCol="0" anchor="t"/>
          <a:lstStyle/>
          <a:p>
            <a:pPr indent="0" marL="0">
              <a:buNone/>
            </a:pPr>
            <a:r>
              <a:rPr lang="en-US" sz="1200" b="1" spc="300" kern="0" dirty="0">
                <a:solidFill>
                  <a:srgbClr val="C9A227"/>
                </a:solidFill>
                <a:latin typeface="Calibri" pitchFamily="34" charset="0"/>
                <a:ea typeface="Calibri" pitchFamily="34" charset="-122"/>
                <a:cs typeface="Calibri" pitchFamily="34" charset="-120"/>
              </a:rPr>
              <a:t>FYP-I DEFENSE  |  FALL 2026</a:t>
            </a:r>
            <a:endParaRPr lang="en-US" sz="1200" dirty="0"/>
          </a:p>
        </p:txBody>
      </p:sp>
      <p:sp>
        <p:nvSpPr>
          <p:cNvPr id="3" name="Text 1"/>
          <p:cNvSpPr txBox="1"/>
          <p:nvPr/>
        </p:nvSpPr>
        <p:spPr>
          <a:xfrm>
            <a:off x="731520" y="1143000"/>
            <a:ext cx="5760720" cy="1005840"/>
          </a:xfrm>
          <a:prstGeom prst="rect">
            <a:avLst/>
          </a:prstGeom>
          <a:noFill/>
          <a:ln/>
        </p:spPr>
        <p:txBody>
          <a:bodyPr wrap="square" lIns="0" tIns="0" rIns="0" bIns="0"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SENTINEL</a:t>
            </a:r>
            <a:endParaRPr lang="en-US" sz="6400" dirty="0"/>
          </a:p>
        </p:txBody>
      </p:sp>
      <p:sp>
        <p:nvSpPr>
          <p:cNvPr id="4" name="Text 2"/>
          <p:cNvSpPr txBox="1"/>
          <p:nvPr/>
        </p:nvSpPr>
        <p:spPr>
          <a:xfrm>
            <a:off x="731520" y="2240280"/>
            <a:ext cx="5669280" cy="914400"/>
          </a:xfrm>
          <a:prstGeom prst="rect">
            <a:avLst/>
          </a:prstGeom>
          <a:noFill/>
          <a:ln/>
        </p:spPr>
        <p:txBody>
          <a:bodyPr wrap="square" lIns="0" tIns="0" rIns="0" bIns="0" rtlCol="0" anchor="t"/>
          <a:lstStyle/>
          <a:p>
            <a:pPr indent="0" marL="0">
              <a:buNone/>
            </a:pPr>
            <a:r>
              <a:rPr lang="en-US" sz="2600" dirty="0">
                <a:solidFill>
                  <a:srgbClr val="C9A227"/>
                </a:solidFill>
                <a:latin typeface="Cambria" pitchFamily="34" charset="0"/>
                <a:ea typeface="Cambria" pitchFamily="34" charset="-122"/>
                <a:cs typeface="Cambria" pitchFamily="34" charset="-120"/>
              </a:rPr>
              <a:t>Real-Time AI-Powered CCTV Threat Detection</a:t>
            </a:r>
            <a:endParaRPr lang="en-US" sz="2600" dirty="0"/>
          </a:p>
        </p:txBody>
      </p:sp>
      <p:sp>
        <p:nvSpPr>
          <p:cNvPr id="5" name="Text 3"/>
          <p:cNvSpPr txBox="1"/>
          <p:nvPr/>
        </p:nvSpPr>
        <p:spPr>
          <a:xfrm>
            <a:off x="731520" y="3200400"/>
            <a:ext cx="5669280" cy="365760"/>
          </a:xfrm>
          <a:prstGeom prst="rect">
            <a:avLst/>
          </a:prstGeom>
          <a:noFill/>
          <a:ln/>
        </p:spPr>
        <p:txBody>
          <a:bodyPr wrap="square" lIns="0" tIns="0" rIns="0" bIns="0" rtlCol="0" anchor="t"/>
          <a:lstStyle/>
          <a:p>
            <a:pPr indent="0" marL="0">
              <a:buNone/>
            </a:pPr>
            <a:r>
              <a:rPr lang="en-US" sz="1600" dirty="0">
                <a:solidFill>
                  <a:srgbClr val="C9D6EA"/>
                </a:solidFill>
                <a:latin typeface="Calibri" pitchFamily="34" charset="0"/>
                <a:ea typeface="Calibri" pitchFamily="34" charset="-122"/>
                <a:cs typeface="Calibri" pitchFamily="34" charset="-120"/>
              </a:rPr>
              <a:t>Weapon Detection and Behavioral Crime Recognition</a:t>
            </a:r>
            <a:endParaRPr lang="en-US" sz="1600" dirty="0"/>
          </a:p>
        </p:txBody>
      </p:sp>
      <p:sp>
        <p:nvSpPr>
          <p:cNvPr id="6" name="Text 4"/>
          <p:cNvSpPr txBox="1"/>
          <p:nvPr/>
        </p:nvSpPr>
        <p:spPr>
          <a:xfrm>
            <a:off x="731520" y="4114800"/>
            <a:ext cx="5486400" cy="228600"/>
          </a:xfrm>
          <a:prstGeom prst="rect">
            <a:avLst/>
          </a:prstGeom>
          <a:noFill/>
          <a:ln/>
        </p:spPr>
        <p:txBody>
          <a:bodyPr wrap="square" lIns="0" tIns="0" rIns="0" bIns="0" rtlCol="0" anchor="t"/>
          <a:lstStyle/>
          <a:p>
            <a:pPr indent="0" marL="0">
              <a:buNone/>
            </a:pPr>
            <a:r>
              <a:rPr lang="en-US" sz="1100" b="1" spc="200" kern="0" dirty="0">
                <a:solidFill>
                  <a:srgbClr val="C9A227"/>
                </a:solidFill>
                <a:latin typeface="Calibri" pitchFamily="34" charset="0"/>
                <a:ea typeface="Calibri" pitchFamily="34" charset="-122"/>
                <a:cs typeface="Calibri" pitchFamily="34" charset="-120"/>
              </a:rPr>
              <a:t>GROUP MEMBERS</a:t>
            </a:r>
            <a:endParaRPr lang="en-US" sz="1100" dirty="0"/>
          </a:p>
        </p:txBody>
      </p:sp>
      <p:sp>
        <p:nvSpPr>
          <p:cNvPr id="7" name="Text 5"/>
          <p:cNvSpPr txBox="1"/>
          <p:nvPr/>
        </p:nvSpPr>
        <p:spPr>
          <a:xfrm>
            <a:off x="731520" y="4370832"/>
            <a:ext cx="5760720" cy="32004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Muddassir Rizwan   |   Faiz Hussain   |   Qaim Mehdi</a:t>
            </a:r>
            <a:endParaRPr lang="en-US" sz="1600" dirty="0"/>
          </a:p>
        </p:txBody>
      </p:sp>
      <p:sp>
        <p:nvSpPr>
          <p:cNvPr id="8" name="Text 6"/>
          <p:cNvSpPr txBox="1"/>
          <p:nvPr/>
        </p:nvSpPr>
        <p:spPr>
          <a:xfrm>
            <a:off x="731520" y="4892040"/>
            <a:ext cx="5486400" cy="228600"/>
          </a:xfrm>
          <a:prstGeom prst="rect">
            <a:avLst/>
          </a:prstGeom>
          <a:noFill/>
          <a:ln/>
        </p:spPr>
        <p:txBody>
          <a:bodyPr wrap="square" lIns="0" tIns="0" rIns="0" bIns="0" rtlCol="0" anchor="t"/>
          <a:lstStyle/>
          <a:p>
            <a:pPr indent="0" marL="0">
              <a:buNone/>
            </a:pPr>
            <a:r>
              <a:rPr lang="en-US" sz="1100" b="1" spc="200" kern="0" dirty="0">
                <a:solidFill>
                  <a:srgbClr val="C9A227"/>
                </a:solidFill>
                <a:latin typeface="Calibri" pitchFamily="34" charset="0"/>
                <a:ea typeface="Calibri" pitchFamily="34" charset="-122"/>
                <a:cs typeface="Calibri" pitchFamily="34" charset="-120"/>
              </a:rPr>
              <a:t>SUPERVISOR</a:t>
            </a:r>
            <a:endParaRPr lang="en-US" sz="1100" dirty="0"/>
          </a:p>
        </p:txBody>
      </p:sp>
      <p:sp>
        <p:nvSpPr>
          <p:cNvPr id="9" name="Text 7"/>
          <p:cNvSpPr txBox="1"/>
          <p:nvPr/>
        </p:nvSpPr>
        <p:spPr>
          <a:xfrm>
            <a:off x="731520" y="5148072"/>
            <a:ext cx="5760720" cy="32004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[Supervisor Name]</a:t>
            </a:r>
            <a:endParaRPr lang="en-US" sz="1600" dirty="0"/>
          </a:p>
        </p:txBody>
      </p:sp>
      <p:sp>
        <p:nvSpPr>
          <p:cNvPr id="10" name="Text 8"/>
          <p:cNvSpPr txBox="1"/>
          <p:nvPr/>
        </p:nvSpPr>
        <p:spPr>
          <a:xfrm>
            <a:off x="731520" y="5852160"/>
            <a:ext cx="5760720" cy="274320"/>
          </a:xfrm>
          <a:prstGeom prst="rect">
            <a:avLst/>
          </a:prstGeom>
          <a:noFill/>
          <a:ln/>
        </p:spPr>
        <p:txBody>
          <a:bodyPr wrap="square" lIns="0" tIns="0" rIns="0" bIns="0" rtlCol="0" anchor="t"/>
          <a:lstStyle/>
          <a:p>
            <a:pPr indent="0" marL="0">
              <a:buNone/>
            </a:pPr>
            <a:r>
              <a:rPr lang="en-US" sz="1300" dirty="0">
                <a:solidFill>
                  <a:srgbClr val="C9D6EA"/>
                </a:solidFill>
                <a:latin typeface="Calibri" pitchFamily="34" charset="0"/>
                <a:ea typeface="Calibri" pitchFamily="34" charset="-122"/>
                <a:cs typeface="Calibri" pitchFamily="34" charset="-120"/>
              </a:rPr>
              <a:t>Department of Computer Science, FAST-NUCES</a:t>
            </a:r>
            <a:endParaRPr lang="en-US" sz="1300" dirty="0"/>
          </a:p>
        </p:txBody>
      </p:sp>
      <p:sp>
        <p:nvSpPr>
          <p:cNvPr id="11" name="Shape 9"/>
          <p:cNvSpPr/>
          <p:nvPr/>
        </p:nvSpPr>
        <p:spPr>
          <a:xfrm>
            <a:off x="6675120" y="1188720"/>
            <a:ext cx="4937760" cy="4480560"/>
          </a:xfrm>
          <a:prstGeom prst="rect">
            <a:avLst/>
          </a:prstGeom>
          <a:solidFill>
            <a:srgbClr val="10284A"/>
          </a:solidFill>
          <a:ln w="19050">
            <a:solidFill>
              <a:srgbClr val="2E4A78"/>
            </a:solidFill>
            <a:prstDash val="solid"/>
          </a:ln>
        </p:spPr>
      </p:sp>
      <p:sp>
        <p:nvSpPr>
          <p:cNvPr id="12" name="Shape 10"/>
          <p:cNvSpPr/>
          <p:nvPr/>
        </p:nvSpPr>
        <p:spPr>
          <a:xfrm>
            <a:off x="6693408" y="4683557"/>
            <a:ext cx="4901184" cy="967435"/>
          </a:xfrm>
          <a:prstGeom prst="rect">
            <a:avLst/>
          </a:prstGeom>
          <a:solidFill>
            <a:srgbClr val="0D2140"/>
          </a:solidFill>
          <a:ln w="6350">
            <a:solidFill>
              <a:srgbClr val="0D2140"/>
            </a:solidFill>
            <a:prstDash val="solid"/>
          </a:ln>
        </p:spPr>
      </p:sp>
      <p:sp>
        <p:nvSpPr>
          <p:cNvPr id="13" name="Shape 11"/>
          <p:cNvSpPr/>
          <p:nvPr/>
        </p:nvSpPr>
        <p:spPr>
          <a:xfrm>
            <a:off x="6858000" y="1389888"/>
            <a:ext cx="128016" cy="128016"/>
          </a:xfrm>
          <a:prstGeom prst="ellipse">
            <a:avLst/>
          </a:prstGeom>
          <a:solidFill>
            <a:srgbClr val="E5484D"/>
          </a:solidFill>
          <a:ln w="6350">
            <a:solidFill>
              <a:srgbClr val="E5484D"/>
            </a:solidFill>
            <a:prstDash val="solid"/>
          </a:ln>
        </p:spPr>
      </p:sp>
      <p:sp>
        <p:nvSpPr>
          <p:cNvPr id="14" name="Text 12"/>
          <p:cNvSpPr txBox="1"/>
          <p:nvPr/>
        </p:nvSpPr>
        <p:spPr>
          <a:xfrm>
            <a:off x="7059168" y="1344168"/>
            <a:ext cx="2011680" cy="219456"/>
          </a:xfrm>
          <a:prstGeom prst="rect">
            <a:avLst/>
          </a:prstGeom>
          <a:noFill/>
          <a:ln/>
        </p:spPr>
        <p:txBody>
          <a:bodyPr wrap="square" lIns="0" tIns="0" rIns="0" bIns="0" rtlCol="0" anchor="t"/>
          <a:lstStyle/>
          <a:p>
            <a:pPr indent="0" marL="0">
              <a:buNone/>
            </a:pPr>
            <a:r>
              <a:rPr lang="en-US" sz="1100" b="1" dirty="0">
                <a:solidFill>
                  <a:srgbClr val="C9D6EA"/>
                </a:solidFill>
                <a:latin typeface="Calibri" pitchFamily="34" charset="0"/>
                <a:ea typeface="Calibri" pitchFamily="34" charset="-122"/>
                <a:cs typeface="Calibri" pitchFamily="34" charset="-120"/>
              </a:rPr>
              <a:t>REC  CAM 01</a:t>
            </a:r>
            <a:endParaRPr lang="en-US" sz="1100" dirty="0"/>
          </a:p>
        </p:txBody>
      </p:sp>
      <p:sp>
        <p:nvSpPr>
          <p:cNvPr id="15" name="Shape 13"/>
          <p:cNvSpPr/>
          <p:nvPr/>
        </p:nvSpPr>
        <p:spPr>
          <a:xfrm>
            <a:off x="8037576" y="2468880"/>
            <a:ext cx="384048" cy="384048"/>
          </a:xfrm>
          <a:prstGeom prst="ellipse">
            <a:avLst/>
          </a:prstGeom>
          <a:solidFill>
            <a:srgbClr val="4A6FA5"/>
          </a:solidFill>
          <a:ln w="6350">
            <a:solidFill>
              <a:srgbClr val="4A6FA5"/>
            </a:solidFill>
            <a:prstDash val="solid"/>
          </a:ln>
        </p:spPr>
      </p:sp>
      <p:sp>
        <p:nvSpPr>
          <p:cNvPr id="16" name="Shape 14"/>
          <p:cNvSpPr/>
          <p:nvPr/>
        </p:nvSpPr>
        <p:spPr>
          <a:xfrm>
            <a:off x="7863840" y="2907792"/>
            <a:ext cx="731520" cy="1463040"/>
          </a:xfrm>
          <a:prstGeom prst="roundRect">
            <a:avLst>
              <a:gd name="adj" fmla="val 18750"/>
            </a:avLst>
          </a:prstGeom>
          <a:solidFill>
            <a:srgbClr val="4A6FA5"/>
          </a:solidFill>
          <a:ln w="6350">
            <a:solidFill>
              <a:srgbClr val="4A6FA5"/>
            </a:solidFill>
            <a:prstDash val="solid"/>
          </a:ln>
        </p:spPr>
      </p:sp>
      <p:sp>
        <p:nvSpPr>
          <p:cNvPr id="17" name="Shape 15"/>
          <p:cNvSpPr/>
          <p:nvPr/>
        </p:nvSpPr>
        <p:spPr>
          <a:xfrm>
            <a:off x="10241737" y="2651760"/>
            <a:ext cx="364846" cy="364846"/>
          </a:xfrm>
          <a:prstGeom prst="ellipse">
            <a:avLst/>
          </a:prstGeom>
          <a:solidFill>
            <a:srgbClr val="4A6FA5"/>
          </a:solidFill>
          <a:ln w="6350">
            <a:solidFill>
              <a:srgbClr val="4A6FA5"/>
            </a:solidFill>
            <a:prstDash val="solid"/>
          </a:ln>
        </p:spPr>
      </p:sp>
      <p:sp>
        <p:nvSpPr>
          <p:cNvPr id="18" name="Shape 16"/>
          <p:cNvSpPr/>
          <p:nvPr/>
        </p:nvSpPr>
        <p:spPr>
          <a:xfrm>
            <a:off x="10076688" y="3068726"/>
            <a:ext cx="694944" cy="1389888"/>
          </a:xfrm>
          <a:prstGeom prst="roundRect">
            <a:avLst>
              <a:gd name="adj" fmla="val 19737"/>
            </a:avLst>
          </a:prstGeom>
          <a:solidFill>
            <a:srgbClr val="4A6FA5"/>
          </a:solidFill>
          <a:ln w="6350">
            <a:solidFill>
              <a:srgbClr val="4A6FA5"/>
            </a:solidFill>
            <a:prstDash val="solid"/>
          </a:ln>
        </p:spPr>
      </p:sp>
      <p:sp>
        <p:nvSpPr>
          <p:cNvPr id="19" name="Shape 17"/>
          <p:cNvSpPr/>
          <p:nvPr/>
        </p:nvSpPr>
        <p:spPr>
          <a:xfrm>
            <a:off x="8823960" y="3246120"/>
            <a:ext cx="548640" cy="182880"/>
          </a:xfrm>
          <a:prstGeom prst="rect">
            <a:avLst/>
          </a:prstGeom>
          <a:solidFill>
            <a:srgbClr val="E8EEF7"/>
          </a:solidFill>
          <a:ln w="9525">
            <a:solidFill>
              <a:srgbClr val="E8EEF7"/>
            </a:solidFill>
            <a:prstDash val="solid"/>
          </a:ln>
        </p:spPr>
      </p:sp>
      <p:sp>
        <p:nvSpPr>
          <p:cNvPr id="20" name="Shape 18"/>
          <p:cNvSpPr/>
          <p:nvPr/>
        </p:nvSpPr>
        <p:spPr>
          <a:xfrm>
            <a:off x="8869680" y="3383280"/>
            <a:ext cx="137160" cy="274320"/>
          </a:xfrm>
          <a:prstGeom prst="rect">
            <a:avLst/>
          </a:prstGeom>
          <a:solidFill>
            <a:srgbClr val="E8EEF7"/>
          </a:solidFill>
          <a:ln w="9525">
            <a:solidFill>
              <a:srgbClr val="E8EEF7"/>
            </a:solidFill>
            <a:prstDash val="solid"/>
          </a:ln>
        </p:spPr>
      </p:sp>
      <p:sp>
        <p:nvSpPr>
          <p:cNvPr id="21" name="Shape 19"/>
          <p:cNvSpPr/>
          <p:nvPr/>
        </p:nvSpPr>
        <p:spPr>
          <a:xfrm>
            <a:off x="7680960" y="2331720"/>
            <a:ext cx="1097280" cy="2240280"/>
          </a:xfrm>
          <a:prstGeom prst="rect">
            <a:avLst/>
          </a:prstGeom>
          <a:solidFill>
            <a:srgbClr val="FFFFFF">
              <a:alpha val="0"/>
            </a:srgbClr>
          </a:solidFill>
          <a:ln w="28575">
            <a:solidFill>
              <a:srgbClr val="C9A227"/>
            </a:solidFill>
            <a:prstDash val="solid"/>
          </a:ln>
        </p:spPr>
      </p:sp>
      <p:sp>
        <p:nvSpPr>
          <p:cNvPr id="22" name="Shape 20"/>
          <p:cNvSpPr/>
          <p:nvPr/>
        </p:nvSpPr>
        <p:spPr>
          <a:xfrm>
            <a:off x="7680960" y="2084832"/>
            <a:ext cx="964692" cy="246888"/>
          </a:xfrm>
          <a:prstGeom prst="rect">
            <a:avLst/>
          </a:prstGeom>
          <a:solidFill>
            <a:srgbClr val="C9A227"/>
          </a:solidFill>
          <a:ln w="6350">
            <a:solidFill>
              <a:srgbClr val="C9A227"/>
            </a:solidFill>
            <a:prstDash val="solid"/>
          </a:ln>
        </p:spPr>
      </p:sp>
      <p:sp>
        <p:nvSpPr>
          <p:cNvPr id="23" name="Text 21"/>
          <p:cNvSpPr txBox="1"/>
          <p:nvPr/>
        </p:nvSpPr>
        <p:spPr>
          <a:xfrm>
            <a:off x="7680960" y="2084832"/>
            <a:ext cx="964692" cy="24688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Person 0.97</a:t>
            </a:r>
            <a:endParaRPr lang="en-US" sz="1100" dirty="0"/>
          </a:p>
        </p:txBody>
      </p:sp>
      <p:sp>
        <p:nvSpPr>
          <p:cNvPr id="24" name="Shape 22"/>
          <p:cNvSpPr/>
          <p:nvPr/>
        </p:nvSpPr>
        <p:spPr>
          <a:xfrm>
            <a:off x="9875520" y="2514600"/>
            <a:ext cx="1097280" cy="2103120"/>
          </a:xfrm>
          <a:prstGeom prst="rect">
            <a:avLst/>
          </a:prstGeom>
          <a:solidFill>
            <a:srgbClr val="FFFFFF">
              <a:alpha val="0"/>
            </a:srgbClr>
          </a:solidFill>
          <a:ln w="28575">
            <a:solidFill>
              <a:srgbClr val="C9A227"/>
            </a:solidFill>
            <a:prstDash val="solid"/>
          </a:ln>
        </p:spPr>
      </p:sp>
      <p:sp>
        <p:nvSpPr>
          <p:cNvPr id="25" name="Shape 23"/>
          <p:cNvSpPr/>
          <p:nvPr/>
        </p:nvSpPr>
        <p:spPr>
          <a:xfrm>
            <a:off x="9875520" y="2267712"/>
            <a:ext cx="964692" cy="246888"/>
          </a:xfrm>
          <a:prstGeom prst="rect">
            <a:avLst/>
          </a:prstGeom>
          <a:solidFill>
            <a:srgbClr val="C9A227"/>
          </a:solidFill>
          <a:ln w="6350">
            <a:solidFill>
              <a:srgbClr val="C9A227"/>
            </a:solidFill>
            <a:prstDash val="solid"/>
          </a:ln>
        </p:spPr>
      </p:sp>
      <p:sp>
        <p:nvSpPr>
          <p:cNvPr id="26" name="Text 24"/>
          <p:cNvSpPr txBox="1"/>
          <p:nvPr/>
        </p:nvSpPr>
        <p:spPr>
          <a:xfrm>
            <a:off x="9875520" y="2267712"/>
            <a:ext cx="964692" cy="246888"/>
          </a:xfrm>
          <a:prstGeom prst="rect">
            <a:avLst/>
          </a:prstGeom>
          <a:noFill/>
          <a:ln/>
        </p:spPr>
        <p:txBody>
          <a:bodyPr wrap="square" lIns="0" tIns="0" rIns="0" bIns="0" rtlCol="0" anchor="ctr"/>
          <a:lstStyle/>
          <a:p>
            <a:pPr algn="ctr" indent="0" marL="0">
              <a:buNone/>
            </a:pPr>
            <a:r>
              <a:rPr lang="en-US" sz="1100" b="1" dirty="0">
                <a:solidFill>
                  <a:srgbClr val="0B1F3A"/>
                </a:solidFill>
                <a:latin typeface="Calibri" pitchFamily="34" charset="0"/>
                <a:ea typeface="Calibri" pitchFamily="34" charset="-122"/>
                <a:cs typeface="Calibri" pitchFamily="34" charset="-120"/>
              </a:rPr>
              <a:t>Person 0.95</a:t>
            </a:r>
            <a:endParaRPr lang="en-US" sz="1100" dirty="0"/>
          </a:p>
        </p:txBody>
      </p:sp>
      <p:sp>
        <p:nvSpPr>
          <p:cNvPr id="27" name="Shape 25"/>
          <p:cNvSpPr/>
          <p:nvPr/>
        </p:nvSpPr>
        <p:spPr>
          <a:xfrm>
            <a:off x="8686800" y="2971800"/>
            <a:ext cx="868680" cy="731520"/>
          </a:xfrm>
          <a:prstGeom prst="rect">
            <a:avLst/>
          </a:prstGeom>
          <a:solidFill>
            <a:srgbClr val="FFFFFF">
              <a:alpha val="0"/>
            </a:srgbClr>
          </a:solidFill>
          <a:ln w="28575">
            <a:solidFill>
              <a:srgbClr val="E5484D"/>
            </a:solidFill>
            <a:prstDash val="solid"/>
          </a:ln>
        </p:spPr>
      </p:sp>
      <p:sp>
        <p:nvSpPr>
          <p:cNvPr id="28" name="Shape 26"/>
          <p:cNvSpPr/>
          <p:nvPr/>
        </p:nvSpPr>
        <p:spPr>
          <a:xfrm>
            <a:off x="8686800" y="2724912"/>
            <a:ext cx="731520" cy="246888"/>
          </a:xfrm>
          <a:prstGeom prst="rect">
            <a:avLst/>
          </a:prstGeom>
          <a:solidFill>
            <a:srgbClr val="E5484D"/>
          </a:solidFill>
          <a:ln w="6350">
            <a:solidFill>
              <a:srgbClr val="E5484D"/>
            </a:solidFill>
            <a:prstDash val="solid"/>
          </a:ln>
        </p:spPr>
      </p:sp>
      <p:sp>
        <p:nvSpPr>
          <p:cNvPr id="29" name="Text 27"/>
          <p:cNvSpPr txBox="1"/>
          <p:nvPr/>
        </p:nvSpPr>
        <p:spPr>
          <a:xfrm>
            <a:off x="8686800" y="2724912"/>
            <a:ext cx="73152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Gun 0.91</a:t>
            </a:r>
            <a:endParaRPr lang="en-US" sz="1100" dirty="0"/>
          </a:p>
        </p:txBody>
      </p:sp>
      <p:sp>
        <p:nvSpPr>
          <p:cNvPr id="30" name="Shape 28"/>
          <p:cNvSpPr/>
          <p:nvPr/>
        </p:nvSpPr>
        <p:spPr>
          <a:xfrm>
            <a:off x="6949440" y="4937760"/>
            <a:ext cx="3108960" cy="457200"/>
          </a:xfrm>
          <a:prstGeom prst="roundRect">
            <a:avLst>
              <a:gd name="adj" fmla="val 16000"/>
            </a:avLst>
          </a:prstGeom>
          <a:solidFill>
            <a:srgbClr val="E5484D"/>
          </a:solidFill>
          <a:ln w="6350">
            <a:solidFill>
              <a:srgbClr val="E5484D"/>
            </a:solidFill>
            <a:prstDash val="solid"/>
          </a:ln>
        </p:spPr>
      </p:sp>
      <p:sp>
        <p:nvSpPr>
          <p:cNvPr id="31" name="Text 29"/>
          <p:cNvSpPr txBox="1"/>
          <p:nvPr/>
        </p:nvSpPr>
        <p:spPr>
          <a:xfrm>
            <a:off x="6949440" y="4937760"/>
            <a:ext cx="31089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ALERT: WEAPON DETECTED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B1F3A"/>
                </a:solidFill>
                <a:latin typeface="Cambria" pitchFamily="34" charset="0"/>
                <a:ea typeface="Cambria" pitchFamily="34" charset="-122"/>
                <a:cs typeface="Cambria" pitchFamily="34" charset="-120"/>
              </a:rPr>
              <a:t>Introduction</a:t>
            </a:r>
            <a:endParaRPr lang="en-US" sz="3400" dirty="0"/>
          </a:p>
        </p:txBody>
      </p:sp>
      <p:sp>
        <p:nvSpPr>
          <p:cNvPr id="3" name="Text 1"/>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A6B82"/>
                </a:solidFill>
                <a:latin typeface="Calibri" pitchFamily="34" charset="0"/>
                <a:ea typeface="Calibri" pitchFamily="34" charset="-122"/>
                <a:cs typeface="Calibri" pitchFamily="34" charset="-120"/>
              </a:rPr>
              <a:t>SENTINEL  |  FYP-I Defense  |  FAST-NUCES</a:t>
            </a:r>
            <a:endParaRPr lang="en-US" sz="1000" dirty="0"/>
          </a:p>
        </p:txBody>
      </p:sp>
      <p:sp>
        <p:nvSpPr>
          <p:cNvPr id="4" name="Text 2"/>
          <p:cNvSpPr txBox="1"/>
          <p:nvPr/>
        </p:nvSpPr>
        <p:spPr>
          <a:xfrm>
            <a:off x="10698480" y="6400800"/>
            <a:ext cx="914400" cy="22860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48640" y="1691640"/>
            <a:ext cx="777240" cy="777240"/>
          </a:xfrm>
          <a:prstGeom prst="ellipse">
            <a:avLst/>
          </a:prstGeom>
          <a:solidFill>
            <a:srgbClr val="0B1F3A"/>
          </a:solidFill>
          <a:ln w="6350">
            <a:solidFill>
              <a:srgbClr val="0B1F3A"/>
            </a:solidFill>
            <a:prstDash val="solid"/>
          </a:ln>
        </p:spPr>
      </p:sp>
      <p:pic>
        <p:nvPicPr>
          <p:cNvPr id="6" name="Image 0" descr="preencoded.png">    </p:cNvPr>
          <p:cNvPicPr>
            <a:picLocks noChangeAspect="1"/>
          </p:cNvPicPr>
          <p:nvPr/>
        </p:nvPicPr>
        <p:blipFill>
          <a:blip r:embed="rId1"/>
          <a:stretch>
            <a:fillRect/>
          </a:stretch>
        </p:blipFill>
        <p:spPr>
          <a:xfrm>
            <a:off x="742950" y="1885950"/>
            <a:ext cx="388620" cy="388620"/>
          </a:xfrm>
          <a:prstGeom prst="rect">
            <a:avLst/>
          </a:prstGeom>
        </p:spPr>
      </p:pic>
      <p:sp>
        <p:nvSpPr>
          <p:cNvPr id="7" name="Text 4"/>
          <p:cNvSpPr txBox="1"/>
          <p:nvPr/>
        </p:nvSpPr>
        <p:spPr>
          <a:xfrm>
            <a:off x="1600200" y="1554480"/>
            <a:ext cx="5120640" cy="365760"/>
          </a:xfrm>
          <a:prstGeom prst="rect">
            <a:avLst/>
          </a:prstGeom>
          <a:noFill/>
          <a:ln/>
        </p:spPr>
        <p:txBody>
          <a:bodyPr wrap="square" lIns="0" tIns="0" rIns="0" bIns="0" rtlCol="0" anchor="t"/>
          <a:lstStyle/>
          <a:p>
            <a:pPr indent="0" marL="0">
              <a:buNone/>
            </a:pPr>
            <a:r>
              <a:rPr lang="en-US" sz="1900" b="1" dirty="0">
                <a:solidFill>
                  <a:srgbClr val="0B1F3A"/>
                </a:solidFill>
                <a:latin typeface="Calibri" pitchFamily="34" charset="0"/>
                <a:ea typeface="Calibri" pitchFamily="34" charset="-122"/>
                <a:cs typeface="Calibri" pitchFamily="34" charset="-120"/>
              </a:rPr>
              <a:t>Passive by design</a:t>
            </a:r>
            <a:endParaRPr lang="en-US" sz="1900" dirty="0"/>
          </a:p>
        </p:txBody>
      </p:sp>
      <p:sp>
        <p:nvSpPr>
          <p:cNvPr id="8" name="Text 5"/>
          <p:cNvSpPr txBox="1"/>
          <p:nvPr/>
        </p:nvSpPr>
        <p:spPr>
          <a:xfrm>
            <a:off x="1600200" y="1938528"/>
            <a:ext cx="5120640" cy="822960"/>
          </a:xfrm>
          <a:prstGeom prst="rect">
            <a:avLst/>
          </a:prstGeom>
          <a:noFill/>
          <a:ln/>
        </p:spPr>
        <p:txBody>
          <a:bodyPr wrap="square" lIns="0" tIns="0" rIns="0" bIns="0" rtlCol="0" anchor="t"/>
          <a:lstStyle/>
          <a:p>
            <a:pPr indent="0" marL="0">
              <a:buNone/>
            </a:pPr>
            <a:r>
              <a:rPr lang="en-US" sz="1400" dirty="0">
                <a:solidFill>
                  <a:srgbClr val="1F2A3C"/>
                </a:solidFill>
                <a:latin typeface="Calibri" pitchFamily="34" charset="0"/>
                <a:ea typeface="Calibri" pitchFamily="34" charset="-122"/>
                <a:cs typeface="Calibri" pitchFamily="34" charset="-120"/>
              </a:rPr>
              <a:t>CCTV is mostly used after an incident for forensics, not prevention.</a:t>
            </a:r>
            <a:endParaRPr lang="en-US" sz="1400" dirty="0"/>
          </a:p>
        </p:txBody>
      </p:sp>
      <p:sp>
        <p:nvSpPr>
          <p:cNvPr id="9" name="Shape 6"/>
          <p:cNvSpPr/>
          <p:nvPr/>
        </p:nvSpPr>
        <p:spPr>
          <a:xfrm>
            <a:off x="548640" y="3063240"/>
            <a:ext cx="777240" cy="777240"/>
          </a:xfrm>
          <a:prstGeom prst="ellipse">
            <a:avLst/>
          </a:prstGeom>
          <a:solidFill>
            <a:srgbClr val="0B1F3A"/>
          </a:solidFill>
          <a:ln w="6350">
            <a:solidFill>
              <a:srgbClr val="0B1F3A"/>
            </a:solidFill>
            <a:prstDash val="solid"/>
          </a:ln>
        </p:spPr>
      </p:sp>
      <p:pic>
        <p:nvPicPr>
          <p:cNvPr id="10" name="Image 1" descr="preencoded.png">    </p:cNvPr>
          <p:cNvPicPr>
            <a:picLocks noChangeAspect="1"/>
          </p:cNvPicPr>
          <p:nvPr/>
        </p:nvPicPr>
        <p:blipFill>
          <a:blip r:embed="rId2"/>
          <a:stretch>
            <a:fillRect/>
          </a:stretch>
        </p:blipFill>
        <p:spPr>
          <a:xfrm>
            <a:off x="742950" y="3257550"/>
            <a:ext cx="388620" cy="388620"/>
          </a:xfrm>
          <a:prstGeom prst="rect">
            <a:avLst/>
          </a:prstGeom>
        </p:spPr>
      </p:pic>
      <p:sp>
        <p:nvSpPr>
          <p:cNvPr id="11" name="Text 7"/>
          <p:cNvSpPr txBox="1"/>
          <p:nvPr/>
        </p:nvSpPr>
        <p:spPr>
          <a:xfrm>
            <a:off x="1600200" y="2926080"/>
            <a:ext cx="5120640" cy="365760"/>
          </a:xfrm>
          <a:prstGeom prst="rect">
            <a:avLst/>
          </a:prstGeom>
          <a:noFill/>
          <a:ln/>
        </p:spPr>
        <p:txBody>
          <a:bodyPr wrap="square" lIns="0" tIns="0" rIns="0" bIns="0" rtlCol="0" anchor="t"/>
          <a:lstStyle/>
          <a:p>
            <a:pPr indent="0" marL="0">
              <a:buNone/>
            </a:pPr>
            <a:r>
              <a:rPr lang="en-US" sz="1900" b="1" dirty="0">
                <a:solidFill>
                  <a:srgbClr val="0B1F3A"/>
                </a:solidFill>
                <a:latin typeface="Calibri" pitchFamily="34" charset="0"/>
                <a:ea typeface="Calibri" pitchFamily="34" charset="-122"/>
                <a:cs typeface="Calibri" pitchFamily="34" charset="-120"/>
              </a:rPr>
              <a:t>Human limits</a:t>
            </a:r>
            <a:endParaRPr lang="en-US" sz="1900" dirty="0"/>
          </a:p>
        </p:txBody>
      </p:sp>
      <p:sp>
        <p:nvSpPr>
          <p:cNvPr id="12" name="Text 8"/>
          <p:cNvSpPr txBox="1"/>
          <p:nvPr/>
        </p:nvSpPr>
        <p:spPr>
          <a:xfrm>
            <a:off x="1600200" y="3310128"/>
            <a:ext cx="5120640" cy="822960"/>
          </a:xfrm>
          <a:prstGeom prst="rect">
            <a:avLst/>
          </a:prstGeom>
          <a:noFill/>
          <a:ln/>
        </p:spPr>
        <p:txBody>
          <a:bodyPr wrap="square" lIns="0" tIns="0" rIns="0" bIns="0" rtlCol="0" anchor="t"/>
          <a:lstStyle/>
          <a:p>
            <a:pPr indent="0" marL="0">
              <a:buNone/>
            </a:pPr>
            <a:r>
              <a:rPr lang="en-US" sz="1400" dirty="0">
                <a:solidFill>
                  <a:srgbClr val="1F2A3C"/>
                </a:solidFill>
                <a:latin typeface="Calibri" pitchFamily="34" charset="0"/>
                <a:ea typeface="Calibri" pitchFamily="34" charset="-122"/>
                <a:cs typeface="Calibri" pitchFamily="34" charset="-120"/>
              </a:rPr>
              <a:t>Attention drops sharply when one operator watches many screens for long periods (vigilance decrement).</a:t>
            </a:r>
            <a:endParaRPr lang="en-US" sz="1400" dirty="0"/>
          </a:p>
        </p:txBody>
      </p:sp>
      <p:sp>
        <p:nvSpPr>
          <p:cNvPr id="13" name="Shape 9"/>
          <p:cNvSpPr/>
          <p:nvPr/>
        </p:nvSpPr>
        <p:spPr>
          <a:xfrm>
            <a:off x="548640" y="4434840"/>
            <a:ext cx="777240" cy="777240"/>
          </a:xfrm>
          <a:prstGeom prst="ellipse">
            <a:avLst/>
          </a:prstGeom>
          <a:solidFill>
            <a:srgbClr val="0B1F3A"/>
          </a:solidFill>
          <a:ln w="6350">
            <a:solidFill>
              <a:srgbClr val="0B1F3A"/>
            </a:solidFill>
            <a:prstDash val="solid"/>
          </a:ln>
        </p:spPr>
      </p:sp>
      <p:pic>
        <p:nvPicPr>
          <p:cNvPr id="14" name="Image 2" descr="preencoded.png">    </p:cNvPr>
          <p:cNvPicPr>
            <a:picLocks noChangeAspect="1"/>
          </p:cNvPicPr>
          <p:nvPr/>
        </p:nvPicPr>
        <p:blipFill>
          <a:blip r:embed="rId3"/>
          <a:stretch>
            <a:fillRect/>
          </a:stretch>
        </p:blipFill>
        <p:spPr>
          <a:xfrm>
            <a:off x="742950" y="4629150"/>
            <a:ext cx="388620" cy="388620"/>
          </a:xfrm>
          <a:prstGeom prst="rect">
            <a:avLst/>
          </a:prstGeom>
        </p:spPr>
      </p:pic>
      <p:sp>
        <p:nvSpPr>
          <p:cNvPr id="15" name="Text 10"/>
          <p:cNvSpPr txBox="1"/>
          <p:nvPr/>
        </p:nvSpPr>
        <p:spPr>
          <a:xfrm>
            <a:off x="1600200" y="4297680"/>
            <a:ext cx="5120640" cy="365760"/>
          </a:xfrm>
          <a:prstGeom prst="rect">
            <a:avLst/>
          </a:prstGeom>
          <a:noFill/>
          <a:ln/>
        </p:spPr>
        <p:txBody>
          <a:bodyPr wrap="square" lIns="0" tIns="0" rIns="0" bIns="0" rtlCol="0" anchor="t"/>
          <a:lstStyle/>
          <a:p>
            <a:pPr indent="0" marL="0">
              <a:buNone/>
            </a:pPr>
            <a:r>
              <a:rPr lang="en-US" sz="1900" b="1" dirty="0">
                <a:solidFill>
                  <a:srgbClr val="0B1F3A"/>
                </a:solidFill>
                <a:latin typeface="Calibri" pitchFamily="34" charset="0"/>
                <a:ea typeface="Calibri" pitchFamily="34" charset="-122"/>
                <a:cs typeface="Calibri" pitchFamily="34" charset="-120"/>
              </a:rPr>
              <a:t>Enter SENTINEL</a:t>
            </a:r>
            <a:endParaRPr lang="en-US" sz="1900" dirty="0"/>
          </a:p>
        </p:txBody>
      </p:sp>
      <p:sp>
        <p:nvSpPr>
          <p:cNvPr id="16" name="Text 11"/>
          <p:cNvSpPr txBox="1"/>
          <p:nvPr/>
        </p:nvSpPr>
        <p:spPr>
          <a:xfrm>
            <a:off x="1600200" y="4681728"/>
            <a:ext cx="5120640" cy="822960"/>
          </a:xfrm>
          <a:prstGeom prst="rect">
            <a:avLst/>
          </a:prstGeom>
          <a:noFill/>
          <a:ln/>
        </p:spPr>
        <p:txBody>
          <a:bodyPr wrap="square" lIns="0" tIns="0" rIns="0" bIns="0" rtlCol="0" anchor="t"/>
          <a:lstStyle/>
          <a:p>
            <a:pPr indent="0" marL="0">
              <a:buNone/>
            </a:pPr>
            <a:r>
              <a:rPr lang="en-US" sz="1400" dirty="0">
                <a:solidFill>
                  <a:srgbClr val="1F2A3C"/>
                </a:solidFill>
                <a:latin typeface="Calibri" pitchFamily="34" charset="0"/>
                <a:ea typeface="Calibri" pitchFamily="34" charset="-122"/>
                <a:cs typeface="Calibri" pitchFamily="34" charset="-120"/>
              </a:rPr>
              <a:t>Computer vision and deep learning analyze live footage and alert staff in real time.</a:t>
            </a:r>
            <a:endParaRPr lang="en-US" sz="1400" dirty="0"/>
          </a:p>
        </p:txBody>
      </p:sp>
      <p:sp>
        <p:nvSpPr>
          <p:cNvPr id="17" name="Shape 12"/>
          <p:cNvSpPr/>
          <p:nvPr/>
        </p:nvSpPr>
        <p:spPr>
          <a:xfrm>
            <a:off x="7132320" y="1554480"/>
            <a:ext cx="1371600" cy="1005840"/>
          </a:xfrm>
          <a:prstGeom prst="rect">
            <a:avLst/>
          </a:prstGeom>
          <a:solidFill>
            <a:srgbClr val="10284A"/>
          </a:solidFill>
          <a:ln w="12700">
            <a:solidFill>
              <a:srgbClr val="2E4A78"/>
            </a:solidFill>
            <a:prstDash val="solid"/>
          </a:ln>
        </p:spPr>
      </p:sp>
      <p:pic>
        <p:nvPicPr>
          <p:cNvPr id="18" name="Image 3" descr="preencoded.png">    </p:cNvPr>
          <p:cNvPicPr>
            <a:picLocks noChangeAspect="1"/>
          </p:cNvPicPr>
          <p:nvPr/>
        </p:nvPicPr>
        <p:blipFill>
          <a:blip r:embed="rId4"/>
          <a:stretch>
            <a:fillRect/>
          </a:stretch>
        </p:blipFill>
        <p:spPr>
          <a:xfrm>
            <a:off x="7680960" y="1874520"/>
            <a:ext cx="274320" cy="274320"/>
          </a:xfrm>
          <a:prstGeom prst="rect">
            <a:avLst/>
          </a:prstGeom>
        </p:spPr>
      </p:pic>
      <p:sp>
        <p:nvSpPr>
          <p:cNvPr id="19" name="Shape 13"/>
          <p:cNvSpPr/>
          <p:nvPr/>
        </p:nvSpPr>
        <p:spPr>
          <a:xfrm>
            <a:off x="8686800" y="1554480"/>
            <a:ext cx="1371600" cy="1005840"/>
          </a:xfrm>
          <a:prstGeom prst="rect">
            <a:avLst/>
          </a:prstGeom>
          <a:solidFill>
            <a:srgbClr val="10284A"/>
          </a:solidFill>
          <a:ln w="12700">
            <a:solidFill>
              <a:srgbClr val="2E4A78"/>
            </a:solidFill>
            <a:prstDash val="solid"/>
          </a:ln>
        </p:spPr>
      </p:sp>
      <p:pic>
        <p:nvPicPr>
          <p:cNvPr id="20" name="Image 4" descr="preencoded.png">    </p:cNvPr>
          <p:cNvPicPr>
            <a:picLocks noChangeAspect="1"/>
          </p:cNvPicPr>
          <p:nvPr/>
        </p:nvPicPr>
        <p:blipFill>
          <a:blip r:embed="rId5"/>
          <a:stretch>
            <a:fillRect/>
          </a:stretch>
        </p:blipFill>
        <p:spPr>
          <a:xfrm>
            <a:off x="9235440" y="1874520"/>
            <a:ext cx="274320" cy="274320"/>
          </a:xfrm>
          <a:prstGeom prst="rect">
            <a:avLst/>
          </a:prstGeom>
        </p:spPr>
      </p:pic>
      <p:sp>
        <p:nvSpPr>
          <p:cNvPr id="21" name="Shape 14"/>
          <p:cNvSpPr/>
          <p:nvPr/>
        </p:nvSpPr>
        <p:spPr>
          <a:xfrm>
            <a:off x="10241280" y="1554480"/>
            <a:ext cx="1371600" cy="1005840"/>
          </a:xfrm>
          <a:prstGeom prst="rect">
            <a:avLst/>
          </a:prstGeom>
          <a:solidFill>
            <a:srgbClr val="10284A"/>
          </a:solidFill>
          <a:ln w="12700">
            <a:solidFill>
              <a:srgbClr val="2E4A78"/>
            </a:solidFill>
            <a:prstDash val="solid"/>
          </a:ln>
        </p:spPr>
      </p:sp>
      <p:pic>
        <p:nvPicPr>
          <p:cNvPr id="22" name="Image 5" descr="preencoded.png">    </p:cNvPr>
          <p:cNvPicPr>
            <a:picLocks noChangeAspect="1"/>
          </p:cNvPicPr>
          <p:nvPr/>
        </p:nvPicPr>
        <p:blipFill>
          <a:blip r:embed="rId6"/>
          <a:stretch>
            <a:fillRect/>
          </a:stretch>
        </p:blipFill>
        <p:spPr>
          <a:xfrm>
            <a:off x="10789920" y="1874520"/>
            <a:ext cx="274320" cy="274320"/>
          </a:xfrm>
          <a:prstGeom prst="rect">
            <a:avLst/>
          </a:prstGeom>
        </p:spPr>
      </p:pic>
      <p:sp>
        <p:nvSpPr>
          <p:cNvPr id="23" name="Shape 15"/>
          <p:cNvSpPr/>
          <p:nvPr/>
        </p:nvSpPr>
        <p:spPr>
          <a:xfrm>
            <a:off x="7132320" y="2743200"/>
            <a:ext cx="1371600" cy="1005840"/>
          </a:xfrm>
          <a:prstGeom prst="rect">
            <a:avLst/>
          </a:prstGeom>
          <a:solidFill>
            <a:srgbClr val="10284A"/>
          </a:solidFill>
          <a:ln w="12700">
            <a:solidFill>
              <a:srgbClr val="2E4A78"/>
            </a:solidFill>
            <a:prstDash val="solid"/>
          </a:ln>
        </p:spPr>
      </p:sp>
      <p:pic>
        <p:nvPicPr>
          <p:cNvPr id="24" name="Image 6" descr="preencoded.png">    </p:cNvPr>
          <p:cNvPicPr>
            <a:picLocks noChangeAspect="1"/>
          </p:cNvPicPr>
          <p:nvPr/>
        </p:nvPicPr>
        <p:blipFill>
          <a:blip r:embed="rId7"/>
          <a:stretch>
            <a:fillRect/>
          </a:stretch>
        </p:blipFill>
        <p:spPr>
          <a:xfrm>
            <a:off x="7680960" y="3063240"/>
            <a:ext cx="274320" cy="274320"/>
          </a:xfrm>
          <a:prstGeom prst="rect">
            <a:avLst/>
          </a:prstGeom>
        </p:spPr>
      </p:pic>
      <p:sp>
        <p:nvSpPr>
          <p:cNvPr id="25" name="Shape 16"/>
          <p:cNvSpPr/>
          <p:nvPr/>
        </p:nvSpPr>
        <p:spPr>
          <a:xfrm>
            <a:off x="8686800" y="2743200"/>
            <a:ext cx="1371600" cy="1005840"/>
          </a:xfrm>
          <a:prstGeom prst="rect">
            <a:avLst/>
          </a:prstGeom>
          <a:solidFill>
            <a:srgbClr val="10284A"/>
          </a:solidFill>
          <a:ln w="38100">
            <a:solidFill>
              <a:srgbClr val="E5484D"/>
            </a:solidFill>
            <a:prstDash val="solid"/>
          </a:ln>
        </p:spPr>
      </p:sp>
      <p:pic>
        <p:nvPicPr>
          <p:cNvPr id="26" name="Image 7" descr="preencoded.png">    </p:cNvPr>
          <p:cNvPicPr>
            <a:picLocks noChangeAspect="1"/>
          </p:cNvPicPr>
          <p:nvPr/>
        </p:nvPicPr>
        <p:blipFill>
          <a:blip r:embed="rId8"/>
          <a:stretch>
            <a:fillRect/>
          </a:stretch>
        </p:blipFill>
        <p:spPr>
          <a:xfrm>
            <a:off x="9189720" y="3017520"/>
            <a:ext cx="365760" cy="365760"/>
          </a:xfrm>
          <a:prstGeom prst="rect">
            <a:avLst/>
          </a:prstGeom>
        </p:spPr>
      </p:pic>
      <p:sp>
        <p:nvSpPr>
          <p:cNvPr id="27" name="Shape 17"/>
          <p:cNvSpPr/>
          <p:nvPr/>
        </p:nvSpPr>
        <p:spPr>
          <a:xfrm>
            <a:off x="10241280" y="2743200"/>
            <a:ext cx="1371600" cy="1005840"/>
          </a:xfrm>
          <a:prstGeom prst="rect">
            <a:avLst/>
          </a:prstGeom>
          <a:solidFill>
            <a:srgbClr val="10284A"/>
          </a:solidFill>
          <a:ln w="12700">
            <a:solidFill>
              <a:srgbClr val="2E4A78"/>
            </a:solidFill>
            <a:prstDash val="solid"/>
          </a:ln>
        </p:spPr>
      </p:sp>
      <p:pic>
        <p:nvPicPr>
          <p:cNvPr id="28" name="Image 8" descr="preencoded.png">    </p:cNvPr>
          <p:cNvPicPr>
            <a:picLocks noChangeAspect="1"/>
          </p:cNvPicPr>
          <p:nvPr/>
        </p:nvPicPr>
        <p:blipFill>
          <a:blip r:embed="rId9"/>
          <a:stretch>
            <a:fillRect/>
          </a:stretch>
        </p:blipFill>
        <p:spPr>
          <a:xfrm>
            <a:off x="10789920" y="3063240"/>
            <a:ext cx="274320" cy="274320"/>
          </a:xfrm>
          <a:prstGeom prst="rect">
            <a:avLst/>
          </a:prstGeom>
        </p:spPr>
      </p:pic>
      <p:sp>
        <p:nvSpPr>
          <p:cNvPr id="29" name="Shape 18"/>
          <p:cNvSpPr/>
          <p:nvPr/>
        </p:nvSpPr>
        <p:spPr>
          <a:xfrm>
            <a:off x="7132320" y="3931920"/>
            <a:ext cx="1371600" cy="1005840"/>
          </a:xfrm>
          <a:prstGeom prst="rect">
            <a:avLst/>
          </a:prstGeom>
          <a:solidFill>
            <a:srgbClr val="10284A"/>
          </a:solidFill>
          <a:ln w="12700">
            <a:solidFill>
              <a:srgbClr val="2E4A78"/>
            </a:solidFill>
            <a:prstDash val="solid"/>
          </a:ln>
        </p:spPr>
      </p:sp>
      <p:pic>
        <p:nvPicPr>
          <p:cNvPr id="30" name="Image 9" descr="preencoded.png">    </p:cNvPr>
          <p:cNvPicPr>
            <a:picLocks noChangeAspect="1"/>
          </p:cNvPicPr>
          <p:nvPr/>
        </p:nvPicPr>
        <p:blipFill>
          <a:blip r:embed="rId10"/>
          <a:stretch>
            <a:fillRect/>
          </a:stretch>
        </p:blipFill>
        <p:spPr>
          <a:xfrm>
            <a:off x="7680960" y="4251960"/>
            <a:ext cx="274320" cy="274320"/>
          </a:xfrm>
          <a:prstGeom prst="rect">
            <a:avLst/>
          </a:prstGeom>
        </p:spPr>
      </p:pic>
      <p:sp>
        <p:nvSpPr>
          <p:cNvPr id="31" name="Shape 19"/>
          <p:cNvSpPr/>
          <p:nvPr/>
        </p:nvSpPr>
        <p:spPr>
          <a:xfrm>
            <a:off x="8686800" y="3931920"/>
            <a:ext cx="1371600" cy="1005840"/>
          </a:xfrm>
          <a:prstGeom prst="rect">
            <a:avLst/>
          </a:prstGeom>
          <a:solidFill>
            <a:srgbClr val="10284A"/>
          </a:solidFill>
          <a:ln w="12700">
            <a:solidFill>
              <a:srgbClr val="2E4A78"/>
            </a:solidFill>
            <a:prstDash val="solid"/>
          </a:ln>
        </p:spPr>
      </p:sp>
      <p:pic>
        <p:nvPicPr>
          <p:cNvPr id="32" name="Image 10" descr="preencoded.png">    </p:cNvPr>
          <p:cNvPicPr>
            <a:picLocks noChangeAspect="1"/>
          </p:cNvPicPr>
          <p:nvPr/>
        </p:nvPicPr>
        <p:blipFill>
          <a:blip r:embed="rId11"/>
          <a:stretch>
            <a:fillRect/>
          </a:stretch>
        </p:blipFill>
        <p:spPr>
          <a:xfrm>
            <a:off x="9235440" y="4251960"/>
            <a:ext cx="274320" cy="274320"/>
          </a:xfrm>
          <a:prstGeom prst="rect">
            <a:avLst/>
          </a:prstGeom>
        </p:spPr>
      </p:pic>
      <p:sp>
        <p:nvSpPr>
          <p:cNvPr id="33" name="Shape 20"/>
          <p:cNvSpPr/>
          <p:nvPr/>
        </p:nvSpPr>
        <p:spPr>
          <a:xfrm>
            <a:off x="10241280" y="3931920"/>
            <a:ext cx="1371600" cy="1005840"/>
          </a:xfrm>
          <a:prstGeom prst="rect">
            <a:avLst/>
          </a:prstGeom>
          <a:solidFill>
            <a:srgbClr val="10284A"/>
          </a:solidFill>
          <a:ln w="12700">
            <a:solidFill>
              <a:srgbClr val="2E4A78"/>
            </a:solidFill>
            <a:prstDash val="solid"/>
          </a:ln>
        </p:spPr>
      </p:sp>
      <p:pic>
        <p:nvPicPr>
          <p:cNvPr id="34" name="Image 11" descr="preencoded.png">    </p:cNvPr>
          <p:cNvPicPr>
            <a:picLocks noChangeAspect="1"/>
          </p:cNvPicPr>
          <p:nvPr/>
        </p:nvPicPr>
        <p:blipFill>
          <a:blip r:embed="rId12"/>
          <a:stretch>
            <a:fillRect/>
          </a:stretch>
        </p:blipFill>
        <p:spPr>
          <a:xfrm>
            <a:off x="10789920" y="4251960"/>
            <a:ext cx="274320" cy="274320"/>
          </a:xfrm>
          <a:prstGeom prst="rect">
            <a:avLst/>
          </a:prstGeom>
        </p:spPr>
      </p:pic>
      <p:sp>
        <p:nvSpPr>
          <p:cNvPr id="35" name="Shape 21"/>
          <p:cNvSpPr/>
          <p:nvPr/>
        </p:nvSpPr>
        <p:spPr>
          <a:xfrm>
            <a:off x="7132320" y="5120640"/>
            <a:ext cx="4480560" cy="640080"/>
          </a:xfrm>
          <a:prstGeom prst="roundRect">
            <a:avLst>
              <a:gd name="adj" fmla="val 17143"/>
            </a:avLst>
          </a:prstGeom>
          <a:solidFill>
            <a:srgbClr val="0B1F3A"/>
          </a:solidFill>
          <a:ln w="9525">
            <a:solidFill>
              <a:srgbClr val="0B1F3A"/>
            </a:solidFill>
            <a:prstDash val="solid"/>
          </a:ln>
        </p:spPr>
      </p:sp>
      <p:sp>
        <p:nvSpPr>
          <p:cNvPr id="36" name="Text 22"/>
          <p:cNvSpPr txBox="1"/>
          <p:nvPr/>
        </p:nvSpPr>
        <p:spPr>
          <a:xfrm>
            <a:off x="7132320" y="5120640"/>
            <a:ext cx="448056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Goal: from passive recording to proactive alerts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B1F3A"/>
                </a:solidFill>
                <a:latin typeface="Cambria" pitchFamily="34" charset="0"/>
                <a:ea typeface="Cambria" pitchFamily="34" charset="-122"/>
                <a:cs typeface="Cambria" pitchFamily="34" charset="-120"/>
              </a:rPr>
              <a:t>Problem Statement</a:t>
            </a:r>
            <a:endParaRPr lang="en-US" sz="3400" dirty="0"/>
          </a:p>
        </p:txBody>
      </p:sp>
      <p:sp>
        <p:nvSpPr>
          <p:cNvPr id="3" name="Text 1"/>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A6B82"/>
                </a:solidFill>
                <a:latin typeface="Calibri" pitchFamily="34" charset="0"/>
                <a:ea typeface="Calibri" pitchFamily="34" charset="-122"/>
                <a:cs typeface="Calibri" pitchFamily="34" charset="-120"/>
              </a:rPr>
              <a:t>SENTINEL  |  FYP-I Defense  |  FAST-NUCES</a:t>
            </a:r>
            <a:endParaRPr lang="en-US" sz="1000" dirty="0"/>
          </a:p>
        </p:txBody>
      </p:sp>
      <p:sp>
        <p:nvSpPr>
          <p:cNvPr id="4" name="Text 2"/>
          <p:cNvSpPr txBox="1"/>
          <p:nvPr/>
        </p:nvSpPr>
        <p:spPr>
          <a:xfrm>
            <a:off x="10698480" y="6400800"/>
            <a:ext cx="914400" cy="22860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548640" y="1554480"/>
            <a:ext cx="3566160" cy="4206240"/>
          </a:xfrm>
          <a:prstGeom prst="roundRect">
            <a:avLst>
              <a:gd name="adj" fmla="val 3077"/>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914400" y="1920240"/>
            <a:ext cx="914400" cy="914400"/>
          </a:xfrm>
          <a:prstGeom prst="ellipse">
            <a:avLst/>
          </a:prstGeom>
          <a:solidFill>
            <a:srgbClr val="0B1F3A"/>
          </a:solidFill>
          <a:ln w="6350">
            <a:solidFill>
              <a:srgbClr val="0B1F3A"/>
            </a:solidFill>
            <a:prstDash val="solid"/>
          </a:ln>
        </p:spPr>
      </p:sp>
      <p:pic>
        <p:nvPicPr>
          <p:cNvPr id="7" name="Image 0" descr="preencoded.png">    </p:cNvPr>
          <p:cNvPicPr>
            <a:picLocks noChangeAspect="1"/>
          </p:cNvPicPr>
          <p:nvPr/>
        </p:nvPicPr>
        <p:blipFill>
          <a:blip r:embed="rId1"/>
          <a:stretch>
            <a:fillRect/>
          </a:stretch>
        </p:blipFill>
        <p:spPr>
          <a:xfrm>
            <a:off x="1143000" y="2148840"/>
            <a:ext cx="457200" cy="457200"/>
          </a:xfrm>
          <a:prstGeom prst="rect">
            <a:avLst/>
          </a:prstGeom>
        </p:spPr>
      </p:pic>
      <p:sp>
        <p:nvSpPr>
          <p:cNvPr id="8" name="Text 5"/>
          <p:cNvSpPr txBox="1"/>
          <p:nvPr/>
        </p:nvSpPr>
        <p:spPr>
          <a:xfrm>
            <a:off x="914400" y="3108960"/>
            <a:ext cx="2834640" cy="777240"/>
          </a:xfrm>
          <a:prstGeom prst="rect">
            <a:avLst/>
          </a:prstGeom>
          <a:noFill/>
          <a:ln/>
        </p:spPr>
        <p:txBody>
          <a:bodyPr wrap="square" lIns="0" tIns="0" rIns="0" bIns="0" rtlCol="0" anchor="t"/>
          <a:lstStyle/>
          <a:p>
            <a:pPr indent="0" marL="0">
              <a:buNone/>
            </a:pPr>
            <a:r>
              <a:rPr lang="en-US" sz="2100" b="1" dirty="0">
                <a:solidFill>
                  <a:srgbClr val="0B1F3A"/>
                </a:solidFill>
                <a:latin typeface="Cambria" pitchFamily="34" charset="0"/>
                <a:ea typeface="Cambria" pitchFamily="34" charset="-122"/>
                <a:cs typeface="Cambria" pitchFamily="34" charset="-120"/>
              </a:rPr>
              <a:t>Static Detection Blindness</a:t>
            </a:r>
            <a:endParaRPr lang="en-US" sz="2100" dirty="0"/>
          </a:p>
        </p:txBody>
      </p:sp>
      <p:sp>
        <p:nvSpPr>
          <p:cNvPr id="9" name="Text 6"/>
          <p:cNvSpPr txBox="1"/>
          <p:nvPr/>
        </p:nvSpPr>
        <p:spPr>
          <a:xfrm>
            <a:off x="914400" y="3977640"/>
            <a:ext cx="2834640" cy="1554480"/>
          </a:xfrm>
          <a:prstGeom prst="rect">
            <a:avLst/>
          </a:prstGeom>
          <a:noFill/>
          <a:ln/>
        </p:spPr>
        <p:txBody>
          <a:bodyPr wrap="square" lIns="0" tIns="0" rIns="0" bIns="0" rtlCol="0" anchor="t"/>
          <a:lstStyle/>
          <a:p>
            <a:pPr indent="0" marL="0">
              <a:buNone/>
            </a:pPr>
            <a:r>
              <a:rPr lang="en-US" sz="1700" dirty="0">
                <a:solidFill>
                  <a:srgbClr val="1F2A3C"/>
                </a:solidFill>
                <a:latin typeface="Calibri" pitchFamily="34" charset="0"/>
                <a:ea typeface="Calibri" pitchFamily="34" charset="-122"/>
                <a:cs typeface="Calibri" pitchFamily="34" charset="-120"/>
              </a:rPr>
              <a:t>Existing AI finds objects such as guns, but misses actions such as fights and robberies.</a:t>
            </a:r>
            <a:endParaRPr lang="en-US" sz="1700" dirty="0"/>
          </a:p>
        </p:txBody>
      </p:sp>
      <p:sp>
        <p:nvSpPr>
          <p:cNvPr id="10" name="Shape 7"/>
          <p:cNvSpPr/>
          <p:nvPr/>
        </p:nvSpPr>
        <p:spPr>
          <a:xfrm>
            <a:off x="4297680" y="1554480"/>
            <a:ext cx="3566160" cy="4206240"/>
          </a:xfrm>
          <a:prstGeom prst="roundRect">
            <a:avLst>
              <a:gd name="adj" fmla="val 3077"/>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4663440" y="1920240"/>
            <a:ext cx="914400" cy="914400"/>
          </a:xfrm>
          <a:prstGeom prst="ellipse">
            <a:avLst/>
          </a:prstGeom>
          <a:solidFill>
            <a:srgbClr val="0B1F3A"/>
          </a:solidFill>
          <a:ln w="6350">
            <a:solidFill>
              <a:srgbClr val="0B1F3A"/>
            </a:solidFill>
            <a:prstDash val="solid"/>
          </a:ln>
        </p:spPr>
      </p:sp>
      <p:pic>
        <p:nvPicPr>
          <p:cNvPr id="12" name="Image 1" descr="preencoded.png">    </p:cNvPr>
          <p:cNvPicPr>
            <a:picLocks noChangeAspect="1"/>
          </p:cNvPicPr>
          <p:nvPr/>
        </p:nvPicPr>
        <p:blipFill>
          <a:blip r:embed="rId2"/>
          <a:stretch>
            <a:fillRect/>
          </a:stretch>
        </p:blipFill>
        <p:spPr>
          <a:xfrm>
            <a:off x="4892040" y="2148840"/>
            <a:ext cx="457200" cy="457200"/>
          </a:xfrm>
          <a:prstGeom prst="rect">
            <a:avLst/>
          </a:prstGeom>
        </p:spPr>
      </p:pic>
      <p:sp>
        <p:nvSpPr>
          <p:cNvPr id="13" name="Text 9"/>
          <p:cNvSpPr txBox="1"/>
          <p:nvPr/>
        </p:nvSpPr>
        <p:spPr>
          <a:xfrm>
            <a:off x="4663440" y="3108960"/>
            <a:ext cx="2834640" cy="777240"/>
          </a:xfrm>
          <a:prstGeom prst="rect">
            <a:avLst/>
          </a:prstGeom>
          <a:noFill/>
          <a:ln/>
        </p:spPr>
        <p:txBody>
          <a:bodyPr wrap="square" lIns="0" tIns="0" rIns="0" bIns="0" rtlCol="0" anchor="t"/>
          <a:lstStyle/>
          <a:p>
            <a:pPr indent="0" marL="0">
              <a:buNone/>
            </a:pPr>
            <a:r>
              <a:rPr lang="en-US" sz="2100" b="1" dirty="0">
                <a:solidFill>
                  <a:srgbClr val="0B1F3A"/>
                </a:solidFill>
                <a:latin typeface="Cambria" pitchFamily="34" charset="0"/>
                <a:ea typeface="Cambria" pitchFamily="34" charset="-122"/>
                <a:cs typeface="Cambria" pitchFamily="34" charset="-120"/>
              </a:rPr>
              <a:t>Computational Overhead</a:t>
            </a:r>
            <a:endParaRPr lang="en-US" sz="2100" dirty="0"/>
          </a:p>
        </p:txBody>
      </p:sp>
      <p:sp>
        <p:nvSpPr>
          <p:cNvPr id="14" name="Text 10"/>
          <p:cNvSpPr txBox="1"/>
          <p:nvPr/>
        </p:nvSpPr>
        <p:spPr>
          <a:xfrm>
            <a:off x="4663440" y="3977640"/>
            <a:ext cx="2834640" cy="1554480"/>
          </a:xfrm>
          <a:prstGeom prst="rect">
            <a:avLst/>
          </a:prstGeom>
          <a:noFill/>
          <a:ln/>
        </p:spPr>
        <p:txBody>
          <a:bodyPr wrap="square" lIns="0" tIns="0" rIns="0" bIns="0" rtlCol="0" anchor="t"/>
          <a:lstStyle/>
          <a:p>
            <a:pPr indent="0" marL="0">
              <a:buNone/>
            </a:pPr>
            <a:r>
              <a:rPr lang="en-US" sz="1700" dirty="0">
                <a:solidFill>
                  <a:srgbClr val="1F2A3C"/>
                </a:solidFill>
                <a:latin typeface="Calibri" pitchFamily="34" charset="0"/>
                <a:ea typeface="Calibri" pitchFamily="34" charset="-122"/>
                <a:cs typeface="Calibri" pitchFamily="34" charset="-120"/>
              </a:rPr>
              <a:t>3D-CNN action models are too heavy for real-time use on standard hardware.</a:t>
            </a:r>
            <a:endParaRPr lang="en-US" sz="1700" dirty="0"/>
          </a:p>
        </p:txBody>
      </p:sp>
      <p:sp>
        <p:nvSpPr>
          <p:cNvPr id="15" name="Shape 11"/>
          <p:cNvSpPr/>
          <p:nvPr/>
        </p:nvSpPr>
        <p:spPr>
          <a:xfrm>
            <a:off x="8046720" y="1554480"/>
            <a:ext cx="3566160" cy="4206240"/>
          </a:xfrm>
          <a:prstGeom prst="roundRect">
            <a:avLst>
              <a:gd name="adj" fmla="val 3077"/>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16" name="Shape 12"/>
          <p:cNvSpPr/>
          <p:nvPr/>
        </p:nvSpPr>
        <p:spPr>
          <a:xfrm>
            <a:off x="8412480" y="1920240"/>
            <a:ext cx="914400" cy="914400"/>
          </a:xfrm>
          <a:prstGeom prst="ellipse">
            <a:avLst/>
          </a:prstGeom>
          <a:solidFill>
            <a:srgbClr val="0B1F3A"/>
          </a:solidFill>
          <a:ln w="6350">
            <a:solidFill>
              <a:srgbClr val="0B1F3A"/>
            </a:solidFill>
            <a:prstDash val="solid"/>
          </a:ln>
        </p:spPr>
      </p:sp>
      <p:pic>
        <p:nvPicPr>
          <p:cNvPr id="17" name="Image 2" descr="preencoded.png">    </p:cNvPr>
          <p:cNvPicPr>
            <a:picLocks noChangeAspect="1"/>
          </p:cNvPicPr>
          <p:nvPr/>
        </p:nvPicPr>
        <p:blipFill>
          <a:blip r:embed="rId3"/>
          <a:stretch>
            <a:fillRect/>
          </a:stretch>
        </p:blipFill>
        <p:spPr>
          <a:xfrm>
            <a:off x="8641080" y="2148840"/>
            <a:ext cx="457200" cy="457200"/>
          </a:xfrm>
          <a:prstGeom prst="rect">
            <a:avLst/>
          </a:prstGeom>
        </p:spPr>
      </p:pic>
      <p:sp>
        <p:nvSpPr>
          <p:cNvPr id="18" name="Text 13"/>
          <p:cNvSpPr txBox="1"/>
          <p:nvPr/>
        </p:nvSpPr>
        <p:spPr>
          <a:xfrm>
            <a:off x="8412480" y="3108960"/>
            <a:ext cx="2834640" cy="777240"/>
          </a:xfrm>
          <a:prstGeom prst="rect">
            <a:avLst/>
          </a:prstGeom>
          <a:noFill/>
          <a:ln/>
        </p:spPr>
        <p:txBody>
          <a:bodyPr wrap="square" lIns="0" tIns="0" rIns="0" bIns="0" rtlCol="0" anchor="t"/>
          <a:lstStyle/>
          <a:p>
            <a:pPr indent="0" marL="0">
              <a:buNone/>
            </a:pPr>
            <a:r>
              <a:rPr lang="en-US" sz="2100" b="1" dirty="0">
                <a:solidFill>
                  <a:srgbClr val="0B1F3A"/>
                </a:solidFill>
                <a:latin typeface="Cambria" pitchFamily="34" charset="0"/>
                <a:ea typeface="Cambria" pitchFamily="34" charset="-122"/>
                <a:cs typeface="Cambria" pitchFamily="34" charset="-120"/>
              </a:rPr>
              <a:t>Excessive False Alarms</a:t>
            </a:r>
            <a:endParaRPr lang="en-US" sz="2100" dirty="0"/>
          </a:p>
        </p:txBody>
      </p:sp>
      <p:sp>
        <p:nvSpPr>
          <p:cNvPr id="19" name="Text 14"/>
          <p:cNvSpPr txBox="1"/>
          <p:nvPr/>
        </p:nvSpPr>
        <p:spPr>
          <a:xfrm>
            <a:off x="8412480" y="3977640"/>
            <a:ext cx="2834640" cy="1554480"/>
          </a:xfrm>
          <a:prstGeom prst="rect">
            <a:avLst/>
          </a:prstGeom>
          <a:noFill/>
          <a:ln/>
        </p:spPr>
        <p:txBody>
          <a:bodyPr wrap="square" lIns="0" tIns="0" rIns="0" bIns="0" rtlCol="0" anchor="t"/>
          <a:lstStyle/>
          <a:p>
            <a:pPr indent="0" marL="0">
              <a:buNone/>
            </a:pPr>
            <a:r>
              <a:rPr lang="en-US" sz="1700" dirty="0">
                <a:solidFill>
                  <a:srgbClr val="1F2A3C"/>
                </a:solidFill>
                <a:latin typeface="Calibri" pitchFamily="34" charset="0"/>
                <a:ea typeface="Calibri" pitchFamily="34" charset="-122"/>
                <a:cs typeface="Calibri" pitchFamily="34" charset="-120"/>
              </a:rPr>
              <a:t>Single-frame glitches, such as a phone glare, trigger alerts until operators start ignoring them.</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B1F3A"/>
                </a:solidFill>
                <a:latin typeface="Cambria" pitchFamily="34" charset="0"/>
                <a:ea typeface="Cambria" pitchFamily="34" charset="-122"/>
                <a:cs typeface="Cambria" pitchFamily="34" charset="-120"/>
              </a:rPr>
              <a:t>Research Questions and Objectives</a:t>
            </a:r>
            <a:endParaRPr lang="en-US" sz="3400" dirty="0"/>
          </a:p>
        </p:txBody>
      </p:sp>
      <p:sp>
        <p:nvSpPr>
          <p:cNvPr id="3" name="Text 1"/>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A6B82"/>
                </a:solidFill>
                <a:latin typeface="Calibri" pitchFamily="34" charset="0"/>
                <a:ea typeface="Calibri" pitchFamily="34" charset="-122"/>
                <a:cs typeface="Calibri" pitchFamily="34" charset="-120"/>
              </a:rPr>
              <a:t>SENTINEL  |  FYP-I Defense  |  FAST-NUCES</a:t>
            </a:r>
            <a:endParaRPr lang="en-US" sz="1000" dirty="0"/>
          </a:p>
        </p:txBody>
      </p:sp>
      <p:sp>
        <p:nvSpPr>
          <p:cNvPr id="4" name="Text 2"/>
          <p:cNvSpPr txBox="1"/>
          <p:nvPr/>
        </p:nvSpPr>
        <p:spPr>
          <a:xfrm>
            <a:off x="10698480" y="6400800"/>
            <a:ext cx="914400" cy="22860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548640" y="1554480"/>
            <a:ext cx="6766560" cy="1280160"/>
          </a:xfrm>
          <a:prstGeom prst="roundRect">
            <a:avLst>
              <a:gd name="adj" fmla="val 8571"/>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777240" y="1920240"/>
            <a:ext cx="868680" cy="548640"/>
          </a:xfrm>
          <a:prstGeom prst="roundRect">
            <a:avLst>
              <a:gd name="adj" fmla="val 16667"/>
            </a:avLst>
          </a:prstGeom>
          <a:solidFill>
            <a:srgbClr val="0B1F3A"/>
          </a:solidFill>
          <a:ln w="6350">
            <a:solidFill>
              <a:srgbClr val="0B1F3A"/>
            </a:solidFill>
            <a:prstDash val="solid"/>
          </a:ln>
        </p:spPr>
      </p:sp>
      <p:sp>
        <p:nvSpPr>
          <p:cNvPr id="7" name="Text 5"/>
          <p:cNvSpPr txBox="1"/>
          <p:nvPr/>
        </p:nvSpPr>
        <p:spPr>
          <a:xfrm>
            <a:off x="777240" y="1920240"/>
            <a:ext cx="868680" cy="548640"/>
          </a:xfrm>
          <a:prstGeom prst="rect">
            <a:avLst/>
          </a:prstGeom>
          <a:noFill/>
          <a:ln/>
        </p:spPr>
        <p:txBody>
          <a:bodyPr wrap="square" lIns="0" tIns="0" rIns="0" bIns="0" rtlCol="0" anchor="ctr"/>
          <a:lstStyle/>
          <a:p>
            <a:pPr algn="ctr" indent="0" marL="0">
              <a:buNone/>
            </a:pPr>
            <a:r>
              <a:rPr lang="en-US" sz="1800" b="1" dirty="0">
                <a:solidFill>
                  <a:srgbClr val="C9A227"/>
                </a:solidFill>
                <a:latin typeface="Calibri" pitchFamily="34" charset="0"/>
                <a:ea typeface="Calibri" pitchFamily="34" charset="-122"/>
                <a:cs typeface="Calibri" pitchFamily="34" charset="-120"/>
              </a:rPr>
              <a:t>RQ1</a:t>
            </a:r>
            <a:endParaRPr lang="en-US" sz="1800" dirty="0"/>
          </a:p>
        </p:txBody>
      </p:sp>
      <p:sp>
        <p:nvSpPr>
          <p:cNvPr id="8" name="Text 6"/>
          <p:cNvSpPr txBox="1"/>
          <p:nvPr/>
        </p:nvSpPr>
        <p:spPr>
          <a:xfrm>
            <a:off x="1920240" y="1691640"/>
            <a:ext cx="5120640" cy="1005840"/>
          </a:xfrm>
          <a:prstGeom prst="rect">
            <a:avLst/>
          </a:prstGeom>
          <a:noFill/>
          <a:ln/>
        </p:spPr>
        <p:txBody>
          <a:bodyPr wrap="square" lIns="0" tIns="0" rIns="0" bIns="0" rtlCol="0" anchor="ctr"/>
          <a:lstStyle/>
          <a:p>
            <a:pPr indent="0" marL="0">
              <a:buNone/>
            </a:pPr>
            <a:r>
              <a:rPr lang="en-US" sz="1500" dirty="0">
                <a:solidFill>
                  <a:srgbClr val="1F2A3C"/>
                </a:solidFill>
                <a:latin typeface="Calibri" pitchFamily="34" charset="0"/>
                <a:ea typeface="Calibri" pitchFamily="34" charset="-122"/>
                <a:cs typeface="Calibri" pitchFamily="34" charset="-120"/>
              </a:rPr>
              <a:t>Can weapon detection and pose-based action recognition work together in one real-time pipeline?</a:t>
            </a:r>
            <a:endParaRPr lang="en-US" sz="1500" dirty="0"/>
          </a:p>
        </p:txBody>
      </p:sp>
      <p:sp>
        <p:nvSpPr>
          <p:cNvPr id="9" name="Shape 7"/>
          <p:cNvSpPr/>
          <p:nvPr/>
        </p:nvSpPr>
        <p:spPr>
          <a:xfrm>
            <a:off x="548640" y="3017520"/>
            <a:ext cx="6766560" cy="1280160"/>
          </a:xfrm>
          <a:prstGeom prst="roundRect">
            <a:avLst>
              <a:gd name="adj" fmla="val 8571"/>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10" name="Shape 8"/>
          <p:cNvSpPr/>
          <p:nvPr/>
        </p:nvSpPr>
        <p:spPr>
          <a:xfrm>
            <a:off x="777240" y="3383280"/>
            <a:ext cx="868680" cy="548640"/>
          </a:xfrm>
          <a:prstGeom prst="roundRect">
            <a:avLst>
              <a:gd name="adj" fmla="val 16667"/>
            </a:avLst>
          </a:prstGeom>
          <a:solidFill>
            <a:srgbClr val="0B1F3A"/>
          </a:solidFill>
          <a:ln w="6350">
            <a:solidFill>
              <a:srgbClr val="0B1F3A"/>
            </a:solidFill>
            <a:prstDash val="solid"/>
          </a:ln>
        </p:spPr>
      </p:sp>
      <p:sp>
        <p:nvSpPr>
          <p:cNvPr id="11" name="Text 9"/>
          <p:cNvSpPr txBox="1"/>
          <p:nvPr/>
        </p:nvSpPr>
        <p:spPr>
          <a:xfrm>
            <a:off x="777240" y="3383280"/>
            <a:ext cx="868680" cy="548640"/>
          </a:xfrm>
          <a:prstGeom prst="rect">
            <a:avLst/>
          </a:prstGeom>
          <a:noFill/>
          <a:ln/>
        </p:spPr>
        <p:txBody>
          <a:bodyPr wrap="square" lIns="0" tIns="0" rIns="0" bIns="0" rtlCol="0" anchor="ctr"/>
          <a:lstStyle/>
          <a:p>
            <a:pPr algn="ctr" indent="0" marL="0">
              <a:buNone/>
            </a:pPr>
            <a:r>
              <a:rPr lang="en-US" sz="1800" b="1" dirty="0">
                <a:solidFill>
                  <a:srgbClr val="C9A227"/>
                </a:solidFill>
                <a:latin typeface="Calibri" pitchFamily="34" charset="0"/>
                <a:ea typeface="Calibri" pitchFamily="34" charset="-122"/>
                <a:cs typeface="Calibri" pitchFamily="34" charset="-120"/>
              </a:rPr>
              <a:t>RQ2</a:t>
            </a:r>
            <a:endParaRPr lang="en-US" sz="1800" dirty="0"/>
          </a:p>
        </p:txBody>
      </p:sp>
      <p:sp>
        <p:nvSpPr>
          <p:cNvPr id="12" name="Text 10"/>
          <p:cNvSpPr txBox="1"/>
          <p:nvPr/>
        </p:nvSpPr>
        <p:spPr>
          <a:xfrm>
            <a:off x="1920240" y="3154680"/>
            <a:ext cx="5120640" cy="1005840"/>
          </a:xfrm>
          <a:prstGeom prst="rect">
            <a:avLst/>
          </a:prstGeom>
          <a:noFill/>
          <a:ln/>
        </p:spPr>
        <p:txBody>
          <a:bodyPr wrap="square" lIns="0" tIns="0" rIns="0" bIns="0" rtlCol="0" anchor="ctr"/>
          <a:lstStyle/>
          <a:p>
            <a:pPr indent="0" marL="0">
              <a:buNone/>
            </a:pPr>
            <a:r>
              <a:rPr lang="en-US" sz="1500" dirty="0">
                <a:solidFill>
                  <a:srgbClr val="1F2A3C"/>
                </a:solidFill>
                <a:latin typeface="Calibri" pitchFamily="34" charset="0"/>
                <a:ea typeface="Calibri" pitchFamily="34" charset="-122"/>
                <a:cs typeface="Calibri" pitchFamily="34" charset="-120"/>
              </a:rPr>
              <a:t>How much do skeletal keypoint features help temporal classification compared with bounding-box methods?</a:t>
            </a:r>
            <a:endParaRPr lang="en-US" sz="1500" dirty="0"/>
          </a:p>
        </p:txBody>
      </p:sp>
      <p:sp>
        <p:nvSpPr>
          <p:cNvPr id="13" name="Shape 11"/>
          <p:cNvSpPr/>
          <p:nvPr/>
        </p:nvSpPr>
        <p:spPr>
          <a:xfrm>
            <a:off x="548640" y="4480560"/>
            <a:ext cx="6766560" cy="1280160"/>
          </a:xfrm>
          <a:prstGeom prst="roundRect">
            <a:avLst>
              <a:gd name="adj" fmla="val 8571"/>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14" name="Shape 12"/>
          <p:cNvSpPr/>
          <p:nvPr/>
        </p:nvSpPr>
        <p:spPr>
          <a:xfrm>
            <a:off x="777240" y="4846320"/>
            <a:ext cx="868680" cy="548640"/>
          </a:xfrm>
          <a:prstGeom prst="roundRect">
            <a:avLst>
              <a:gd name="adj" fmla="val 16667"/>
            </a:avLst>
          </a:prstGeom>
          <a:solidFill>
            <a:srgbClr val="0B1F3A"/>
          </a:solidFill>
          <a:ln w="6350">
            <a:solidFill>
              <a:srgbClr val="0B1F3A"/>
            </a:solidFill>
            <a:prstDash val="solid"/>
          </a:ln>
        </p:spPr>
      </p:sp>
      <p:sp>
        <p:nvSpPr>
          <p:cNvPr id="15" name="Text 13"/>
          <p:cNvSpPr txBox="1"/>
          <p:nvPr/>
        </p:nvSpPr>
        <p:spPr>
          <a:xfrm>
            <a:off x="777240" y="4846320"/>
            <a:ext cx="868680" cy="548640"/>
          </a:xfrm>
          <a:prstGeom prst="rect">
            <a:avLst/>
          </a:prstGeom>
          <a:noFill/>
          <a:ln/>
        </p:spPr>
        <p:txBody>
          <a:bodyPr wrap="square" lIns="0" tIns="0" rIns="0" bIns="0" rtlCol="0" anchor="ctr"/>
          <a:lstStyle/>
          <a:p>
            <a:pPr algn="ctr" indent="0" marL="0">
              <a:buNone/>
            </a:pPr>
            <a:r>
              <a:rPr lang="en-US" sz="1800" b="1" dirty="0">
                <a:solidFill>
                  <a:srgbClr val="C9A227"/>
                </a:solidFill>
                <a:latin typeface="Calibri" pitchFamily="34" charset="0"/>
                <a:ea typeface="Calibri" pitchFamily="34" charset="-122"/>
                <a:cs typeface="Calibri" pitchFamily="34" charset="-120"/>
              </a:rPr>
              <a:t>RQ3</a:t>
            </a:r>
            <a:endParaRPr lang="en-US" sz="1800" dirty="0"/>
          </a:p>
        </p:txBody>
      </p:sp>
      <p:sp>
        <p:nvSpPr>
          <p:cNvPr id="16" name="Text 14"/>
          <p:cNvSpPr txBox="1"/>
          <p:nvPr/>
        </p:nvSpPr>
        <p:spPr>
          <a:xfrm>
            <a:off x="1920240" y="4617720"/>
            <a:ext cx="5120640" cy="1005840"/>
          </a:xfrm>
          <a:prstGeom prst="rect">
            <a:avLst/>
          </a:prstGeom>
          <a:noFill/>
          <a:ln/>
        </p:spPr>
        <p:txBody>
          <a:bodyPr wrap="square" lIns="0" tIns="0" rIns="0" bIns="0" rtlCol="0" anchor="ctr"/>
          <a:lstStyle/>
          <a:p>
            <a:pPr indent="0" marL="0">
              <a:buNone/>
            </a:pPr>
            <a:r>
              <a:rPr lang="en-US" sz="1500" dirty="0">
                <a:solidFill>
                  <a:srgbClr val="1F2A3C"/>
                </a:solidFill>
                <a:latin typeface="Calibri" pitchFamily="34" charset="0"/>
                <a:ea typeface="Calibri" pitchFamily="34" charset="-122"/>
                <a:cs typeface="Calibri" pitchFamily="34" charset="-120"/>
              </a:rPr>
              <a:t>How much does a sliding-window temporal buffer reduce false positives?</a:t>
            </a:r>
            <a:endParaRPr lang="en-US" sz="1500" dirty="0"/>
          </a:p>
        </p:txBody>
      </p:sp>
      <p:sp>
        <p:nvSpPr>
          <p:cNvPr id="17" name="Shape 15"/>
          <p:cNvSpPr/>
          <p:nvPr/>
        </p:nvSpPr>
        <p:spPr>
          <a:xfrm>
            <a:off x="7589520" y="1554480"/>
            <a:ext cx="4023360" cy="4206240"/>
          </a:xfrm>
          <a:prstGeom prst="roundRect">
            <a:avLst>
              <a:gd name="adj" fmla="val 2727"/>
            </a:avLst>
          </a:prstGeom>
          <a:solidFill>
            <a:srgbClr val="0B1F3A"/>
          </a:solidFill>
          <a:ln w="9525">
            <a:solidFill>
              <a:srgbClr val="0B1F3A"/>
            </a:solidFill>
            <a:prstDash val="solid"/>
          </a:ln>
        </p:spPr>
      </p:sp>
      <p:sp>
        <p:nvSpPr>
          <p:cNvPr id="18" name="Shape 16"/>
          <p:cNvSpPr/>
          <p:nvPr/>
        </p:nvSpPr>
        <p:spPr>
          <a:xfrm>
            <a:off x="9144000" y="1828800"/>
            <a:ext cx="914400" cy="914400"/>
          </a:xfrm>
          <a:prstGeom prst="ellipse">
            <a:avLst/>
          </a:prstGeom>
          <a:solidFill>
            <a:srgbClr val="1B3A6B"/>
          </a:solidFill>
          <a:ln w="6350">
            <a:solidFill>
              <a:srgbClr val="1B3A6B"/>
            </a:solidFill>
            <a:prstDash val="solid"/>
          </a:ln>
        </p:spPr>
      </p:sp>
      <p:pic>
        <p:nvPicPr>
          <p:cNvPr id="19" name="Image 0" descr="preencoded.png">    </p:cNvPr>
          <p:cNvPicPr>
            <a:picLocks noChangeAspect="1"/>
          </p:cNvPicPr>
          <p:nvPr/>
        </p:nvPicPr>
        <p:blipFill>
          <a:blip r:embed="rId1"/>
          <a:stretch>
            <a:fillRect/>
          </a:stretch>
        </p:blipFill>
        <p:spPr>
          <a:xfrm>
            <a:off x="9372600" y="2057400"/>
            <a:ext cx="457200" cy="457200"/>
          </a:xfrm>
          <a:prstGeom prst="rect">
            <a:avLst/>
          </a:prstGeom>
        </p:spPr>
      </p:pic>
      <p:sp>
        <p:nvSpPr>
          <p:cNvPr id="20" name="Text 17"/>
          <p:cNvSpPr txBox="1"/>
          <p:nvPr/>
        </p:nvSpPr>
        <p:spPr>
          <a:xfrm>
            <a:off x="7589520" y="2926080"/>
            <a:ext cx="4023360" cy="274320"/>
          </a:xfrm>
          <a:prstGeom prst="rect">
            <a:avLst/>
          </a:prstGeom>
          <a:noFill/>
          <a:ln/>
        </p:spPr>
        <p:txBody>
          <a:bodyPr wrap="square" lIns="0" tIns="0" rIns="0" bIns="0" rtlCol="0" anchor="t"/>
          <a:lstStyle/>
          <a:p>
            <a:pPr algn="ctr" indent="0" marL="0">
              <a:buNone/>
            </a:pPr>
            <a:r>
              <a:rPr lang="en-US" sz="1200" b="1" spc="300" kern="0" dirty="0">
                <a:solidFill>
                  <a:srgbClr val="C9A227"/>
                </a:solidFill>
                <a:latin typeface="Calibri" pitchFamily="34" charset="0"/>
                <a:ea typeface="Calibri" pitchFamily="34" charset="-122"/>
                <a:cs typeface="Calibri" pitchFamily="34" charset="-120"/>
              </a:rPr>
              <a:t>MAIN OBJECTIVE</a:t>
            </a:r>
            <a:endParaRPr lang="en-US" sz="1200" dirty="0"/>
          </a:p>
        </p:txBody>
      </p:sp>
      <p:sp>
        <p:nvSpPr>
          <p:cNvPr id="21" name="Text 18"/>
          <p:cNvSpPr txBox="1"/>
          <p:nvPr/>
        </p:nvSpPr>
        <p:spPr>
          <a:xfrm>
            <a:off x="7589520" y="3291840"/>
            <a:ext cx="4023360" cy="914400"/>
          </a:xfrm>
          <a:prstGeom prst="rect">
            <a:avLst/>
          </a:prstGeom>
          <a:noFill/>
          <a:ln/>
        </p:spPr>
        <p:txBody>
          <a:bodyPr wrap="square" lIns="0" tIns="0" rIns="0" bIns="0"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 25 FPS</a:t>
            </a:r>
            <a:endParaRPr lang="en-US" sz="5200" dirty="0"/>
          </a:p>
        </p:txBody>
      </p:sp>
      <p:sp>
        <p:nvSpPr>
          <p:cNvPr id="22" name="Text 19"/>
          <p:cNvSpPr txBox="1"/>
          <p:nvPr/>
        </p:nvSpPr>
        <p:spPr>
          <a:xfrm>
            <a:off x="7955280" y="4343400"/>
            <a:ext cx="3291840" cy="1005840"/>
          </a:xfrm>
          <a:prstGeom prst="rect">
            <a:avLst/>
          </a:prstGeom>
          <a:noFill/>
          <a:ln/>
        </p:spPr>
        <p:txBody>
          <a:bodyPr wrap="square" lIns="0" tIns="0" rIns="0" bIns="0" rtlCol="0" anchor="t"/>
          <a:lstStyle/>
          <a:p>
            <a:pPr algn="ctr" indent="0" marL="0">
              <a:buNone/>
            </a:pPr>
            <a:r>
              <a:rPr lang="en-US" sz="1500" dirty="0">
                <a:solidFill>
                  <a:srgbClr val="C9D6EA"/>
                </a:solidFill>
                <a:latin typeface="Calibri" pitchFamily="34" charset="0"/>
                <a:ea typeface="Calibri" pitchFamily="34" charset="-122"/>
                <a:cs typeface="Calibri" pitchFamily="34" charset="-120"/>
              </a:rPr>
              <a:t>Dual-model pipeline sustained on consumer-grade hardware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B1F3A"/>
                </a:solidFill>
                <a:latin typeface="Cambria" pitchFamily="34" charset="0"/>
                <a:ea typeface="Cambria" pitchFamily="34" charset="-122"/>
                <a:cs typeface="Cambria" pitchFamily="34" charset="-120"/>
              </a:rPr>
              <a:t>Proposed Solution: SENTINEL</a:t>
            </a:r>
            <a:endParaRPr lang="en-US" sz="3400" dirty="0"/>
          </a:p>
        </p:txBody>
      </p:sp>
      <p:sp>
        <p:nvSpPr>
          <p:cNvPr id="3" name="Text 1"/>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A6B82"/>
                </a:solidFill>
                <a:latin typeface="Calibri" pitchFamily="34" charset="0"/>
                <a:ea typeface="Calibri" pitchFamily="34" charset="-122"/>
                <a:cs typeface="Calibri" pitchFamily="34" charset="-120"/>
              </a:rPr>
              <a:t>SENTINEL  |  FYP-I Defense  |  FAST-NUCES</a:t>
            </a:r>
            <a:endParaRPr lang="en-US" sz="1000" dirty="0"/>
          </a:p>
        </p:txBody>
      </p:sp>
      <p:sp>
        <p:nvSpPr>
          <p:cNvPr id="4" name="Text 2"/>
          <p:cNvSpPr txBox="1"/>
          <p:nvPr/>
        </p:nvSpPr>
        <p:spPr>
          <a:xfrm>
            <a:off x="10698480" y="6400800"/>
            <a:ext cx="914400" cy="22860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548640" y="2743200"/>
            <a:ext cx="1828800" cy="1188720"/>
          </a:xfrm>
          <a:prstGeom prst="roundRect">
            <a:avLst>
              <a:gd name="adj" fmla="val 9231"/>
            </a:avLst>
          </a:prstGeom>
          <a:solidFill>
            <a:srgbClr val="F3F6FA"/>
          </a:solidFill>
          <a:ln w="9525">
            <a:solidFill>
              <a:srgbClr val="D5DCE6"/>
            </a:solidFill>
            <a:prstDash val="solid"/>
          </a:ln>
        </p:spPr>
      </p:sp>
      <p:sp>
        <p:nvSpPr>
          <p:cNvPr id="6" name="Text 4"/>
          <p:cNvSpPr txBox="1"/>
          <p:nvPr/>
        </p:nvSpPr>
        <p:spPr>
          <a:xfrm>
            <a:off x="548640" y="2743200"/>
            <a:ext cx="1828800" cy="1188720"/>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CCTV video stream</a:t>
            </a:r>
            <a:endParaRPr lang="en-US" sz="1500" dirty="0"/>
          </a:p>
        </p:txBody>
      </p:sp>
      <p:sp>
        <p:nvSpPr>
          <p:cNvPr id="7" name="Shape 5"/>
          <p:cNvSpPr/>
          <p:nvPr/>
        </p:nvSpPr>
        <p:spPr>
          <a:xfrm>
            <a:off x="2377440" y="3337560"/>
            <a:ext cx="365760" cy="0"/>
          </a:xfrm>
          <a:prstGeom prst="line">
            <a:avLst/>
          </a:prstGeom>
          <a:noFill/>
          <a:ln w="25400">
            <a:solidFill>
              <a:srgbClr val="0B1F3A"/>
            </a:solidFill>
            <a:prstDash val="solid"/>
          </a:ln>
        </p:spPr>
      </p:sp>
      <p:sp>
        <p:nvSpPr>
          <p:cNvPr id="8" name="Shape 6"/>
          <p:cNvSpPr/>
          <p:nvPr/>
        </p:nvSpPr>
        <p:spPr>
          <a:xfrm>
            <a:off x="2743200" y="2148840"/>
            <a:ext cx="0" cy="2377440"/>
          </a:xfrm>
          <a:prstGeom prst="line">
            <a:avLst/>
          </a:prstGeom>
          <a:noFill/>
          <a:ln w="25400">
            <a:solidFill>
              <a:srgbClr val="0B1F3A"/>
            </a:solidFill>
            <a:prstDash val="solid"/>
          </a:ln>
        </p:spPr>
      </p:sp>
      <p:sp>
        <p:nvSpPr>
          <p:cNvPr id="9" name="Shape 7"/>
          <p:cNvSpPr/>
          <p:nvPr/>
        </p:nvSpPr>
        <p:spPr>
          <a:xfrm>
            <a:off x="2743200" y="2148840"/>
            <a:ext cx="365760" cy="0"/>
          </a:xfrm>
          <a:prstGeom prst="line">
            <a:avLst/>
          </a:prstGeom>
          <a:noFill/>
          <a:ln w="25400">
            <a:solidFill>
              <a:srgbClr val="0B1F3A"/>
            </a:solidFill>
            <a:prstDash val="solid"/>
            <a:tailEnd type="triangle"/>
          </a:ln>
        </p:spPr>
      </p:sp>
      <p:sp>
        <p:nvSpPr>
          <p:cNvPr id="10" name="Shape 8"/>
          <p:cNvSpPr/>
          <p:nvPr/>
        </p:nvSpPr>
        <p:spPr>
          <a:xfrm>
            <a:off x="2743200" y="4526280"/>
            <a:ext cx="365760" cy="0"/>
          </a:xfrm>
          <a:prstGeom prst="line">
            <a:avLst/>
          </a:prstGeom>
          <a:noFill/>
          <a:ln w="25400">
            <a:solidFill>
              <a:srgbClr val="0B1F3A"/>
            </a:solidFill>
            <a:prstDash val="solid"/>
            <a:tailEnd type="triangle"/>
          </a:ln>
        </p:spPr>
      </p:sp>
      <p:sp>
        <p:nvSpPr>
          <p:cNvPr id="11" name="Shape 9"/>
          <p:cNvSpPr/>
          <p:nvPr/>
        </p:nvSpPr>
        <p:spPr>
          <a:xfrm>
            <a:off x="3108960" y="1463040"/>
            <a:ext cx="3291840" cy="1371600"/>
          </a:xfrm>
          <a:prstGeom prst="roundRect">
            <a:avLst>
              <a:gd name="adj" fmla="val 8000"/>
            </a:avLst>
          </a:prstGeom>
          <a:solidFill>
            <a:srgbClr val="0B1F3A"/>
          </a:solidFill>
          <a:ln w="9525">
            <a:solidFill>
              <a:srgbClr val="0B1F3A"/>
            </a:solidFill>
            <a:prstDash val="solid"/>
          </a:ln>
        </p:spPr>
      </p:sp>
      <p:sp>
        <p:nvSpPr>
          <p:cNvPr id="12" name="Text 10"/>
          <p:cNvSpPr txBox="1"/>
          <p:nvPr/>
        </p:nvSpPr>
        <p:spPr>
          <a:xfrm>
            <a:off x="3291840" y="1600200"/>
            <a:ext cx="2926080" cy="256032"/>
          </a:xfrm>
          <a:prstGeom prst="rect">
            <a:avLst/>
          </a:prstGeom>
          <a:noFill/>
          <a:ln/>
        </p:spPr>
        <p:txBody>
          <a:bodyPr wrap="square" lIns="0" tIns="0" rIns="0" bIns="0" rtlCol="0" anchor="t"/>
          <a:lstStyle/>
          <a:p>
            <a:pPr indent="0" marL="0">
              <a:buNone/>
            </a:pPr>
            <a:r>
              <a:rPr lang="en-US" sz="1100" b="1" spc="200" kern="0" dirty="0">
                <a:solidFill>
                  <a:srgbClr val="C9A227"/>
                </a:solidFill>
                <a:latin typeface="Calibri" pitchFamily="34" charset="0"/>
                <a:ea typeface="Calibri" pitchFamily="34" charset="-122"/>
                <a:cs typeface="Calibri" pitchFamily="34" charset="-120"/>
              </a:rPr>
              <a:t>STREAM 1  |  SPATIAL</a:t>
            </a:r>
            <a:endParaRPr lang="en-US" sz="1100" dirty="0"/>
          </a:p>
        </p:txBody>
      </p:sp>
      <p:sp>
        <p:nvSpPr>
          <p:cNvPr id="13" name="Text 11"/>
          <p:cNvSpPr txBox="1"/>
          <p:nvPr/>
        </p:nvSpPr>
        <p:spPr>
          <a:xfrm>
            <a:off x="3291840" y="1920240"/>
            <a:ext cx="292608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YOLOv8s weapon detection</a:t>
            </a:r>
            <a:endParaRPr lang="en-US" sz="1700" dirty="0"/>
          </a:p>
        </p:txBody>
      </p:sp>
      <p:sp>
        <p:nvSpPr>
          <p:cNvPr id="14" name="Text 12"/>
          <p:cNvSpPr txBox="1"/>
          <p:nvPr/>
        </p:nvSpPr>
        <p:spPr>
          <a:xfrm>
            <a:off x="3291840" y="2331720"/>
            <a:ext cx="2926080" cy="365760"/>
          </a:xfrm>
          <a:prstGeom prst="rect">
            <a:avLst/>
          </a:prstGeom>
          <a:noFill/>
          <a:ln/>
        </p:spPr>
        <p:txBody>
          <a:bodyPr wrap="square" lIns="0" tIns="0" rIns="0" bIns="0" rtlCol="0" anchor="t"/>
          <a:lstStyle/>
          <a:p>
            <a:pPr indent="0" marL="0">
              <a:buNone/>
            </a:pPr>
            <a:r>
              <a:rPr lang="en-US" sz="1300" dirty="0">
                <a:solidFill>
                  <a:srgbClr val="C9D6EA"/>
                </a:solidFill>
                <a:latin typeface="Calibri" pitchFamily="34" charset="0"/>
                <a:ea typeface="Calibri" pitchFamily="34" charset="-122"/>
                <a:cs typeface="Calibri" pitchFamily="34" charset="-120"/>
              </a:rPr>
              <a:t>Gun and Knife, frame by frame</a:t>
            </a:r>
            <a:endParaRPr lang="en-US" sz="1300" dirty="0"/>
          </a:p>
        </p:txBody>
      </p:sp>
      <p:sp>
        <p:nvSpPr>
          <p:cNvPr id="15" name="Shape 13"/>
          <p:cNvSpPr/>
          <p:nvPr/>
        </p:nvSpPr>
        <p:spPr>
          <a:xfrm>
            <a:off x="3108960" y="3840480"/>
            <a:ext cx="3291840" cy="1371600"/>
          </a:xfrm>
          <a:prstGeom prst="roundRect">
            <a:avLst>
              <a:gd name="adj" fmla="val 8000"/>
            </a:avLst>
          </a:prstGeom>
          <a:solidFill>
            <a:srgbClr val="1B3A6B"/>
          </a:solidFill>
          <a:ln w="9525">
            <a:solidFill>
              <a:srgbClr val="1B3A6B"/>
            </a:solidFill>
            <a:prstDash val="solid"/>
          </a:ln>
        </p:spPr>
      </p:sp>
      <p:sp>
        <p:nvSpPr>
          <p:cNvPr id="16" name="Text 14"/>
          <p:cNvSpPr txBox="1"/>
          <p:nvPr/>
        </p:nvSpPr>
        <p:spPr>
          <a:xfrm>
            <a:off x="3291840" y="3977640"/>
            <a:ext cx="2926080" cy="256032"/>
          </a:xfrm>
          <a:prstGeom prst="rect">
            <a:avLst/>
          </a:prstGeom>
          <a:noFill/>
          <a:ln/>
        </p:spPr>
        <p:txBody>
          <a:bodyPr wrap="square" lIns="0" tIns="0" rIns="0" bIns="0" rtlCol="0" anchor="t"/>
          <a:lstStyle/>
          <a:p>
            <a:pPr indent="0" marL="0">
              <a:buNone/>
            </a:pPr>
            <a:r>
              <a:rPr lang="en-US" sz="1100" b="1" spc="200" kern="0" dirty="0">
                <a:solidFill>
                  <a:srgbClr val="C9A227"/>
                </a:solidFill>
                <a:latin typeface="Calibri" pitchFamily="34" charset="0"/>
                <a:ea typeface="Calibri" pitchFamily="34" charset="-122"/>
                <a:cs typeface="Calibri" pitchFamily="34" charset="-120"/>
              </a:rPr>
              <a:t>STREAM 2  |  TEMPORAL</a:t>
            </a:r>
            <a:endParaRPr lang="en-US" sz="1100" dirty="0"/>
          </a:p>
        </p:txBody>
      </p:sp>
      <p:sp>
        <p:nvSpPr>
          <p:cNvPr id="17" name="Text 15"/>
          <p:cNvSpPr txBox="1"/>
          <p:nvPr/>
        </p:nvSpPr>
        <p:spPr>
          <a:xfrm>
            <a:off x="3291840" y="4297680"/>
            <a:ext cx="292608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YOLOv8m-Pose + 2-layer LSTM</a:t>
            </a:r>
            <a:endParaRPr lang="en-US" sz="1700" dirty="0"/>
          </a:p>
        </p:txBody>
      </p:sp>
      <p:sp>
        <p:nvSpPr>
          <p:cNvPr id="18" name="Text 16"/>
          <p:cNvSpPr txBox="1"/>
          <p:nvPr/>
        </p:nvSpPr>
        <p:spPr>
          <a:xfrm>
            <a:off x="3291840" y="4709160"/>
            <a:ext cx="2926080" cy="365760"/>
          </a:xfrm>
          <a:prstGeom prst="rect">
            <a:avLst/>
          </a:prstGeom>
          <a:noFill/>
          <a:ln/>
        </p:spPr>
        <p:txBody>
          <a:bodyPr wrap="square" lIns="0" tIns="0" rIns="0" bIns="0" rtlCol="0" anchor="t"/>
          <a:lstStyle/>
          <a:p>
            <a:pPr indent="0" marL="0">
              <a:buNone/>
            </a:pPr>
            <a:r>
              <a:rPr lang="en-US" sz="1300" dirty="0">
                <a:solidFill>
                  <a:srgbClr val="C9D6EA"/>
                </a:solidFill>
                <a:latin typeface="Calibri" pitchFamily="34" charset="0"/>
                <a:ea typeface="Calibri" pitchFamily="34" charset="-122"/>
                <a:cs typeface="Calibri" pitchFamily="34" charset="-120"/>
              </a:rPr>
              <a:t>Behavior recognition from skeletons</a:t>
            </a:r>
            <a:endParaRPr lang="en-US" sz="1300" dirty="0"/>
          </a:p>
        </p:txBody>
      </p:sp>
      <p:sp>
        <p:nvSpPr>
          <p:cNvPr id="19" name="Shape 17"/>
          <p:cNvSpPr/>
          <p:nvPr/>
        </p:nvSpPr>
        <p:spPr>
          <a:xfrm>
            <a:off x="6400800" y="2148840"/>
            <a:ext cx="365760" cy="0"/>
          </a:xfrm>
          <a:prstGeom prst="line">
            <a:avLst/>
          </a:prstGeom>
          <a:noFill/>
          <a:ln w="25400">
            <a:solidFill>
              <a:srgbClr val="0B1F3A"/>
            </a:solidFill>
            <a:prstDash val="solid"/>
          </a:ln>
        </p:spPr>
      </p:sp>
      <p:sp>
        <p:nvSpPr>
          <p:cNvPr id="20" name="Shape 18"/>
          <p:cNvSpPr/>
          <p:nvPr/>
        </p:nvSpPr>
        <p:spPr>
          <a:xfrm>
            <a:off x="6400800" y="4526280"/>
            <a:ext cx="365760" cy="0"/>
          </a:xfrm>
          <a:prstGeom prst="line">
            <a:avLst/>
          </a:prstGeom>
          <a:noFill/>
          <a:ln w="25400">
            <a:solidFill>
              <a:srgbClr val="0B1F3A"/>
            </a:solidFill>
            <a:prstDash val="solid"/>
          </a:ln>
        </p:spPr>
      </p:sp>
      <p:sp>
        <p:nvSpPr>
          <p:cNvPr id="21" name="Shape 19"/>
          <p:cNvSpPr/>
          <p:nvPr/>
        </p:nvSpPr>
        <p:spPr>
          <a:xfrm>
            <a:off x="6766560" y="2148840"/>
            <a:ext cx="0" cy="2377440"/>
          </a:xfrm>
          <a:prstGeom prst="line">
            <a:avLst/>
          </a:prstGeom>
          <a:noFill/>
          <a:ln w="25400">
            <a:solidFill>
              <a:srgbClr val="0B1F3A"/>
            </a:solidFill>
            <a:prstDash val="solid"/>
          </a:ln>
        </p:spPr>
      </p:sp>
      <p:sp>
        <p:nvSpPr>
          <p:cNvPr id="22" name="Shape 20"/>
          <p:cNvSpPr/>
          <p:nvPr/>
        </p:nvSpPr>
        <p:spPr>
          <a:xfrm>
            <a:off x="6766560" y="3337560"/>
            <a:ext cx="365760" cy="0"/>
          </a:xfrm>
          <a:prstGeom prst="line">
            <a:avLst/>
          </a:prstGeom>
          <a:noFill/>
          <a:ln w="25400">
            <a:solidFill>
              <a:srgbClr val="0B1F3A"/>
            </a:solidFill>
            <a:prstDash val="solid"/>
            <a:tailEnd type="triangle"/>
          </a:ln>
        </p:spPr>
      </p:sp>
      <p:sp>
        <p:nvSpPr>
          <p:cNvPr id="23" name="Shape 21"/>
          <p:cNvSpPr/>
          <p:nvPr/>
        </p:nvSpPr>
        <p:spPr>
          <a:xfrm>
            <a:off x="7132320" y="2743200"/>
            <a:ext cx="2194560" cy="1188720"/>
          </a:xfrm>
          <a:prstGeom prst="roundRect">
            <a:avLst>
              <a:gd name="adj" fmla="val 9231"/>
            </a:avLst>
          </a:prstGeom>
          <a:solidFill>
            <a:srgbClr val="C9A227"/>
          </a:solidFill>
          <a:ln w="9525">
            <a:solidFill>
              <a:srgbClr val="C9A227"/>
            </a:solidFill>
            <a:prstDash val="solid"/>
          </a:ln>
        </p:spPr>
      </p:sp>
      <p:sp>
        <p:nvSpPr>
          <p:cNvPr id="24" name="Text 22"/>
          <p:cNvSpPr txBox="1"/>
          <p:nvPr/>
        </p:nvSpPr>
        <p:spPr>
          <a:xfrm>
            <a:off x="7223760" y="2743200"/>
            <a:ext cx="2011680" cy="1188720"/>
          </a:xfrm>
          <a:prstGeom prst="rect">
            <a:avLst/>
          </a:prstGeom>
          <a:noFill/>
          <a:ln/>
        </p:spPr>
        <p:txBody>
          <a:bodyPr wrap="square" lIns="0" tIns="0" rIns="0" bIns="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Temporal Consistency Buffer</a:t>
            </a:r>
            <a:endParaRPr lang="en-US" sz="1600" dirty="0"/>
          </a:p>
        </p:txBody>
      </p:sp>
      <p:sp>
        <p:nvSpPr>
          <p:cNvPr id="25" name="Shape 23"/>
          <p:cNvSpPr/>
          <p:nvPr/>
        </p:nvSpPr>
        <p:spPr>
          <a:xfrm>
            <a:off x="9326880" y="3337560"/>
            <a:ext cx="365760" cy="0"/>
          </a:xfrm>
          <a:prstGeom prst="line">
            <a:avLst/>
          </a:prstGeom>
          <a:noFill/>
          <a:ln w="25400">
            <a:solidFill>
              <a:srgbClr val="0B1F3A"/>
            </a:solidFill>
            <a:prstDash val="solid"/>
            <a:tailEnd type="triangle"/>
          </a:ln>
        </p:spPr>
      </p:sp>
      <p:sp>
        <p:nvSpPr>
          <p:cNvPr id="26" name="Shape 24"/>
          <p:cNvSpPr/>
          <p:nvPr/>
        </p:nvSpPr>
        <p:spPr>
          <a:xfrm>
            <a:off x="9692640" y="2743200"/>
            <a:ext cx="1920240" cy="1188720"/>
          </a:xfrm>
          <a:prstGeom prst="roundRect">
            <a:avLst>
              <a:gd name="adj" fmla="val 9231"/>
            </a:avLst>
          </a:prstGeom>
          <a:solidFill>
            <a:srgbClr val="0B1F3A"/>
          </a:solidFill>
          <a:ln w="9525">
            <a:solidFill>
              <a:srgbClr val="0B1F3A"/>
            </a:solidFill>
            <a:prstDash val="solid"/>
          </a:ln>
        </p:spPr>
      </p:sp>
      <p:pic>
        <p:nvPicPr>
          <p:cNvPr id="27" name="Image 0" descr="preencoded.png">    </p:cNvPr>
          <p:cNvPicPr>
            <a:picLocks noChangeAspect="1"/>
          </p:cNvPicPr>
          <p:nvPr/>
        </p:nvPicPr>
        <p:blipFill>
          <a:blip r:embed="rId1"/>
          <a:stretch>
            <a:fillRect/>
          </a:stretch>
        </p:blipFill>
        <p:spPr>
          <a:xfrm>
            <a:off x="10424160" y="2834640"/>
            <a:ext cx="411480" cy="411480"/>
          </a:xfrm>
          <a:prstGeom prst="rect">
            <a:avLst/>
          </a:prstGeom>
        </p:spPr>
      </p:pic>
      <p:sp>
        <p:nvSpPr>
          <p:cNvPr id="28" name="Text 25"/>
          <p:cNvSpPr txBox="1"/>
          <p:nvPr/>
        </p:nvSpPr>
        <p:spPr>
          <a:xfrm>
            <a:off x="9692640" y="3337560"/>
            <a:ext cx="19202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Verified alert</a:t>
            </a:r>
            <a:endParaRPr lang="en-US" sz="1500" dirty="0"/>
          </a:p>
        </p:txBody>
      </p:sp>
      <p:sp>
        <p:nvSpPr>
          <p:cNvPr id="29" name="Text 26"/>
          <p:cNvSpPr txBox="1"/>
          <p:nvPr/>
        </p:nvSpPr>
        <p:spPr>
          <a:xfrm>
            <a:off x="548640" y="5669280"/>
            <a:ext cx="11064240" cy="365760"/>
          </a:xfrm>
          <a:prstGeom prst="rect">
            <a:avLst/>
          </a:prstGeom>
          <a:noFill/>
          <a:ln/>
        </p:spPr>
        <p:txBody>
          <a:bodyPr wrap="square" lIns="0" tIns="0" rIns="0" bIns="0" rtlCol="0" anchor="t"/>
          <a:lstStyle/>
          <a:p>
            <a:pPr algn="ctr" indent="0" marL="0">
              <a:buNone/>
            </a:pPr>
            <a:r>
              <a:rPr lang="en-US" sz="1500" dirty="0">
                <a:solidFill>
                  <a:srgbClr val="5A6B82"/>
                </a:solidFill>
                <a:latin typeface="Calibri" pitchFamily="34" charset="0"/>
                <a:ea typeface="Calibri" pitchFamily="34" charset="-122"/>
                <a:cs typeface="Calibri" pitchFamily="34" charset="-120"/>
              </a:rPr>
              <a:t>FastAPI backend   |   React live dashboard   |   WebSockets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B1F3A"/>
                </a:solidFill>
                <a:latin typeface="Cambria" pitchFamily="34" charset="0"/>
                <a:ea typeface="Cambria" pitchFamily="34" charset="-122"/>
                <a:cs typeface="Cambria" pitchFamily="34" charset="-120"/>
              </a:rPr>
              <a:t>Literature Review: Capability Comparison</a:t>
            </a:r>
            <a:endParaRPr lang="en-US" sz="3400" dirty="0"/>
          </a:p>
        </p:txBody>
      </p:sp>
      <p:sp>
        <p:nvSpPr>
          <p:cNvPr id="3" name="Text 1"/>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A6B82"/>
                </a:solidFill>
                <a:latin typeface="Calibri" pitchFamily="34" charset="0"/>
                <a:ea typeface="Calibri" pitchFamily="34" charset="-122"/>
                <a:cs typeface="Calibri" pitchFamily="34" charset="-120"/>
              </a:rPr>
              <a:t>SENTINEL  |  FYP-I Defense  |  FAST-NUCES</a:t>
            </a:r>
            <a:endParaRPr lang="en-US" sz="1000" dirty="0"/>
          </a:p>
        </p:txBody>
      </p:sp>
      <p:sp>
        <p:nvSpPr>
          <p:cNvPr id="4" name="Text 2"/>
          <p:cNvSpPr txBox="1"/>
          <p:nvPr/>
        </p:nvSpPr>
        <p:spPr>
          <a:xfrm>
            <a:off x="10698480" y="6400800"/>
            <a:ext cx="914400" cy="22860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3383280"/>
                <a:gridCol w="2560320"/>
                <a:gridCol w="2560320"/>
                <a:gridCol w="2560320"/>
              </a:tblGrid>
              <a:tr h="59436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Approach</a:t>
                      </a:r>
                      <a:endParaRPr lang="en-US" sz="15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0B1F3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Weapon detection</a:t>
                      </a:r>
                      <a:endParaRPr lang="en-US" sz="15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0B1F3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Behavior classification</a:t>
                      </a:r>
                      <a:endParaRPr lang="en-US" sz="15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0B1F3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Temporal filtering</a:t>
                      </a:r>
                      <a:endParaRPr lang="en-US" sz="15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0B1F3A"/>
                    </a:solidFill>
                  </a:tcPr>
                </a:tc>
              </a:tr>
              <a:tr h="731520">
                <a:tc>
                  <a:txBody>
                    <a:bodyPr/>
                    <a:lstStyle/>
                    <a:p>
                      <a:pPr algn="l" indent="0" marL="0">
                        <a:buNone/>
                      </a:pPr>
                      <a:r>
                        <a:rPr lang="en-US" sz="1500" b="1" dirty="0">
                          <a:solidFill>
                            <a:srgbClr val="0B1F3A"/>
                          </a:solidFill>
                          <a:latin typeface="Calibri" pitchFamily="34" charset="0"/>
                          <a:ea typeface="Calibri" pitchFamily="34" charset="-122"/>
                          <a:cs typeface="Calibri" pitchFamily="34" charset="-120"/>
                        </a:rPr>
                        <a:t>Bonde et al. / Shanthi et al.</a:t>
                      </a:r>
                      <a:endParaRPr lang="en-US" sz="15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F7A4D"/>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3383D"/>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3383D"/>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731520">
                <a:tc>
                  <a:txBody>
                    <a:bodyPr/>
                    <a:lstStyle/>
                    <a:p>
                      <a:pPr algn="l" indent="0" marL="0">
                        <a:buNone/>
                      </a:pPr>
                      <a:r>
                        <a:rPr lang="en-US" sz="1500" b="1" dirty="0">
                          <a:solidFill>
                            <a:srgbClr val="0B1F3A"/>
                          </a:solidFill>
                          <a:latin typeface="Calibri" pitchFamily="34" charset="0"/>
                          <a:ea typeface="Calibri" pitchFamily="34" charset="-122"/>
                          <a:cs typeface="Calibri" pitchFamily="34" charset="-120"/>
                        </a:rPr>
                        <a:t>Praveen et al.</a:t>
                      </a:r>
                      <a:endParaRPr lang="en-US" sz="15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3F6FA"/>
                    </a:solidFill>
                  </a:tcPr>
                </a:tc>
                <a:tc>
                  <a:txBody>
                    <a:bodyPr/>
                    <a:lstStyle/>
                    <a:p>
                      <a:pPr algn="ctr" indent="0" marL="0">
                        <a:buNone/>
                      </a:pPr>
                      <a:r>
                        <a:rPr lang="en-US" sz="1500" b="1" dirty="0">
                          <a:solidFill>
                            <a:srgbClr val="B3383D"/>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3F6FA"/>
                    </a:solidFill>
                  </a:tcPr>
                </a:tc>
                <a:tc>
                  <a:txBody>
                    <a:bodyPr/>
                    <a:lstStyle/>
                    <a:p>
                      <a:pPr algn="ctr" indent="0" marL="0">
                        <a:buNone/>
                      </a:pPr>
                      <a:r>
                        <a:rPr lang="en-US" sz="1500" b="1" dirty="0">
                          <a:solidFill>
                            <a:srgbClr val="B3383D"/>
                          </a:solidFill>
                          <a:latin typeface="Calibri" pitchFamily="34" charset="0"/>
                          <a:ea typeface="Calibri" pitchFamily="34" charset="-122"/>
                          <a:cs typeface="Calibri" pitchFamily="34" charset="-120"/>
                        </a:rPr>
                        <a:t>Binary only</a:t>
                      </a:r>
                      <a:endParaRPr lang="en-US" sz="15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3F6FA"/>
                    </a:solidFill>
                  </a:tcPr>
                </a:tc>
                <a:tc>
                  <a:txBody>
                    <a:bodyPr/>
                    <a:lstStyle/>
                    <a:p>
                      <a:pPr algn="ctr" indent="0" marL="0">
                        <a:buNone/>
                      </a:pPr>
                      <a:r>
                        <a:rPr lang="en-US" sz="1500" b="1" dirty="0">
                          <a:solidFill>
                            <a:srgbClr val="1F7A4D"/>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3F6FA"/>
                    </a:solidFill>
                  </a:tcPr>
                </a:tc>
              </a:tr>
              <a:tr h="731520">
                <a:tc>
                  <a:txBody>
                    <a:bodyPr/>
                    <a:lstStyle/>
                    <a:p>
                      <a:pPr algn="l" indent="0" marL="0">
                        <a:buNone/>
                      </a:pPr>
                      <a:r>
                        <a:rPr lang="en-US" sz="1500" b="1" dirty="0">
                          <a:solidFill>
                            <a:srgbClr val="0B1F3A"/>
                          </a:solidFill>
                          <a:latin typeface="Calibri" pitchFamily="34" charset="0"/>
                          <a:ea typeface="Calibri" pitchFamily="34" charset="-122"/>
                          <a:cs typeface="Calibri" pitchFamily="34" charset="-120"/>
                        </a:rPr>
                        <a:t>SENTINEL (ours)</a:t>
                      </a:r>
                      <a:endParaRPr lang="en-US" sz="15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BF3D6"/>
                    </a:solidFill>
                  </a:tcPr>
                </a:tc>
                <a:tc>
                  <a:txBody>
                    <a:bodyPr/>
                    <a:lstStyle/>
                    <a:p>
                      <a:pPr algn="ctr" indent="0" marL="0">
                        <a:buNone/>
                      </a:pPr>
                      <a:r>
                        <a:rPr lang="en-US" sz="1500" b="1" dirty="0">
                          <a:solidFill>
                            <a:srgbClr val="1F7A4D"/>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BF3D6"/>
                    </a:solidFill>
                  </a:tcPr>
                </a:tc>
                <a:tc>
                  <a:txBody>
                    <a:bodyPr/>
                    <a:lstStyle/>
                    <a:p>
                      <a:pPr algn="ctr" indent="0" marL="0">
                        <a:buNone/>
                      </a:pPr>
                      <a:r>
                        <a:rPr lang="en-US" sz="1500" b="1" dirty="0">
                          <a:solidFill>
                            <a:srgbClr val="1F7A4D"/>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BF3D6"/>
                    </a:solidFill>
                  </a:tcPr>
                </a:tc>
                <a:tc>
                  <a:txBody>
                    <a:bodyPr/>
                    <a:lstStyle/>
                    <a:p>
                      <a:pPr algn="ctr" indent="0" marL="0">
                        <a:buNone/>
                      </a:pPr>
                      <a:r>
                        <a:rPr lang="en-US" sz="1500" b="1" dirty="0">
                          <a:solidFill>
                            <a:srgbClr val="1F7A4D"/>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BF3D6"/>
                    </a:solidFill>
                  </a:tcPr>
                </a:tc>
              </a:tr>
            </a:tbl>
          </a:graphicData>
        </a:graphic>
      </p:graphicFrame>
      <p:sp>
        <p:nvSpPr>
          <p:cNvPr id="6" name="Shape 3"/>
          <p:cNvSpPr/>
          <p:nvPr/>
        </p:nvSpPr>
        <p:spPr>
          <a:xfrm>
            <a:off x="548640" y="4846320"/>
            <a:ext cx="11064240" cy="777240"/>
          </a:xfrm>
          <a:prstGeom prst="roundRect">
            <a:avLst>
              <a:gd name="adj" fmla="val 14118"/>
            </a:avLst>
          </a:prstGeom>
          <a:solidFill>
            <a:srgbClr val="0B1F3A"/>
          </a:solidFill>
          <a:ln w="9525">
            <a:solidFill>
              <a:srgbClr val="0B1F3A"/>
            </a:solidFill>
            <a:prstDash val="solid"/>
          </a:ln>
        </p:spPr>
      </p:sp>
      <p:sp>
        <p:nvSpPr>
          <p:cNvPr id="7" name="Text 4"/>
          <p:cNvSpPr txBox="1"/>
          <p:nvPr/>
        </p:nvSpPr>
        <p:spPr>
          <a:xfrm>
            <a:off x="822960" y="4846320"/>
            <a:ext cx="10515600" cy="7772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SENTINEL is the only framework combining weapon detection, pose-based behavior classification and false-alarm suppression in one real-time pipeline.</a:t>
            </a:r>
            <a:endParaRPr lang="en-US" sz="1600" dirty="0"/>
          </a:p>
        </p:txBody>
      </p:sp>
      <p:sp>
        <p:nvSpPr>
          <p:cNvPr id="8" name="Text 5"/>
          <p:cNvSpPr txBox="1"/>
          <p:nvPr/>
        </p:nvSpPr>
        <p:spPr>
          <a:xfrm>
            <a:off x="548640" y="5806440"/>
            <a:ext cx="7315200" cy="274320"/>
          </a:xfrm>
          <a:prstGeom prst="rect">
            <a:avLst/>
          </a:prstGeom>
          <a:noFill/>
          <a:ln/>
        </p:spPr>
        <p:txBody>
          <a:bodyPr wrap="square" lIns="0" tIns="0" rIns="0" bIns="0" rtlCol="0" anchor="t"/>
          <a:lstStyle/>
          <a:p>
            <a:pPr indent="0" marL="0">
              <a:buNone/>
            </a:pPr>
            <a:r>
              <a:rPr lang="en-US" sz="1200" dirty="0">
                <a:solidFill>
                  <a:srgbClr val="5A6B82"/>
                </a:solidFill>
                <a:latin typeface="Calibri" pitchFamily="34" charset="0"/>
                <a:ea typeface="Calibri" pitchFamily="34" charset="-122"/>
                <a:cs typeface="Calibri" pitchFamily="34" charset="-120"/>
              </a:rPr>
              <a:t>Based on the team's review of recent 2025-2026 papers.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B1F3A"/>
                </a:solidFill>
                <a:latin typeface="Cambria" pitchFamily="34" charset="0"/>
                <a:ea typeface="Cambria" pitchFamily="34" charset="-122"/>
                <a:cs typeface="Cambria" pitchFamily="34" charset="-120"/>
              </a:rPr>
              <a:t>System Architecture</a:t>
            </a:r>
            <a:endParaRPr lang="en-US" sz="3400" dirty="0"/>
          </a:p>
        </p:txBody>
      </p:sp>
      <p:sp>
        <p:nvSpPr>
          <p:cNvPr id="3" name="Text 1"/>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A6B82"/>
                </a:solidFill>
                <a:latin typeface="Calibri" pitchFamily="34" charset="0"/>
                <a:ea typeface="Calibri" pitchFamily="34" charset="-122"/>
                <a:cs typeface="Calibri" pitchFamily="34" charset="-120"/>
              </a:rPr>
              <a:t>SENTINEL  |  FYP-I Defense  |  FAST-NUCES</a:t>
            </a:r>
            <a:endParaRPr lang="en-US" sz="1000" dirty="0"/>
          </a:p>
        </p:txBody>
      </p:sp>
      <p:sp>
        <p:nvSpPr>
          <p:cNvPr id="4" name="Text 2"/>
          <p:cNvSpPr txBox="1"/>
          <p:nvPr/>
        </p:nvSpPr>
        <p:spPr>
          <a:xfrm>
            <a:off x="10698480" y="6400800"/>
            <a:ext cx="914400" cy="22860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548640" y="1645920"/>
            <a:ext cx="2011680" cy="3383280"/>
          </a:xfrm>
          <a:prstGeom prst="roundRect">
            <a:avLst>
              <a:gd name="adj" fmla="val 5455"/>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1143000" y="1920240"/>
            <a:ext cx="822960" cy="822960"/>
          </a:xfrm>
          <a:prstGeom prst="ellipse">
            <a:avLst/>
          </a:prstGeom>
          <a:solidFill>
            <a:srgbClr val="0B1F3A"/>
          </a:solidFill>
          <a:ln w="6350">
            <a:solidFill>
              <a:srgbClr val="0B1F3A"/>
            </a:solidFill>
            <a:prstDash val="solid"/>
          </a:ln>
        </p:spPr>
      </p:sp>
      <p:sp>
        <p:nvSpPr>
          <p:cNvPr id="7" name="Text 5"/>
          <p:cNvSpPr txBox="1"/>
          <p:nvPr/>
        </p:nvSpPr>
        <p:spPr>
          <a:xfrm>
            <a:off x="1143000" y="1920240"/>
            <a:ext cx="822960" cy="822960"/>
          </a:xfrm>
          <a:prstGeom prst="rect">
            <a:avLst/>
          </a:prstGeom>
          <a:noFill/>
          <a:ln/>
        </p:spPr>
        <p:txBody>
          <a:bodyPr wrap="square" lIns="0" tIns="0" rIns="0" bIns="0" rtlCol="0" anchor="ctr"/>
          <a:lstStyle/>
          <a:p>
            <a:pPr algn="ctr" indent="0" marL="0">
              <a:buNone/>
            </a:pPr>
            <a:r>
              <a:rPr lang="en-US" sz="3000" b="1" dirty="0">
                <a:solidFill>
                  <a:srgbClr val="C9A227"/>
                </a:solidFill>
                <a:latin typeface="Cambria" pitchFamily="34" charset="0"/>
                <a:ea typeface="Cambria" pitchFamily="34" charset="-122"/>
                <a:cs typeface="Cambria" pitchFamily="34" charset="-120"/>
              </a:rPr>
              <a:t>A</a:t>
            </a:r>
            <a:endParaRPr lang="en-US" sz="3000" dirty="0"/>
          </a:p>
        </p:txBody>
      </p:sp>
      <p:sp>
        <p:nvSpPr>
          <p:cNvPr id="8" name="Text 6"/>
          <p:cNvSpPr txBox="1"/>
          <p:nvPr/>
        </p:nvSpPr>
        <p:spPr>
          <a:xfrm>
            <a:off x="731520" y="2926080"/>
            <a:ext cx="1645920" cy="685800"/>
          </a:xfrm>
          <a:prstGeom prst="rect">
            <a:avLst/>
          </a:prstGeom>
          <a:noFill/>
          <a:ln/>
        </p:spPr>
        <p:txBody>
          <a:bodyPr wrap="square" lIns="0" tIns="0" rIns="0" bIns="0" rtlCol="0" anchor="t"/>
          <a:lstStyle/>
          <a:p>
            <a:pPr algn="ctr" indent="0" marL="0">
              <a:buNone/>
            </a:pPr>
            <a:r>
              <a:rPr lang="en-US" sz="1700" b="1" dirty="0">
                <a:solidFill>
                  <a:srgbClr val="0B1F3A"/>
                </a:solidFill>
                <a:latin typeface="Calibri" pitchFamily="34" charset="0"/>
                <a:ea typeface="Calibri" pitchFamily="34" charset="-122"/>
                <a:cs typeface="Calibri" pitchFamily="34" charset="-120"/>
              </a:rPr>
              <a:t>Video Ingestion</a:t>
            </a:r>
            <a:endParaRPr lang="en-US" sz="1700" dirty="0"/>
          </a:p>
        </p:txBody>
      </p:sp>
      <p:sp>
        <p:nvSpPr>
          <p:cNvPr id="9" name="Text 7"/>
          <p:cNvSpPr txBox="1"/>
          <p:nvPr/>
        </p:nvSpPr>
        <p:spPr>
          <a:xfrm>
            <a:off x="731520" y="3657600"/>
            <a:ext cx="1645920" cy="1280160"/>
          </a:xfrm>
          <a:prstGeom prst="rect">
            <a:avLst/>
          </a:prstGeom>
          <a:noFill/>
          <a:ln/>
        </p:spPr>
        <p:txBody>
          <a:bodyPr wrap="square" lIns="0" tIns="0" rIns="0" bIns="0" rtlCol="0" anchor="t"/>
          <a:lstStyle/>
          <a:p>
            <a:pPr algn="ctr" indent="0" marL="0">
              <a:buNone/>
            </a:pPr>
            <a:r>
              <a:rPr lang="en-US" sz="1400" dirty="0">
                <a:solidFill>
                  <a:srgbClr val="1F2A3C"/>
                </a:solidFill>
                <a:latin typeface="Calibri" pitchFamily="34" charset="0"/>
                <a:ea typeface="Calibri" pitchFamily="34" charset="-122"/>
                <a:cs typeface="Calibri" pitchFamily="34" charset="-120"/>
              </a:rPr>
              <a:t>OpenCV reads RTSP streams or webcam frames.</a:t>
            </a:r>
            <a:endParaRPr lang="en-US" sz="1400" dirty="0"/>
          </a:p>
        </p:txBody>
      </p:sp>
      <p:sp>
        <p:nvSpPr>
          <p:cNvPr id="10" name="Shape 8"/>
          <p:cNvSpPr/>
          <p:nvPr/>
        </p:nvSpPr>
        <p:spPr>
          <a:xfrm>
            <a:off x="2578608" y="3246120"/>
            <a:ext cx="214884" cy="274320"/>
          </a:xfrm>
          <a:prstGeom prst="rightArrow">
            <a:avLst/>
          </a:prstGeom>
          <a:solidFill>
            <a:srgbClr val="C9A227"/>
          </a:solidFill>
          <a:ln w="6350">
            <a:solidFill>
              <a:srgbClr val="C9A227"/>
            </a:solidFill>
            <a:prstDash val="solid"/>
          </a:ln>
        </p:spPr>
      </p:sp>
      <p:sp>
        <p:nvSpPr>
          <p:cNvPr id="11" name="Shape 9"/>
          <p:cNvSpPr/>
          <p:nvPr/>
        </p:nvSpPr>
        <p:spPr>
          <a:xfrm>
            <a:off x="2811780" y="1645920"/>
            <a:ext cx="2011680" cy="3383280"/>
          </a:xfrm>
          <a:prstGeom prst="roundRect">
            <a:avLst>
              <a:gd name="adj" fmla="val 5455"/>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12" name="Shape 10"/>
          <p:cNvSpPr/>
          <p:nvPr/>
        </p:nvSpPr>
        <p:spPr>
          <a:xfrm>
            <a:off x="3406140" y="1920240"/>
            <a:ext cx="822960" cy="822960"/>
          </a:xfrm>
          <a:prstGeom prst="ellipse">
            <a:avLst/>
          </a:prstGeom>
          <a:solidFill>
            <a:srgbClr val="0B1F3A"/>
          </a:solidFill>
          <a:ln w="6350">
            <a:solidFill>
              <a:srgbClr val="0B1F3A"/>
            </a:solidFill>
            <a:prstDash val="solid"/>
          </a:ln>
        </p:spPr>
      </p:sp>
      <p:sp>
        <p:nvSpPr>
          <p:cNvPr id="13" name="Text 11"/>
          <p:cNvSpPr txBox="1"/>
          <p:nvPr/>
        </p:nvSpPr>
        <p:spPr>
          <a:xfrm>
            <a:off x="3406140" y="1920240"/>
            <a:ext cx="822960" cy="822960"/>
          </a:xfrm>
          <a:prstGeom prst="rect">
            <a:avLst/>
          </a:prstGeom>
          <a:noFill/>
          <a:ln/>
        </p:spPr>
        <p:txBody>
          <a:bodyPr wrap="square" lIns="0" tIns="0" rIns="0" bIns="0" rtlCol="0" anchor="ctr"/>
          <a:lstStyle/>
          <a:p>
            <a:pPr algn="ctr" indent="0" marL="0">
              <a:buNone/>
            </a:pPr>
            <a:r>
              <a:rPr lang="en-US" sz="3000" b="1" dirty="0">
                <a:solidFill>
                  <a:srgbClr val="C9A227"/>
                </a:solidFill>
                <a:latin typeface="Cambria" pitchFamily="34" charset="0"/>
                <a:ea typeface="Cambria" pitchFamily="34" charset="-122"/>
                <a:cs typeface="Cambria" pitchFamily="34" charset="-120"/>
              </a:rPr>
              <a:t>B</a:t>
            </a:r>
            <a:endParaRPr lang="en-US" sz="3000" dirty="0"/>
          </a:p>
        </p:txBody>
      </p:sp>
      <p:sp>
        <p:nvSpPr>
          <p:cNvPr id="14" name="Text 12"/>
          <p:cNvSpPr txBox="1"/>
          <p:nvPr/>
        </p:nvSpPr>
        <p:spPr>
          <a:xfrm>
            <a:off x="2994660" y="2926080"/>
            <a:ext cx="1645920" cy="685800"/>
          </a:xfrm>
          <a:prstGeom prst="rect">
            <a:avLst/>
          </a:prstGeom>
          <a:noFill/>
          <a:ln/>
        </p:spPr>
        <p:txBody>
          <a:bodyPr wrap="square" lIns="0" tIns="0" rIns="0" bIns="0" rtlCol="0" anchor="t"/>
          <a:lstStyle/>
          <a:p>
            <a:pPr algn="ctr" indent="0" marL="0">
              <a:buNone/>
            </a:pPr>
            <a:r>
              <a:rPr lang="en-US" sz="1700" b="1" dirty="0">
                <a:solidFill>
                  <a:srgbClr val="0B1F3A"/>
                </a:solidFill>
                <a:latin typeface="Calibri" pitchFamily="34" charset="0"/>
                <a:ea typeface="Calibri" pitchFamily="34" charset="-122"/>
                <a:cs typeface="Calibri" pitchFamily="34" charset="-120"/>
              </a:rPr>
              <a:t>Inference Engine</a:t>
            </a:r>
            <a:endParaRPr lang="en-US" sz="1700" dirty="0"/>
          </a:p>
        </p:txBody>
      </p:sp>
      <p:sp>
        <p:nvSpPr>
          <p:cNvPr id="15" name="Text 13"/>
          <p:cNvSpPr txBox="1"/>
          <p:nvPr/>
        </p:nvSpPr>
        <p:spPr>
          <a:xfrm>
            <a:off x="2994660" y="3657600"/>
            <a:ext cx="1645920" cy="1280160"/>
          </a:xfrm>
          <a:prstGeom prst="rect">
            <a:avLst/>
          </a:prstGeom>
          <a:noFill/>
          <a:ln/>
        </p:spPr>
        <p:txBody>
          <a:bodyPr wrap="square" lIns="0" tIns="0" rIns="0" bIns="0" rtlCol="0" anchor="t"/>
          <a:lstStyle/>
          <a:p>
            <a:pPr algn="ctr" indent="0" marL="0">
              <a:buNone/>
            </a:pPr>
            <a:r>
              <a:rPr lang="en-US" sz="1400" dirty="0">
                <a:solidFill>
                  <a:srgbClr val="1F2A3C"/>
                </a:solidFill>
                <a:latin typeface="Calibri" pitchFamily="34" charset="0"/>
                <a:ea typeface="Calibri" pitchFamily="34" charset="-122"/>
                <a:cs typeface="Calibri" pitchFamily="34" charset="-120"/>
              </a:rPr>
              <a:t>YOLOv8 detects weapons while YOLOv8-Pose extracts skeletons.</a:t>
            </a:r>
            <a:endParaRPr lang="en-US" sz="1400" dirty="0"/>
          </a:p>
        </p:txBody>
      </p:sp>
      <p:sp>
        <p:nvSpPr>
          <p:cNvPr id="16" name="Shape 14"/>
          <p:cNvSpPr/>
          <p:nvPr/>
        </p:nvSpPr>
        <p:spPr>
          <a:xfrm>
            <a:off x="4841748" y="3246120"/>
            <a:ext cx="214884" cy="274320"/>
          </a:xfrm>
          <a:prstGeom prst="rightArrow">
            <a:avLst/>
          </a:prstGeom>
          <a:solidFill>
            <a:srgbClr val="C9A227"/>
          </a:solidFill>
          <a:ln w="6350">
            <a:solidFill>
              <a:srgbClr val="C9A227"/>
            </a:solidFill>
            <a:prstDash val="solid"/>
          </a:ln>
        </p:spPr>
      </p:sp>
      <p:sp>
        <p:nvSpPr>
          <p:cNvPr id="17" name="Shape 15"/>
          <p:cNvSpPr/>
          <p:nvPr/>
        </p:nvSpPr>
        <p:spPr>
          <a:xfrm>
            <a:off x="5074920" y="1645920"/>
            <a:ext cx="2011680" cy="3383280"/>
          </a:xfrm>
          <a:prstGeom prst="roundRect">
            <a:avLst>
              <a:gd name="adj" fmla="val 5455"/>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18" name="Shape 16"/>
          <p:cNvSpPr/>
          <p:nvPr/>
        </p:nvSpPr>
        <p:spPr>
          <a:xfrm>
            <a:off x="5669280" y="1920240"/>
            <a:ext cx="822960" cy="822960"/>
          </a:xfrm>
          <a:prstGeom prst="ellipse">
            <a:avLst/>
          </a:prstGeom>
          <a:solidFill>
            <a:srgbClr val="0B1F3A"/>
          </a:solidFill>
          <a:ln w="6350">
            <a:solidFill>
              <a:srgbClr val="0B1F3A"/>
            </a:solidFill>
            <a:prstDash val="solid"/>
          </a:ln>
        </p:spPr>
      </p:sp>
      <p:sp>
        <p:nvSpPr>
          <p:cNvPr id="19" name="Text 17"/>
          <p:cNvSpPr txBox="1"/>
          <p:nvPr/>
        </p:nvSpPr>
        <p:spPr>
          <a:xfrm>
            <a:off x="5669280" y="1920240"/>
            <a:ext cx="822960" cy="822960"/>
          </a:xfrm>
          <a:prstGeom prst="rect">
            <a:avLst/>
          </a:prstGeom>
          <a:noFill/>
          <a:ln/>
        </p:spPr>
        <p:txBody>
          <a:bodyPr wrap="square" lIns="0" tIns="0" rIns="0" bIns="0" rtlCol="0" anchor="ctr"/>
          <a:lstStyle/>
          <a:p>
            <a:pPr algn="ctr" indent="0" marL="0">
              <a:buNone/>
            </a:pPr>
            <a:r>
              <a:rPr lang="en-US" sz="3000" b="1" dirty="0">
                <a:solidFill>
                  <a:srgbClr val="C9A227"/>
                </a:solidFill>
                <a:latin typeface="Cambria" pitchFamily="34" charset="0"/>
                <a:ea typeface="Cambria" pitchFamily="34" charset="-122"/>
                <a:cs typeface="Cambria" pitchFamily="34" charset="-120"/>
              </a:rPr>
              <a:t>C</a:t>
            </a:r>
            <a:endParaRPr lang="en-US" sz="3000" dirty="0"/>
          </a:p>
        </p:txBody>
      </p:sp>
      <p:sp>
        <p:nvSpPr>
          <p:cNvPr id="20" name="Text 18"/>
          <p:cNvSpPr txBox="1"/>
          <p:nvPr/>
        </p:nvSpPr>
        <p:spPr>
          <a:xfrm>
            <a:off x="5257800" y="2926080"/>
            <a:ext cx="1645920" cy="685800"/>
          </a:xfrm>
          <a:prstGeom prst="rect">
            <a:avLst/>
          </a:prstGeom>
          <a:noFill/>
          <a:ln/>
        </p:spPr>
        <p:txBody>
          <a:bodyPr wrap="square" lIns="0" tIns="0" rIns="0" bIns="0" rtlCol="0" anchor="t"/>
          <a:lstStyle/>
          <a:p>
            <a:pPr algn="ctr" indent="0" marL="0">
              <a:buNone/>
            </a:pPr>
            <a:r>
              <a:rPr lang="en-US" sz="1700" b="1" dirty="0">
                <a:solidFill>
                  <a:srgbClr val="0B1F3A"/>
                </a:solidFill>
                <a:latin typeface="Calibri" pitchFamily="34" charset="0"/>
                <a:ea typeface="Calibri" pitchFamily="34" charset="-122"/>
                <a:cs typeface="Calibri" pitchFamily="34" charset="-120"/>
              </a:rPr>
              <a:t>Sequence Modeling</a:t>
            </a:r>
            <a:endParaRPr lang="en-US" sz="1700" dirty="0"/>
          </a:p>
        </p:txBody>
      </p:sp>
      <p:sp>
        <p:nvSpPr>
          <p:cNvPr id="21" name="Text 19"/>
          <p:cNvSpPr txBox="1"/>
          <p:nvPr/>
        </p:nvSpPr>
        <p:spPr>
          <a:xfrm>
            <a:off x="5257800" y="3657600"/>
            <a:ext cx="1645920" cy="1280160"/>
          </a:xfrm>
          <a:prstGeom prst="rect">
            <a:avLst/>
          </a:prstGeom>
          <a:noFill/>
          <a:ln/>
        </p:spPr>
        <p:txBody>
          <a:bodyPr wrap="square" lIns="0" tIns="0" rIns="0" bIns="0" rtlCol="0" anchor="t"/>
          <a:lstStyle/>
          <a:p>
            <a:pPr algn="ctr" indent="0" marL="0">
              <a:buNone/>
            </a:pPr>
            <a:r>
              <a:rPr lang="en-US" sz="1400" dirty="0">
                <a:solidFill>
                  <a:srgbClr val="1F2A3C"/>
                </a:solidFill>
                <a:latin typeface="Calibri" pitchFamily="34" charset="0"/>
                <a:ea typeface="Calibri" pitchFamily="34" charset="-122"/>
                <a:cs typeface="Calibri" pitchFamily="34" charset="-120"/>
              </a:rPr>
              <a:t>LSTM classifies 10-frame sliding windows of keypoints.</a:t>
            </a:r>
            <a:endParaRPr lang="en-US" sz="1400" dirty="0"/>
          </a:p>
        </p:txBody>
      </p:sp>
      <p:sp>
        <p:nvSpPr>
          <p:cNvPr id="22" name="Shape 20"/>
          <p:cNvSpPr/>
          <p:nvPr/>
        </p:nvSpPr>
        <p:spPr>
          <a:xfrm>
            <a:off x="7104888" y="3246120"/>
            <a:ext cx="214884" cy="274320"/>
          </a:xfrm>
          <a:prstGeom prst="rightArrow">
            <a:avLst/>
          </a:prstGeom>
          <a:solidFill>
            <a:srgbClr val="C9A227"/>
          </a:solidFill>
          <a:ln w="6350">
            <a:solidFill>
              <a:srgbClr val="C9A227"/>
            </a:solidFill>
            <a:prstDash val="solid"/>
          </a:ln>
        </p:spPr>
      </p:sp>
      <p:sp>
        <p:nvSpPr>
          <p:cNvPr id="23" name="Shape 21"/>
          <p:cNvSpPr/>
          <p:nvPr/>
        </p:nvSpPr>
        <p:spPr>
          <a:xfrm>
            <a:off x="7338060" y="1645920"/>
            <a:ext cx="2011680" cy="3383280"/>
          </a:xfrm>
          <a:prstGeom prst="roundRect">
            <a:avLst>
              <a:gd name="adj" fmla="val 5455"/>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24" name="Shape 22"/>
          <p:cNvSpPr/>
          <p:nvPr/>
        </p:nvSpPr>
        <p:spPr>
          <a:xfrm>
            <a:off x="7932420" y="1920240"/>
            <a:ext cx="822960" cy="822960"/>
          </a:xfrm>
          <a:prstGeom prst="ellipse">
            <a:avLst/>
          </a:prstGeom>
          <a:solidFill>
            <a:srgbClr val="0B1F3A"/>
          </a:solidFill>
          <a:ln w="6350">
            <a:solidFill>
              <a:srgbClr val="0B1F3A"/>
            </a:solidFill>
            <a:prstDash val="solid"/>
          </a:ln>
        </p:spPr>
      </p:sp>
      <p:sp>
        <p:nvSpPr>
          <p:cNvPr id="25" name="Text 23"/>
          <p:cNvSpPr txBox="1"/>
          <p:nvPr/>
        </p:nvSpPr>
        <p:spPr>
          <a:xfrm>
            <a:off x="7932420" y="1920240"/>
            <a:ext cx="822960" cy="822960"/>
          </a:xfrm>
          <a:prstGeom prst="rect">
            <a:avLst/>
          </a:prstGeom>
          <a:noFill/>
          <a:ln/>
        </p:spPr>
        <p:txBody>
          <a:bodyPr wrap="square" lIns="0" tIns="0" rIns="0" bIns="0" rtlCol="0" anchor="ctr"/>
          <a:lstStyle/>
          <a:p>
            <a:pPr algn="ctr" indent="0" marL="0">
              <a:buNone/>
            </a:pPr>
            <a:r>
              <a:rPr lang="en-US" sz="3000" b="1" dirty="0">
                <a:solidFill>
                  <a:srgbClr val="C9A227"/>
                </a:solidFill>
                <a:latin typeface="Cambria" pitchFamily="34" charset="0"/>
                <a:ea typeface="Cambria" pitchFamily="34" charset="-122"/>
                <a:cs typeface="Cambria" pitchFamily="34" charset="-120"/>
              </a:rPr>
              <a:t>D</a:t>
            </a:r>
            <a:endParaRPr lang="en-US" sz="3000" dirty="0"/>
          </a:p>
        </p:txBody>
      </p:sp>
      <p:sp>
        <p:nvSpPr>
          <p:cNvPr id="26" name="Text 24"/>
          <p:cNvSpPr txBox="1"/>
          <p:nvPr/>
        </p:nvSpPr>
        <p:spPr>
          <a:xfrm>
            <a:off x="7520940" y="2926080"/>
            <a:ext cx="1645920" cy="685800"/>
          </a:xfrm>
          <a:prstGeom prst="rect">
            <a:avLst/>
          </a:prstGeom>
          <a:noFill/>
          <a:ln/>
        </p:spPr>
        <p:txBody>
          <a:bodyPr wrap="square" lIns="0" tIns="0" rIns="0" bIns="0" rtlCol="0" anchor="t"/>
          <a:lstStyle/>
          <a:p>
            <a:pPr algn="ctr" indent="0" marL="0">
              <a:buNone/>
            </a:pPr>
            <a:r>
              <a:rPr lang="en-US" sz="1700" b="1" dirty="0">
                <a:solidFill>
                  <a:srgbClr val="0B1F3A"/>
                </a:solidFill>
                <a:latin typeface="Calibri" pitchFamily="34" charset="0"/>
                <a:ea typeface="Calibri" pitchFamily="34" charset="-122"/>
                <a:cs typeface="Calibri" pitchFamily="34" charset="-120"/>
              </a:rPr>
              <a:t>Temporal Filtering</a:t>
            </a:r>
            <a:endParaRPr lang="en-US" sz="1700" dirty="0"/>
          </a:p>
        </p:txBody>
      </p:sp>
      <p:sp>
        <p:nvSpPr>
          <p:cNvPr id="27" name="Text 25"/>
          <p:cNvSpPr txBox="1"/>
          <p:nvPr/>
        </p:nvSpPr>
        <p:spPr>
          <a:xfrm>
            <a:off x="7520940" y="3657600"/>
            <a:ext cx="1645920" cy="1280160"/>
          </a:xfrm>
          <a:prstGeom prst="rect">
            <a:avLst/>
          </a:prstGeom>
          <a:noFill/>
          <a:ln/>
        </p:spPr>
        <p:txBody>
          <a:bodyPr wrap="square" lIns="0" tIns="0" rIns="0" bIns="0" rtlCol="0" anchor="t"/>
          <a:lstStyle/>
          <a:p>
            <a:pPr algn="ctr" indent="0" marL="0">
              <a:buNone/>
            </a:pPr>
            <a:r>
              <a:rPr lang="en-US" sz="1400" dirty="0">
                <a:solidFill>
                  <a:srgbClr val="1F2A3C"/>
                </a:solidFill>
                <a:latin typeface="Calibri" pitchFamily="34" charset="0"/>
                <a:ea typeface="Calibri" pitchFamily="34" charset="-122"/>
                <a:cs typeface="Calibri" pitchFamily="34" charset="-120"/>
              </a:rPr>
              <a:t>IoU-based tracking verifies that a threat persists.</a:t>
            </a:r>
            <a:endParaRPr lang="en-US" sz="1400" dirty="0"/>
          </a:p>
        </p:txBody>
      </p:sp>
      <p:sp>
        <p:nvSpPr>
          <p:cNvPr id="28" name="Shape 26"/>
          <p:cNvSpPr/>
          <p:nvPr/>
        </p:nvSpPr>
        <p:spPr>
          <a:xfrm>
            <a:off x="9368028" y="3246120"/>
            <a:ext cx="214884" cy="274320"/>
          </a:xfrm>
          <a:prstGeom prst="rightArrow">
            <a:avLst/>
          </a:prstGeom>
          <a:solidFill>
            <a:srgbClr val="C9A227"/>
          </a:solidFill>
          <a:ln w="6350">
            <a:solidFill>
              <a:srgbClr val="C9A227"/>
            </a:solidFill>
            <a:prstDash val="solid"/>
          </a:ln>
        </p:spPr>
      </p:sp>
      <p:sp>
        <p:nvSpPr>
          <p:cNvPr id="29" name="Shape 27"/>
          <p:cNvSpPr/>
          <p:nvPr/>
        </p:nvSpPr>
        <p:spPr>
          <a:xfrm>
            <a:off x="9601200" y="1645920"/>
            <a:ext cx="2011680" cy="3383280"/>
          </a:xfrm>
          <a:prstGeom prst="roundRect">
            <a:avLst>
              <a:gd name="adj" fmla="val 5455"/>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30" name="Shape 28"/>
          <p:cNvSpPr/>
          <p:nvPr/>
        </p:nvSpPr>
        <p:spPr>
          <a:xfrm>
            <a:off x="10195560" y="1920240"/>
            <a:ext cx="822960" cy="822960"/>
          </a:xfrm>
          <a:prstGeom prst="ellipse">
            <a:avLst/>
          </a:prstGeom>
          <a:solidFill>
            <a:srgbClr val="0B1F3A"/>
          </a:solidFill>
          <a:ln w="6350">
            <a:solidFill>
              <a:srgbClr val="0B1F3A"/>
            </a:solidFill>
            <a:prstDash val="solid"/>
          </a:ln>
        </p:spPr>
      </p:sp>
      <p:sp>
        <p:nvSpPr>
          <p:cNvPr id="31" name="Text 29"/>
          <p:cNvSpPr txBox="1"/>
          <p:nvPr/>
        </p:nvSpPr>
        <p:spPr>
          <a:xfrm>
            <a:off x="10195560" y="1920240"/>
            <a:ext cx="822960" cy="822960"/>
          </a:xfrm>
          <a:prstGeom prst="rect">
            <a:avLst/>
          </a:prstGeom>
          <a:noFill/>
          <a:ln/>
        </p:spPr>
        <p:txBody>
          <a:bodyPr wrap="square" lIns="0" tIns="0" rIns="0" bIns="0" rtlCol="0" anchor="ctr"/>
          <a:lstStyle/>
          <a:p>
            <a:pPr algn="ctr" indent="0" marL="0">
              <a:buNone/>
            </a:pPr>
            <a:r>
              <a:rPr lang="en-US" sz="3000" b="1" dirty="0">
                <a:solidFill>
                  <a:srgbClr val="C9A227"/>
                </a:solidFill>
                <a:latin typeface="Cambria" pitchFamily="34" charset="0"/>
                <a:ea typeface="Cambria" pitchFamily="34" charset="-122"/>
                <a:cs typeface="Cambria" pitchFamily="34" charset="-120"/>
              </a:rPr>
              <a:t>E</a:t>
            </a:r>
            <a:endParaRPr lang="en-US" sz="3000" dirty="0"/>
          </a:p>
        </p:txBody>
      </p:sp>
      <p:sp>
        <p:nvSpPr>
          <p:cNvPr id="32" name="Text 30"/>
          <p:cNvSpPr txBox="1"/>
          <p:nvPr/>
        </p:nvSpPr>
        <p:spPr>
          <a:xfrm>
            <a:off x="9784080" y="2926080"/>
            <a:ext cx="1645920" cy="685800"/>
          </a:xfrm>
          <a:prstGeom prst="rect">
            <a:avLst/>
          </a:prstGeom>
          <a:noFill/>
          <a:ln/>
        </p:spPr>
        <p:txBody>
          <a:bodyPr wrap="square" lIns="0" tIns="0" rIns="0" bIns="0" rtlCol="0" anchor="t"/>
          <a:lstStyle/>
          <a:p>
            <a:pPr algn="ctr" indent="0" marL="0">
              <a:buNone/>
            </a:pPr>
            <a:r>
              <a:rPr lang="en-US" sz="1700" b="1" dirty="0">
                <a:solidFill>
                  <a:srgbClr val="0B1F3A"/>
                </a:solidFill>
                <a:latin typeface="Calibri" pitchFamily="34" charset="0"/>
                <a:ea typeface="Calibri" pitchFamily="34" charset="-122"/>
                <a:cs typeface="Calibri" pitchFamily="34" charset="-120"/>
              </a:rPr>
              <a:t>Logging and Broadcast</a:t>
            </a:r>
            <a:endParaRPr lang="en-US" sz="1700" dirty="0"/>
          </a:p>
        </p:txBody>
      </p:sp>
      <p:sp>
        <p:nvSpPr>
          <p:cNvPr id="33" name="Text 31"/>
          <p:cNvSpPr txBox="1"/>
          <p:nvPr/>
        </p:nvSpPr>
        <p:spPr>
          <a:xfrm>
            <a:off x="9784080" y="3657600"/>
            <a:ext cx="1645920" cy="1280160"/>
          </a:xfrm>
          <a:prstGeom prst="rect">
            <a:avLst/>
          </a:prstGeom>
          <a:noFill/>
          <a:ln/>
        </p:spPr>
        <p:txBody>
          <a:bodyPr wrap="square" lIns="0" tIns="0" rIns="0" bIns="0" rtlCol="0" anchor="t"/>
          <a:lstStyle/>
          <a:p>
            <a:pPr algn="ctr" indent="0" marL="0">
              <a:buNone/>
            </a:pPr>
            <a:r>
              <a:rPr lang="en-US" sz="1400" dirty="0">
                <a:solidFill>
                  <a:srgbClr val="1F2A3C"/>
                </a:solidFill>
                <a:latin typeface="Calibri" pitchFamily="34" charset="0"/>
                <a:ea typeface="Calibri" pitchFamily="34" charset="-122"/>
                <a:cs typeface="Calibri" pitchFamily="34" charset="-120"/>
              </a:rPr>
              <a:t>Incident saved to the database and pushed to the React dashboard over WebSockets.</a:t>
            </a:r>
            <a:endParaRPr lang="en-US" sz="1400" dirty="0"/>
          </a:p>
        </p:txBody>
      </p:sp>
      <p:sp>
        <p:nvSpPr>
          <p:cNvPr id="34" name="Text 32"/>
          <p:cNvSpPr txBox="1"/>
          <p:nvPr/>
        </p:nvSpPr>
        <p:spPr>
          <a:xfrm>
            <a:off x="548640" y="5440680"/>
            <a:ext cx="11064240" cy="365760"/>
          </a:xfrm>
          <a:prstGeom prst="rect">
            <a:avLst/>
          </a:prstGeom>
          <a:noFill/>
          <a:ln/>
        </p:spPr>
        <p:txBody>
          <a:bodyPr wrap="square" lIns="0" tIns="0" rIns="0" bIns="0" rtlCol="0" anchor="t"/>
          <a:lstStyle/>
          <a:p>
            <a:pPr algn="ctr" indent="0" marL="0">
              <a:buNone/>
            </a:pPr>
            <a:r>
              <a:rPr lang="en-US" sz="1600" i="1" dirty="0">
                <a:solidFill>
                  <a:srgbClr val="5A6B82"/>
                </a:solidFill>
                <a:latin typeface="Calibri" pitchFamily="34" charset="0"/>
                <a:ea typeface="Calibri" pitchFamily="34" charset="-122"/>
                <a:cs typeface="Calibri" pitchFamily="34" charset="-120"/>
              </a:rPr>
              <a:t>Design goal: sub-second latency from frame to alert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B1F3A"/>
                </a:solidFill>
                <a:latin typeface="Cambria" pitchFamily="34" charset="0"/>
                <a:ea typeface="Cambria" pitchFamily="34" charset="-122"/>
                <a:cs typeface="Cambria" pitchFamily="34" charset="-120"/>
              </a:rPr>
              <a:t>Stream 1: Weapon Detection</a:t>
            </a:r>
            <a:endParaRPr lang="en-US" sz="3400" dirty="0"/>
          </a:p>
        </p:txBody>
      </p:sp>
      <p:sp>
        <p:nvSpPr>
          <p:cNvPr id="3" name="Text 1"/>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A6B82"/>
                </a:solidFill>
                <a:latin typeface="Calibri" pitchFamily="34" charset="0"/>
                <a:ea typeface="Calibri" pitchFamily="34" charset="-122"/>
                <a:cs typeface="Calibri" pitchFamily="34" charset="-120"/>
              </a:rPr>
              <a:t>SENTINEL  |  FYP-I Defense  |  FAST-NUCES</a:t>
            </a:r>
            <a:endParaRPr lang="en-US" sz="1000" dirty="0"/>
          </a:p>
        </p:txBody>
      </p:sp>
      <p:sp>
        <p:nvSpPr>
          <p:cNvPr id="4" name="Text 2"/>
          <p:cNvSpPr txBox="1"/>
          <p:nvPr/>
        </p:nvSpPr>
        <p:spPr>
          <a:xfrm>
            <a:off x="10698480" y="6400800"/>
            <a:ext cx="914400" cy="22860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548640" y="1554480"/>
            <a:ext cx="5669280" cy="4206240"/>
          </a:xfrm>
          <a:prstGeom prst="rect">
            <a:avLst/>
          </a:prstGeom>
          <a:solidFill>
            <a:srgbClr val="10284A"/>
          </a:solidFill>
          <a:ln w="19050">
            <a:solidFill>
              <a:srgbClr val="2E4A78"/>
            </a:solidFill>
            <a:prstDash val="solid"/>
          </a:ln>
        </p:spPr>
      </p:sp>
      <p:sp>
        <p:nvSpPr>
          <p:cNvPr id="6" name="Shape 4"/>
          <p:cNvSpPr/>
          <p:nvPr/>
        </p:nvSpPr>
        <p:spPr>
          <a:xfrm>
            <a:off x="566928" y="4835347"/>
            <a:ext cx="5632704" cy="907085"/>
          </a:xfrm>
          <a:prstGeom prst="rect">
            <a:avLst/>
          </a:prstGeom>
          <a:solidFill>
            <a:srgbClr val="0D2140"/>
          </a:solidFill>
          <a:ln w="6350">
            <a:solidFill>
              <a:srgbClr val="0D2140"/>
            </a:solidFill>
            <a:prstDash val="solid"/>
          </a:ln>
        </p:spPr>
      </p:sp>
      <p:sp>
        <p:nvSpPr>
          <p:cNvPr id="7" name="Shape 5"/>
          <p:cNvSpPr/>
          <p:nvPr/>
        </p:nvSpPr>
        <p:spPr>
          <a:xfrm>
            <a:off x="731520" y="1755648"/>
            <a:ext cx="128016" cy="128016"/>
          </a:xfrm>
          <a:prstGeom prst="ellipse">
            <a:avLst/>
          </a:prstGeom>
          <a:solidFill>
            <a:srgbClr val="E5484D"/>
          </a:solidFill>
          <a:ln w="6350">
            <a:solidFill>
              <a:srgbClr val="E5484D"/>
            </a:solidFill>
            <a:prstDash val="solid"/>
          </a:ln>
        </p:spPr>
      </p:sp>
      <p:sp>
        <p:nvSpPr>
          <p:cNvPr id="8" name="Text 6"/>
          <p:cNvSpPr txBox="1"/>
          <p:nvPr/>
        </p:nvSpPr>
        <p:spPr>
          <a:xfrm>
            <a:off x="932688" y="1709928"/>
            <a:ext cx="2011680" cy="219456"/>
          </a:xfrm>
          <a:prstGeom prst="rect">
            <a:avLst/>
          </a:prstGeom>
          <a:noFill/>
          <a:ln/>
        </p:spPr>
        <p:txBody>
          <a:bodyPr wrap="square" lIns="0" tIns="0" rIns="0" bIns="0" rtlCol="0" anchor="t"/>
          <a:lstStyle/>
          <a:p>
            <a:pPr indent="0" marL="0">
              <a:buNone/>
            </a:pPr>
            <a:r>
              <a:rPr lang="en-US" sz="1100" b="1" dirty="0">
                <a:solidFill>
                  <a:srgbClr val="C9D6EA"/>
                </a:solidFill>
                <a:latin typeface="Calibri" pitchFamily="34" charset="0"/>
                <a:ea typeface="Calibri" pitchFamily="34" charset="-122"/>
                <a:cs typeface="Calibri" pitchFamily="34" charset="-120"/>
              </a:rPr>
              <a:t>REC  CAM 02</a:t>
            </a:r>
            <a:endParaRPr lang="en-US" sz="1100" dirty="0"/>
          </a:p>
        </p:txBody>
      </p:sp>
      <p:sp>
        <p:nvSpPr>
          <p:cNvPr id="9" name="Shape 7"/>
          <p:cNvSpPr/>
          <p:nvPr/>
        </p:nvSpPr>
        <p:spPr>
          <a:xfrm>
            <a:off x="2175815" y="2514600"/>
            <a:ext cx="403250" cy="403250"/>
          </a:xfrm>
          <a:prstGeom prst="ellipse">
            <a:avLst/>
          </a:prstGeom>
          <a:solidFill>
            <a:srgbClr val="4A6FA5"/>
          </a:solidFill>
          <a:ln w="6350">
            <a:solidFill>
              <a:srgbClr val="4A6FA5"/>
            </a:solidFill>
            <a:prstDash val="solid"/>
          </a:ln>
        </p:spPr>
      </p:sp>
      <p:sp>
        <p:nvSpPr>
          <p:cNvPr id="10" name="Shape 8"/>
          <p:cNvSpPr/>
          <p:nvPr/>
        </p:nvSpPr>
        <p:spPr>
          <a:xfrm>
            <a:off x="1993392" y="2975458"/>
            <a:ext cx="768096" cy="1536192"/>
          </a:xfrm>
          <a:prstGeom prst="roundRect">
            <a:avLst>
              <a:gd name="adj" fmla="val 17857"/>
            </a:avLst>
          </a:prstGeom>
          <a:solidFill>
            <a:srgbClr val="4A6FA5"/>
          </a:solidFill>
          <a:ln w="6350">
            <a:solidFill>
              <a:srgbClr val="4A6FA5"/>
            </a:solidFill>
            <a:prstDash val="solid"/>
          </a:ln>
        </p:spPr>
      </p:sp>
      <p:sp>
        <p:nvSpPr>
          <p:cNvPr id="11" name="Shape 9"/>
          <p:cNvSpPr/>
          <p:nvPr/>
        </p:nvSpPr>
        <p:spPr>
          <a:xfrm>
            <a:off x="4837176" y="2697480"/>
            <a:ext cx="384048" cy="384048"/>
          </a:xfrm>
          <a:prstGeom prst="ellipse">
            <a:avLst/>
          </a:prstGeom>
          <a:solidFill>
            <a:srgbClr val="4A6FA5"/>
          </a:solidFill>
          <a:ln w="6350">
            <a:solidFill>
              <a:srgbClr val="4A6FA5"/>
            </a:solidFill>
            <a:prstDash val="solid"/>
          </a:ln>
        </p:spPr>
      </p:sp>
      <p:sp>
        <p:nvSpPr>
          <p:cNvPr id="12" name="Shape 10"/>
          <p:cNvSpPr/>
          <p:nvPr/>
        </p:nvSpPr>
        <p:spPr>
          <a:xfrm>
            <a:off x="4663440" y="3136392"/>
            <a:ext cx="731520" cy="1463040"/>
          </a:xfrm>
          <a:prstGeom prst="roundRect">
            <a:avLst>
              <a:gd name="adj" fmla="val 18750"/>
            </a:avLst>
          </a:prstGeom>
          <a:solidFill>
            <a:srgbClr val="4A6FA5"/>
          </a:solidFill>
          <a:ln w="6350">
            <a:solidFill>
              <a:srgbClr val="4A6FA5"/>
            </a:solidFill>
            <a:prstDash val="solid"/>
          </a:ln>
        </p:spPr>
      </p:sp>
      <p:sp>
        <p:nvSpPr>
          <p:cNvPr id="13" name="Shape 11"/>
          <p:cNvSpPr/>
          <p:nvPr/>
        </p:nvSpPr>
        <p:spPr>
          <a:xfrm>
            <a:off x="2880360" y="3383280"/>
            <a:ext cx="594360" cy="182880"/>
          </a:xfrm>
          <a:prstGeom prst="rect">
            <a:avLst/>
          </a:prstGeom>
          <a:solidFill>
            <a:srgbClr val="E8EEF7"/>
          </a:solidFill>
          <a:ln w="9525">
            <a:solidFill>
              <a:srgbClr val="E8EEF7"/>
            </a:solidFill>
            <a:prstDash val="solid"/>
          </a:ln>
        </p:spPr>
      </p:sp>
      <p:sp>
        <p:nvSpPr>
          <p:cNvPr id="14" name="Shape 12"/>
          <p:cNvSpPr/>
          <p:nvPr/>
        </p:nvSpPr>
        <p:spPr>
          <a:xfrm>
            <a:off x="2926080" y="3520440"/>
            <a:ext cx="137160" cy="274320"/>
          </a:xfrm>
          <a:prstGeom prst="rect">
            <a:avLst/>
          </a:prstGeom>
          <a:solidFill>
            <a:srgbClr val="E8EEF7"/>
          </a:solidFill>
          <a:ln w="9525">
            <a:solidFill>
              <a:srgbClr val="E8EEF7"/>
            </a:solidFill>
            <a:prstDash val="solid"/>
          </a:ln>
        </p:spPr>
      </p:sp>
      <p:sp>
        <p:nvSpPr>
          <p:cNvPr id="15" name="Shape 13"/>
          <p:cNvSpPr/>
          <p:nvPr/>
        </p:nvSpPr>
        <p:spPr>
          <a:xfrm>
            <a:off x="4315968" y="3337560"/>
            <a:ext cx="82296" cy="502920"/>
          </a:xfrm>
          <a:prstGeom prst="rect">
            <a:avLst/>
          </a:prstGeom>
          <a:solidFill>
            <a:srgbClr val="E8EEF7"/>
          </a:solidFill>
          <a:ln w="6350">
            <a:solidFill>
              <a:srgbClr val="E8EEF7"/>
            </a:solidFill>
            <a:prstDash val="solid"/>
          </a:ln>
        </p:spPr>
      </p:sp>
      <p:sp>
        <p:nvSpPr>
          <p:cNvPr id="16" name="Shape 14"/>
          <p:cNvSpPr/>
          <p:nvPr/>
        </p:nvSpPr>
        <p:spPr>
          <a:xfrm>
            <a:off x="2743200" y="3108960"/>
            <a:ext cx="914400" cy="777240"/>
          </a:xfrm>
          <a:prstGeom prst="rect">
            <a:avLst/>
          </a:prstGeom>
          <a:solidFill>
            <a:srgbClr val="FFFFFF">
              <a:alpha val="0"/>
            </a:srgbClr>
          </a:solidFill>
          <a:ln w="28575">
            <a:solidFill>
              <a:srgbClr val="E5484D"/>
            </a:solidFill>
            <a:prstDash val="solid"/>
          </a:ln>
        </p:spPr>
      </p:sp>
      <p:sp>
        <p:nvSpPr>
          <p:cNvPr id="17" name="Shape 15"/>
          <p:cNvSpPr/>
          <p:nvPr/>
        </p:nvSpPr>
        <p:spPr>
          <a:xfrm>
            <a:off x="2743200" y="2862072"/>
            <a:ext cx="731520" cy="246888"/>
          </a:xfrm>
          <a:prstGeom prst="rect">
            <a:avLst/>
          </a:prstGeom>
          <a:solidFill>
            <a:srgbClr val="E5484D"/>
          </a:solidFill>
          <a:ln w="6350">
            <a:solidFill>
              <a:srgbClr val="E5484D"/>
            </a:solidFill>
            <a:prstDash val="solid"/>
          </a:ln>
        </p:spPr>
      </p:sp>
      <p:sp>
        <p:nvSpPr>
          <p:cNvPr id="18" name="Text 16"/>
          <p:cNvSpPr txBox="1"/>
          <p:nvPr/>
        </p:nvSpPr>
        <p:spPr>
          <a:xfrm>
            <a:off x="2743200" y="2862072"/>
            <a:ext cx="73152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Gun 0.91</a:t>
            </a:r>
            <a:endParaRPr lang="en-US" sz="1100" dirty="0"/>
          </a:p>
        </p:txBody>
      </p:sp>
      <p:sp>
        <p:nvSpPr>
          <p:cNvPr id="19" name="Shape 17"/>
          <p:cNvSpPr/>
          <p:nvPr/>
        </p:nvSpPr>
        <p:spPr>
          <a:xfrm>
            <a:off x="4114800" y="3108960"/>
            <a:ext cx="502920" cy="868680"/>
          </a:xfrm>
          <a:prstGeom prst="rect">
            <a:avLst/>
          </a:prstGeom>
          <a:solidFill>
            <a:srgbClr val="FFFFFF">
              <a:alpha val="0"/>
            </a:srgbClr>
          </a:solidFill>
          <a:ln w="28575">
            <a:solidFill>
              <a:srgbClr val="E5484D"/>
            </a:solidFill>
            <a:prstDash val="solid"/>
          </a:ln>
        </p:spPr>
      </p:sp>
      <p:sp>
        <p:nvSpPr>
          <p:cNvPr id="20" name="Shape 18"/>
          <p:cNvSpPr/>
          <p:nvPr/>
        </p:nvSpPr>
        <p:spPr>
          <a:xfrm>
            <a:off x="4114800" y="2862072"/>
            <a:ext cx="886968" cy="246888"/>
          </a:xfrm>
          <a:prstGeom prst="rect">
            <a:avLst/>
          </a:prstGeom>
          <a:solidFill>
            <a:srgbClr val="E5484D"/>
          </a:solidFill>
          <a:ln w="6350">
            <a:solidFill>
              <a:srgbClr val="E5484D"/>
            </a:solidFill>
            <a:prstDash val="solid"/>
          </a:ln>
        </p:spPr>
      </p:sp>
      <p:sp>
        <p:nvSpPr>
          <p:cNvPr id="21" name="Text 19"/>
          <p:cNvSpPr txBox="1"/>
          <p:nvPr/>
        </p:nvSpPr>
        <p:spPr>
          <a:xfrm>
            <a:off x="4114800" y="2862072"/>
            <a:ext cx="886968"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Knife 0.87</a:t>
            </a:r>
            <a:endParaRPr lang="en-US" sz="1100" dirty="0"/>
          </a:p>
        </p:txBody>
      </p:sp>
      <p:sp>
        <p:nvSpPr>
          <p:cNvPr id="22" name="Text 20"/>
          <p:cNvSpPr txBox="1"/>
          <p:nvPr/>
        </p:nvSpPr>
        <p:spPr>
          <a:xfrm>
            <a:off x="4206240" y="5440680"/>
            <a:ext cx="1920240" cy="228600"/>
          </a:xfrm>
          <a:prstGeom prst="rect">
            <a:avLst/>
          </a:prstGeom>
          <a:noFill/>
          <a:ln/>
        </p:spPr>
        <p:txBody>
          <a:bodyPr wrap="square" lIns="0" tIns="0" rIns="0" bIns="0" rtlCol="0" anchor="t"/>
          <a:lstStyle/>
          <a:p>
            <a:pPr algn="r" indent="0" marL="0">
              <a:buNone/>
            </a:pPr>
            <a:r>
              <a:rPr lang="en-US" sz="1000" dirty="0">
                <a:solidFill>
                  <a:srgbClr val="C9D6EA"/>
                </a:solidFill>
                <a:latin typeface="Calibri" pitchFamily="34" charset="0"/>
                <a:ea typeface="Calibri" pitchFamily="34" charset="-122"/>
                <a:cs typeface="Calibri" pitchFamily="34" charset="-120"/>
              </a:rPr>
              <a:t>Illustrative example</a:t>
            </a:r>
            <a:endParaRPr lang="en-US" sz="1000" dirty="0"/>
          </a:p>
        </p:txBody>
      </p:sp>
      <p:sp>
        <p:nvSpPr>
          <p:cNvPr id="23" name="Text 21"/>
          <p:cNvSpPr txBox="1"/>
          <p:nvPr/>
        </p:nvSpPr>
        <p:spPr>
          <a:xfrm>
            <a:off x="6675120" y="1554480"/>
            <a:ext cx="4937760" cy="256032"/>
          </a:xfrm>
          <a:prstGeom prst="rect">
            <a:avLst/>
          </a:prstGeom>
          <a:noFill/>
          <a:ln/>
        </p:spPr>
        <p:txBody>
          <a:bodyPr wrap="square" lIns="0" tIns="0" rIns="0" bIns="0" rtlCol="0" anchor="t"/>
          <a:lstStyle/>
          <a:p>
            <a:pPr indent="0" marL="0">
              <a:buNone/>
            </a:pPr>
            <a:r>
              <a:rPr lang="en-US" sz="1200" b="1" spc="200" kern="0" dirty="0">
                <a:solidFill>
                  <a:srgbClr val="5A6B82"/>
                </a:solidFill>
                <a:latin typeface="Calibri" pitchFamily="34" charset="0"/>
                <a:ea typeface="Calibri" pitchFamily="34" charset="-122"/>
                <a:cs typeface="Calibri" pitchFamily="34" charset="-120"/>
              </a:rPr>
              <a:t>MODEL</a:t>
            </a:r>
            <a:endParaRPr lang="en-US" sz="1200" dirty="0"/>
          </a:p>
        </p:txBody>
      </p:sp>
      <p:sp>
        <p:nvSpPr>
          <p:cNvPr id="24" name="Text 22"/>
          <p:cNvSpPr txBox="1"/>
          <p:nvPr/>
        </p:nvSpPr>
        <p:spPr>
          <a:xfrm>
            <a:off x="6675120" y="1847088"/>
            <a:ext cx="4937760" cy="685800"/>
          </a:xfrm>
          <a:prstGeom prst="rect">
            <a:avLst/>
          </a:prstGeom>
          <a:noFill/>
          <a:ln/>
        </p:spPr>
        <p:txBody>
          <a:bodyPr wrap="square" lIns="0" tIns="0" rIns="0" bIns="0" rtlCol="0" anchor="t"/>
          <a:lstStyle/>
          <a:p>
            <a:pPr indent="0" marL="0">
              <a:buNone/>
            </a:pPr>
            <a:r>
              <a:rPr lang="en-US" sz="1600" dirty="0">
                <a:solidFill>
                  <a:srgbClr val="1F2A3C"/>
                </a:solidFill>
                <a:latin typeface="Calibri" pitchFamily="34" charset="0"/>
                <a:ea typeface="Calibri" pitchFamily="34" charset="-122"/>
                <a:cs typeface="Calibri" pitchFamily="34" charset="-120"/>
              </a:rPr>
              <a:t>Ultralytics YOLOv8s (Small), fine-tuned on weapon data.</a:t>
            </a:r>
            <a:endParaRPr lang="en-US" sz="1600" dirty="0"/>
          </a:p>
        </p:txBody>
      </p:sp>
      <p:sp>
        <p:nvSpPr>
          <p:cNvPr id="25" name="Text 23"/>
          <p:cNvSpPr txBox="1"/>
          <p:nvPr/>
        </p:nvSpPr>
        <p:spPr>
          <a:xfrm>
            <a:off x="6675120" y="2633472"/>
            <a:ext cx="4937760" cy="256032"/>
          </a:xfrm>
          <a:prstGeom prst="rect">
            <a:avLst/>
          </a:prstGeom>
          <a:noFill/>
          <a:ln/>
        </p:spPr>
        <p:txBody>
          <a:bodyPr wrap="square" lIns="0" tIns="0" rIns="0" bIns="0" rtlCol="0" anchor="t"/>
          <a:lstStyle/>
          <a:p>
            <a:pPr indent="0" marL="0">
              <a:buNone/>
            </a:pPr>
            <a:r>
              <a:rPr lang="en-US" sz="1200" b="1" spc="200" kern="0" dirty="0">
                <a:solidFill>
                  <a:srgbClr val="5A6B82"/>
                </a:solidFill>
                <a:latin typeface="Calibri" pitchFamily="34" charset="0"/>
                <a:ea typeface="Calibri" pitchFamily="34" charset="-122"/>
                <a:cs typeface="Calibri" pitchFamily="34" charset="-120"/>
              </a:rPr>
              <a:t>WHY YOLOV8</a:t>
            </a:r>
            <a:endParaRPr lang="en-US" sz="1200" dirty="0"/>
          </a:p>
        </p:txBody>
      </p:sp>
      <p:sp>
        <p:nvSpPr>
          <p:cNvPr id="26" name="Text 24"/>
          <p:cNvSpPr txBox="1"/>
          <p:nvPr/>
        </p:nvSpPr>
        <p:spPr>
          <a:xfrm>
            <a:off x="6675120" y="2926080"/>
            <a:ext cx="4937760" cy="685800"/>
          </a:xfrm>
          <a:prstGeom prst="rect">
            <a:avLst/>
          </a:prstGeom>
          <a:noFill/>
          <a:ln/>
        </p:spPr>
        <p:txBody>
          <a:bodyPr wrap="square" lIns="0" tIns="0" rIns="0" bIns="0" rtlCol="0" anchor="t"/>
          <a:lstStyle/>
          <a:p>
            <a:pPr indent="0" marL="0">
              <a:buNone/>
            </a:pPr>
            <a:r>
              <a:rPr lang="en-US" sz="1600" dirty="0">
                <a:solidFill>
                  <a:srgbClr val="1F2A3C"/>
                </a:solidFill>
                <a:latin typeface="Calibri" pitchFamily="34" charset="0"/>
                <a:ea typeface="Calibri" pitchFamily="34" charset="-122"/>
                <a:cs typeface="Calibri" pitchFamily="34" charset="-120"/>
              </a:rPr>
              <a:t>Strong balance of mean average precision and inference speed.</a:t>
            </a:r>
            <a:endParaRPr lang="en-US" sz="1600" dirty="0"/>
          </a:p>
        </p:txBody>
      </p:sp>
      <p:sp>
        <p:nvSpPr>
          <p:cNvPr id="27" name="Text 25"/>
          <p:cNvSpPr txBox="1"/>
          <p:nvPr/>
        </p:nvSpPr>
        <p:spPr>
          <a:xfrm>
            <a:off x="6675120" y="3712464"/>
            <a:ext cx="4937760" cy="256032"/>
          </a:xfrm>
          <a:prstGeom prst="rect">
            <a:avLst/>
          </a:prstGeom>
          <a:noFill/>
          <a:ln/>
        </p:spPr>
        <p:txBody>
          <a:bodyPr wrap="square" lIns="0" tIns="0" rIns="0" bIns="0" rtlCol="0" anchor="t"/>
          <a:lstStyle/>
          <a:p>
            <a:pPr indent="0" marL="0">
              <a:buNone/>
            </a:pPr>
            <a:r>
              <a:rPr lang="en-US" sz="1200" b="1" spc="200" kern="0" dirty="0">
                <a:solidFill>
                  <a:srgbClr val="5A6B82"/>
                </a:solidFill>
                <a:latin typeface="Calibri" pitchFamily="34" charset="0"/>
                <a:ea typeface="Calibri" pitchFamily="34" charset="-122"/>
                <a:cs typeface="Calibri" pitchFamily="34" charset="-120"/>
              </a:rPr>
              <a:t>TARGET CLASSES</a:t>
            </a:r>
            <a:endParaRPr lang="en-US" sz="1200" dirty="0"/>
          </a:p>
        </p:txBody>
      </p:sp>
      <p:sp>
        <p:nvSpPr>
          <p:cNvPr id="28" name="Shape 26"/>
          <p:cNvSpPr/>
          <p:nvPr/>
        </p:nvSpPr>
        <p:spPr>
          <a:xfrm>
            <a:off x="6675120" y="4032504"/>
            <a:ext cx="1463040" cy="457200"/>
          </a:xfrm>
          <a:prstGeom prst="roundRect">
            <a:avLst>
              <a:gd name="adj" fmla="val 16000"/>
            </a:avLst>
          </a:prstGeom>
          <a:solidFill>
            <a:srgbClr val="0B1F3A"/>
          </a:solidFill>
          <a:ln w="9525">
            <a:solidFill>
              <a:srgbClr val="0B1F3A"/>
            </a:solidFill>
            <a:prstDash val="solid"/>
          </a:ln>
        </p:spPr>
      </p:sp>
      <p:sp>
        <p:nvSpPr>
          <p:cNvPr id="29" name="Text 27"/>
          <p:cNvSpPr txBox="1"/>
          <p:nvPr/>
        </p:nvSpPr>
        <p:spPr>
          <a:xfrm>
            <a:off x="6675120" y="4032504"/>
            <a:ext cx="14630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Gun</a:t>
            </a:r>
            <a:endParaRPr lang="en-US" sz="1600" dirty="0"/>
          </a:p>
        </p:txBody>
      </p:sp>
      <p:sp>
        <p:nvSpPr>
          <p:cNvPr id="30" name="Shape 28"/>
          <p:cNvSpPr/>
          <p:nvPr/>
        </p:nvSpPr>
        <p:spPr>
          <a:xfrm>
            <a:off x="8321040" y="4032504"/>
            <a:ext cx="1463040" cy="457200"/>
          </a:xfrm>
          <a:prstGeom prst="roundRect">
            <a:avLst>
              <a:gd name="adj" fmla="val 16000"/>
            </a:avLst>
          </a:prstGeom>
          <a:solidFill>
            <a:srgbClr val="0B1F3A"/>
          </a:solidFill>
          <a:ln w="9525">
            <a:solidFill>
              <a:srgbClr val="0B1F3A"/>
            </a:solidFill>
            <a:prstDash val="solid"/>
          </a:ln>
        </p:spPr>
      </p:sp>
      <p:sp>
        <p:nvSpPr>
          <p:cNvPr id="31" name="Text 29"/>
          <p:cNvSpPr txBox="1"/>
          <p:nvPr/>
        </p:nvSpPr>
        <p:spPr>
          <a:xfrm>
            <a:off x="8321040" y="4032504"/>
            <a:ext cx="14630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Knife</a:t>
            </a:r>
            <a:endParaRPr lang="en-US" sz="1600" dirty="0"/>
          </a:p>
        </p:txBody>
      </p:sp>
      <p:sp>
        <p:nvSpPr>
          <p:cNvPr id="32" name="Text 30"/>
          <p:cNvSpPr txBox="1"/>
          <p:nvPr/>
        </p:nvSpPr>
        <p:spPr>
          <a:xfrm>
            <a:off x="6675120" y="4791456"/>
            <a:ext cx="4937760" cy="256032"/>
          </a:xfrm>
          <a:prstGeom prst="rect">
            <a:avLst/>
          </a:prstGeom>
          <a:noFill/>
          <a:ln/>
        </p:spPr>
        <p:txBody>
          <a:bodyPr wrap="square" lIns="0" tIns="0" rIns="0" bIns="0" rtlCol="0" anchor="t"/>
          <a:lstStyle/>
          <a:p>
            <a:pPr indent="0" marL="0">
              <a:buNone/>
            </a:pPr>
            <a:r>
              <a:rPr lang="en-US" sz="1200" b="1" spc="200" kern="0" dirty="0">
                <a:solidFill>
                  <a:srgbClr val="5A6B82"/>
                </a:solidFill>
                <a:latin typeface="Calibri" pitchFamily="34" charset="0"/>
                <a:ea typeface="Calibri" pitchFamily="34" charset="-122"/>
                <a:cs typeface="Calibri" pitchFamily="34" charset="-120"/>
              </a:rPr>
              <a:t>CHALLENGES</a:t>
            </a:r>
            <a:endParaRPr lang="en-US" sz="1200" dirty="0"/>
          </a:p>
        </p:txBody>
      </p:sp>
      <p:sp>
        <p:nvSpPr>
          <p:cNvPr id="33" name="Text 31"/>
          <p:cNvSpPr txBox="1"/>
          <p:nvPr/>
        </p:nvSpPr>
        <p:spPr>
          <a:xfrm>
            <a:off x="6675120" y="5084064"/>
            <a:ext cx="4937760" cy="685800"/>
          </a:xfrm>
          <a:prstGeom prst="rect">
            <a:avLst/>
          </a:prstGeom>
          <a:noFill/>
          <a:ln/>
        </p:spPr>
        <p:txBody>
          <a:bodyPr wrap="square" lIns="0" tIns="0" rIns="0" bIns="0" rtlCol="0" anchor="t"/>
          <a:lstStyle/>
          <a:p>
            <a:pPr indent="0" marL="0">
              <a:buNone/>
            </a:pPr>
            <a:r>
              <a:rPr lang="en-US" sz="1600" dirty="0">
                <a:solidFill>
                  <a:srgbClr val="1F2A3C"/>
                </a:solidFill>
                <a:latin typeface="Calibri" pitchFamily="34" charset="0"/>
                <a:ea typeface="Calibri" pitchFamily="34" charset="-122"/>
                <a:cs typeface="Calibri" pitchFamily="34" charset="-120"/>
              </a:rPr>
              <a:t>Small objects in CCTV frames and partial occlusion.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B1F3A"/>
                </a:solidFill>
                <a:latin typeface="Cambria" pitchFamily="34" charset="0"/>
                <a:ea typeface="Cambria" pitchFamily="34" charset="-122"/>
                <a:cs typeface="Cambria" pitchFamily="34" charset="-120"/>
              </a:rPr>
              <a:t>Stream 2: Behavioral Crime Recognition</a:t>
            </a:r>
            <a:endParaRPr lang="en-US" sz="3400" dirty="0"/>
          </a:p>
        </p:txBody>
      </p:sp>
      <p:sp>
        <p:nvSpPr>
          <p:cNvPr id="3" name="Text 1"/>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A6B82"/>
                </a:solidFill>
                <a:latin typeface="Calibri" pitchFamily="34" charset="0"/>
                <a:ea typeface="Calibri" pitchFamily="34" charset="-122"/>
                <a:cs typeface="Calibri" pitchFamily="34" charset="-120"/>
              </a:rPr>
              <a:t>SENTINEL  |  FYP-I Defense  |  FAST-NUCES</a:t>
            </a:r>
            <a:endParaRPr lang="en-US" sz="1000" dirty="0"/>
          </a:p>
        </p:txBody>
      </p:sp>
      <p:sp>
        <p:nvSpPr>
          <p:cNvPr id="4" name="Text 2"/>
          <p:cNvSpPr txBox="1"/>
          <p:nvPr/>
        </p:nvSpPr>
        <p:spPr>
          <a:xfrm>
            <a:off x="10698480" y="6400800"/>
            <a:ext cx="914400" cy="22860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548640" y="1554480"/>
            <a:ext cx="2377440" cy="2468880"/>
          </a:xfrm>
          <a:prstGeom prst="roundRect">
            <a:avLst>
              <a:gd name="adj" fmla="val 4615"/>
            </a:avLst>
          </a:prstGeom>
          <a:solidFill>
            <a:srgbClr val="F3F6FA"/>
          </a:solidFill>
          <a:ln w="9525">
            <a:solidFill>
              <a:srgbClr val="F3F6FA"/>
            </a:solidFill>
            <a:prstDash val="solid"/>
          </a:ln>
        </p:spPr>
      </p:sp>
      <p:sp>
        <p:nvSpPr>
          <p:cNvPr id="6" name="Shape 4"/>
          <p:cNvSpPr/>
          <p:nvPr/>
        </p:nvSpPr>
        <p:spPr>
          <a:xfrm>
            <a:off x="1737360" y="1834286"/>
            <a:ext cx="0" cy="213970"/>
          </a:xfrm>
          <a:prstGeom prst="line">
            <a:avLst/>
          </a:prstGeom>
          <a:noFill/>
          <a:ln w="16764">
            <a:solidFill>
              <a:srgbClr val="0B1F3A"/>
            </a:solidFill>
            <a:prstDash val="solid"/>
          </a:ln>
        </p:spPr>
      </p:sp>
      <p:sp>
        <p:nvSpPr>
          <p:cNvPr id="7" name="Shape 5"/>
          <p:cNvSpPr/>
          <p:nvPr/>
        </p:nvSpPr>
        <p:spPr>
          <a:xfrm flipV="1">
            <a:off x="1572768" y="2048256"/>
            <a:ext cx="164592" cy="35662"/>
          </a:xfrm>
          <a:prstGeom prst="line">
            <a:avLst/>
          </a:prstGeom>
          <a:noFill/>
          <a:ln w="16764">
            <a:solidFill>
              <a:srgbClr val="0B1F3A"/>
            </a:solidFill>
            <a:prstDash val="solid"/>
          </a:ln>
        </p:spPr>
      </p:sp>
      <p:sp>
        <p:nvSpPr>
          <p:cNvPr id="8" name="Shape 6"/>
          <p:cNvSpPr/>
          <p:nvPr/>
        </p:nvSpPr>
        <p:spPr>
          <a:xfrm>
            <a:off x="1737360" y="2048256"/>
            <a:ext cx="164592" cy="35662"/>
          </a:xfrm>
          <a:prstGeom prst="line">
            <a:avLst/>
          </a:prstGeom>
          <a:noFill/>
          <a:ln w="16764">
            <a:solidFill>
              <a:srgbClr val="0B1F3A"/>
            </a:solidFill>
            <a:prstDash val="solid"/>
          </a:ln>
        </p:spPr>
      </p:sp>
      <p:sp>
        <p:nvSpPr>
          <p:cNvPr id="9" name="Shape 7"/>
          <p:cNvSpPr/>
          <p:nvPr/>
        </p:nvSpPr>
        <p:spPr>
          <a:xfrm flipV="1">
            <a:off x="1463040" y="2083918"/>
            <a:ext cx="109728" cy="320954"/>
          </a:xfrm>
          <a:prstGeom prst="line">
            <a:avLst/>
          </a:prstGeom>
          <a:noFill/>
          <a:ln w="16764">
            <a:solidFill>
              <a:srgbClr val="0B1F3A"/>
            </a:solidFill>
            <a:prstDash val="solid"/>
          </a:ln>
        </p:spPr>
      </p:sp>
      <p:sp>
        <p:nvSpPr>
          <p:cNvPr id="10" name="Shape 8"/>
          <p:cNvSpPr/>
          <p:nvPr/>
        </p:nvSpPr>
        <p:spPr>
          <a:xfrm>
            <a:off x="1463040" y="2404872"/>
            <a:ext cx="32918" cy="285293"/>
          </a:xfrm>
          <a:prstGeom prst="line">
            <a:avLst/>
          </a:prstGeom>
          <a:noFill/>
          <a:ln w="16764">
            <a:solidFill>
              <a:srgbClr val="0B1F3A"/>
            </a:solidFill>
            <a:prstDash val="solid"/>
          </a:ln>
        </p:spPr>
      </p:sp>
      <p:sp>
        <p:nvSpPr>
          <p:cNvPr id="11" name="Shape 9"/>
          <p:cNvSpPr/>
          <p:nvPr/>
        </p:nvSpPr>
        <p:spPr>
          <a:xfrm>
            <a:off x="1901952" y="2083918"/>
            <a:ext cx="208483" cy="178308"/>
          </a:xfrm>
          <a:prstGeom prst="line">
            <a:avLst/>
          </a:prstGeom>
          <a:noFill/>
          <a:ln w="16764">
            <a:solidFill>
              <a:srgbClr val="0B1F3A"/>
            </a:solidFill>
            <a:prstDash val="solid"/>
          </a:ln>
        </p:spPr>
      </p:sp>
      <p:sp>
        <p:nvSpPr>
          <p:cNvPr id="12" name="Shape 10"/>
          <p:cNvSpPr/>
          <p:nvPr/>
        </p:nvSpPr>
        <p:spPr>
          <a:xfrm flipV="1">
            <a:off x="2110435" y="2226564"/>
            <a:ext cx="153619" cy="35662"/>
          </a:xfrm>
          <a:prstGeom prst="line">
            <a:avLst/>
          </a:prstGeom>
          <a:noFill/>
          <a:ln w="16764">
            <a:solidFill>
              <a:srgbClr val="0B1F3A"/>
            </a:solidFill>
            <a:prstDash val="solid"/>
          </a:ln>
        </p:spPr>
      </p:sp>
      <p:sp>
        <p:nvSpPr>
          <p:cNvPr id="13" name="Shape 11"/>
          <p:cNvSpPr/>
          <p:nvPr/>
        </p:nvSpPr>
        <p:spPr>
          <a:xfrm>
            <a:off x="1572768" y="2083918"/>
            <a:ext cx="76810" cy="588416"/>
          </a:xfrm>
          <a:prstGeom prst="line">
            <a:avLst/>
          </a:prstGeom>
          <a:noFill/>
          <a:ln w="16764">
            <a:solidFill>
              <a:srgbClr val="0B1F3A"/>
            </a:solidFill>
            <a:prstDash val="solid"/>
          </a:ln>
        </p:spPr>
      </p:sp>
      <p:sp>
        <p:nvSpPr>
          <p:cNvPr id="14" name="Shape 12"/>
          <p:cNvSpPr/>
          <p:nvPr/>
        </p:nvSpPr>
        <p:spPr>
          <a:xfrm flipV="1">
            <a:off x="1825142" y="2083918"/>
            <a:ext cx="76810" cy="588416"/>
          </a:xfrm>
          <a:prstGeom prst="line">
            <a:avLst/>
          </a:prstGeom>
          <a:noFill/>
          <a:ln w="16764">
            <a:solidFill>
              <a:srgbClr val="0B1F3A"/>
            </a:solidFill>
            <a:prstDash val="solid"/>
          </a:ln>
        </p:spPr>
      </p:sp>
      <p:sp>
        <p:nvSpPr>
          <p:cNvPr id="15" name="Shape 13"/>
          <p:cNvSpPr/>
          <p:nvPr/>
        </p:nvSpPr>
        <p:spPr>
          <a:xfrm>
            <a:off x="1649578" y="2672334"/>
            <a:ext cx="175565" cy="0"/>
          </a:xfrm>
          <a:prstGeom prst="line">
            <a:avLst/>
          </a:prstGeom>
          <a:noFill/>
          <a:ln w="16764">
            <a:solidFill>
              <a:srgbClr val="0B1F3A"/>
            </a:solidFill>
            <a:prstDash val="solid"/>
          </a:ln>
        </p:spPr>
      </p:sp>
      <p:sp>
        <p:nvSpPr>
          <p:cNvPr id="16" name="Shape 14"/>
          <p:cNvSpPr/>
          <p:nvPr/>
        </p:nvSpPr>
        <p:spPr>
          <a:xfrm flipV="1">
            <a:off x="1605686" y="2672334"/>
            <a:ext cx="43891" cy="374447"/>
          </a:xfrm>
          <a:prstGeom prst="line">
            <a:avLst/>
          </a:prstGeom>
          <a:noFill/>
          <a:ln w="16764">
            <a:solidFill>
              <a:srgbClr val="0B1F3A"/>
            </a:solidFill>
            <a:prstDash val="solid"/>
          </a:ln>
        </p:spPr>
      </p:sp>
      <p:sp>
        <p:nvSpPr>
          <p:cNvPr id="17" name="Shape 15"/>
          <p:cNvSpPr/>
          <p:nvPr/>
        </p:nvSpPr>
        <p:spPr>
          <a:xfrm flipV="1">
            <a:off x="1583741" y="3046781"/>
            <a:ext cx="21946" cy="356616"/>
          </a:xfrm>
          <a:prstGeom prst="line">
            <a:avLst/>
          </a:prstGeom>
          <a:noFill/>
          <a:ln w="16764">
            <a:solidFill>
              <a:srgbClr val="0B1F3A"/>
            </a:solidFill>
            <a:prstDash val="solid"/>
          </a:ln>
        </p:spPr>
      </p:sp>
      <p:sp>
        <p:nvSpPr>
          <p:cNvPr id="18" name="Shape 16"/>
          <p:cNvSpPr/>
          <p:nvPr/>
        </p:nvSpPr>
        <p:spPr>
          <a:xfrm>
            <a:off x="1825142" y="2672334"/>
            <a:ext cx="43891" cy="374447"/>
          </a:xfrm>
          <a:prstGeom prst="line">
            <a:avLst/>
          </a:prstGeom>
          <a:noFill/>
          <a:ln w="16764">
            <a:solidFill>
              <a:srgbClr val="0B1F3A"/>
            </a:solidFill>
            <a:prstDash val="solid"/>
          </a:ln>
        </p:spPr>
      </p:sp>
      <p:sp>
        <p:nvSpPr>
          <p:cNvPr id="19" name="Shape 17"/>
          <p:cNvSpPr/>
          <p:nvPr/>
        </p:nvSpPr>
        <p:spPr>
          <a:xfrm>
            <a:off x="1869034" y="3046781"/>
            <a:ext cx="43891" cy="356616"/>
          </a:xfrm>
          <a:prstGeom prst="line">
            <a:avLst/>
          </a:prstGeom>
          <a:noFill/>
          <a:ln w="16764">
            <a:solidFill>
              <a:srgbClr val="0B1F3A"/>
            </a:solidFill>
            <a:prstDash val="solid"/>
          </a:ln>
        </p:spPr>
      </p:sp>
      <p:sp>
        <p:nvSpPr>
          <p:cNvPr id="20" name="Shape 18"/>
          <p:cNvSpPr/>
          <p:nvPr/>
        </p:nvSpPr>
        <p:spPr>
          <a:xfrm>
            <a:off x="1687982" y="1784909"/>
            <a:ext cx="98755" cy="98755"/>
          </a:xfrm>
          <a:prstGeom prst="ellipse">
            <a:avLst/>
          </a:prstGeom>
          <a:solidFill>
            <a:srgbClr val="C9A227"/>
          </a:solidFill>
          <a:ln w="6350">
            <a:solidFill>
              <a:srgbClr val="C9A227"/>
            </a:solidFill>
            <a:prstDash val="solid"/>
          </a:ln>
        </p:spPr>
      </p:sp>
      <p:sp>
        <p:nvSpPr>
          <p:cNvPr id="21" name="Shape 19"/>
          <p:cNvSpPr/>
          <p:nvPr/>
        </p:nvSpPr>
        <p:spPr>
          <a:xfrm>
            <a:off x="1687982" y="1998878"/>
            <a:ext cx="98755" cy="98755"/>
          </a:xfrm>
          <a:prstGeom prst="ellipse">
            <a:avLst/>
          </a:prstGeom>
          <a:solidFill>
            <a:srgbClr val="C9A227"/>
          </a:solidFill>
          <a:ln w="6350">
            <a:solidFill>
              <a:srgbClr val="C9A227"/>
            </a:solidFill>
            <a:prstDash val="solid"/>
          </a:ln>
        </p:spPr>
      </p:sp>
      <p:sp>
        <p:nvSpPr>
          <p:cNvPr id="22" name="Shape 20"/>
          <p:cNvSpPr/>
          <p:nvPr/>
        </p:nvSpPr>
        <p:spPr>
          <a:xfrm>
            <a:off x="1523390" y="2034540"/>
            <a:ext cx="98755" cy="98755"/>
          </a:xfrm>
          <a:prstGeom prst="ellipse">
            <a:avLst/>
          </a:prstGeom>
          <a:solidFill>
            <a:srgbClr val="C9A227"/>
          </a:solidFill>
          <a:ln w="6350">
            <a:solidFill>
              <a:srgbClr val="C9A227"/>
            </a:solidFill>
            <a:prstDash val="solid"/>
          </a:ln>
        </p:spPr>
      </p:sp>
      <p:sp>
        <p:nvSpPr>
          <p:cNvPr id="23" name="Shape 21"/>
          <p:cNvSpPr/>
          <p:nvPr/>
        </p:nvSpPr>
        <p:spPr>
          <a:xfrm>
            <a:off x="1852574" y="2034540"/>
            <a:ext cx="98755" cy="98755"/>
          </a:xfrm>
          <a:prstGeom prst="ellipse">
            <a:avLst/>
          </a:prstGeom>
          <a:solidFill>
            <a:srgbClr val="C9A227"/>
          </a:solidFill>
          <a:ln w="6350">
            <a:solidFill>
              <a:srgbClr val="C9A227"/>
            </a:solidFill>
            <a:prstDash val="solid"/>
          </a:ln>
        </p:spPr>
      </p:sp>
      <p:sp>
        <p:nvSpPr>
          <p:cNvPr id="24" name="Shape 22"/>
          <p:cNvSpPr/>
          <p:nvPr/>
        </p:nvSpPr>
        <p:spPr>
          <a:xfrm>
            <a:off x="1413662" y="2355494"/>
            <a:ext cx="98755" cy="98755"/>
          </a:xfrm>
          <a:prstGeom prst="ellipse">
            <a:avLst/>
          </a:prstGeom>
          <a:solidFill>
            <a:srgbClr val="C9A227"/>
          </a:solidFill>
          <a:ln w="6350">
            <a:solidFill>
              <a:srgbClr val="C9A227"/>
            </a:solidFill>
            <a:prstDash val="solid"/>
          </a:ln>
        </p:spPr>
      </p:sp>
      <p:sp>
        <p:nvSpPr>
          <p:cNvPr id="25" name="Shape 23"/>
          <p:cNvSpPr/>
          <p:nvPr/>
        </p:nvSpPr>
        <p:spPr>
          <a:xfrm>
            <a:off x="1446581" y="2640787"/>
            <a:ext cx="98755" cy="98755"/>
          </a:xfrm>
          <a:prstGeom prst="ellipse">
            <a:avLst/>
          </a:prstGeom>
          <a:solidFill>
            <a:srgbClr val="C9A227"/>
          </a:solidFill>
          <a:ln w="6350">
            <a:solidFill>
              <a:srgbClr val="C9A227"/>
            </a:solidFill>
            <a:prstDash val="solid"/>
          </a:ln>
        </p:spPr>
      </p:sp>
      <p:sp>
        <p:nvSpPr>
          <p:cNvPr id="26" name="Shape 24"/>
          <p:cNvSpPr/>
          <p:nvPr/>
        </p:nvSpPr>
        <p:spPr>
          <a:xfrm>
            <a:off x="2061058" y="2212848"/>
            <a:ext cx="98755" cy="98755"/>
          </a:xfrm>
          <a:prstGeom prst="ellipse">
            <a:avLst/>
          </a:prstGeom>
          <a:solidFill>
            <a:srgbClr val="C9A227"/>
          </a:solidFill>
          <a:ln w="6350">
            <a:solidFill>
              <a:srgbClr val="C9A227"/>
            </a:solidFill>
            <a:prstDash val="solid"/>
          </a:ln>
        </p:spPr>
      </p:sp>
      <p:sp>
        <p:nvSpPr>
          <p:cNvPr id="27" name="Shape 25"/>
          <p:cNvSpPr/>
          <p:nvPr/>
        </p:nvSpPr>
        <p:spPr>
          <a:xfrm>
            <a:off x="2214677" y="2177186"/>
            <a:ext cx="98755" cy="98755"/>
          </a:xfrm>
          <a:prstGeom prst="ellipse">
            <a:avLst/>
          </a:prstGeom>
          <a:solidFill>
            <a:srgbClr val="C9A227"/>
          </a:solidFill>
          <a:ln w="6350">
            <a:solidFill>
              <a:srgbClr val="C9A227"/>
            </a:solidFill>
            <a:prstDash val="solid"/>
          </a:ln>
        </p:spPr>
      </p:sp>
      <p:sp>
        <p:nvSpPr>
          <p:cNvPr id="28" name="Shape 26"/>
          <p:cNvSpPr/>
          <p:nvPr/>
        </p:nvSpPr>
        <p:spPr>
          <a:xfrm>
            <a:off x="1600200" y="2622956"/>
            <a:ext cx="98755" cy="98755"/>
          </a:xfrm>
          <a:prstGeom prst="ellipse">
            <a:avLst/>
          </a:prstGeom>
          <a:solidFill>
            <a:srgbClr val="C9A227"/>
          </a:solidFill>
          <a:ln w="6350">
            <a:solidFill>
              <a:srgbClr val="C9A227"/>
            </a:solidFill>
            <a:prstDash val="solid"/>
          </a:ln>
        </p:spPr>
      </p:sp>
      <p:sp>
        <p:nvSpPr>
          <p:cNvPr id="29" name="Shape 27"/>
          <p:cNvSpPr/>
          <p:nvPr/>
        </p:nvSpPr>
        <p:spPr>
          <a:xfrm>
            <a:off x="1775765" y="2622956"/>
            <a:ext cx="98755" cy="98755"/>
          </a:xfrm>
          <a:prstGeom prst="ellipse">
            <a:avLst/>
          </a:prstGeom>
          <a:solidFill>
            <a:srgbClr val="C9A227"/>
          </a:solidFill>
          <a:ln w="6350">
            <a:solidFill>
              <a:srgbClr val="C9A227"/>
            </a:solidFill>
            <a:prstDash val="solid"/>
          </a:ln>
        </p:spPr>
      </p:sp>
      <p:sp>
        <p:nvSpPr>
          <p:cNvPr id="30" name="Shape 28"/>
          <p:cNvSpPr/>
          <p:nvPr/>
        </p:nvSpPr>
        <p:spPr>
          <a:xfrm>
            <a:off x="1556309" y="2997403"/>
            <a:ext cx="98755" cy="98755"/>
          </a:xfrm>
          <a:prstGeom prst="ellipse">
            <a:avLst/>
          </a:prstGeom>
          <a:solidFill>
            <a:srgbClr val="C9A227"/>
          </a:solidFill>
          <a:ln w="6350">
            <a:solidFill>
              <a:srgbClr val="C9A227"/>
            </a:solidFill>
            <a:prstDash val="solid"/>
          </a:ln>
        </p:spPr>
      </p:sp>
      <p:sp>
        <p:nvSpPr>
          <p:cNvPr id="31" name="Shape 29"/>
          <p:cNvSpPr/>
          <p:nvPr/>
        </p:nvSpPr>
        <p:spPr>
          <a:xfrm>
            <a:off x="1819656" y="2997403"/>
            <a:ext cx="98755" cy="98755"/>
          </a:xfrm>
          <a:prstGeom prst="ellipse">
            <a:avLst/>
          </a:prstGeom>
          <a:solidFill>
            <a:srgbClr val="C9A227"/>
          </a:solidFill>
          <a:ln w="6350">
            <a:solidFill>
              <a:srgbClr val="C9A227"/>
            </a:solidFill>
            <a:prstDash val="solid"/>
          </a:ln>
        </p:spPr>
      </p:sp>
      <p:sp>
        <p:nvSpPr>
          <p:cNvPr id="32" name="Shape 30"/>
          <p:cNvSpPr/>
          <p:nvPr/>
        </p:nvSpPr>
        <p:spPr>
          <a:xfrm>
            <a:off x="1534363" y="3354019"/>
            <a:ext cx="98755" cy="98755"/>
          </a:xfrm>
          <a:prstGeom prst="ellipse">
            <a:avLst/>
          </a:prstGeom>
          <a:solidFill>
            <a:srgbClr val="C9A227"/>
          </a:solidFill>
          <a:ln w="6350">
            <a:solidFill>
              <a:srgbClr val="C9A227"/>
            </a:solidFill>
            <a:prstDash val="solid"/>
          </a:ln>
        </p:spPr>
      </p:sp>
      <p:sp>
        <p:nvSpPr>
          <p:cNvPr id="33" name="Shape 31"/>
          <p:cNvSpPr/>
          <p:nvPr/>
        </p:nvSpPr>
        <p:spPr>
          <a:xfrm>
            <a:off x="1863547" y="3354019"/>
            <a:ext cx="98755" cy="98755"/>
          </a:xfrm>
          <a:prstGeom prst="ellipse">
            <a:avLst/>
          </a:prstGeom>
          <a:solidFill>
            <a:srgbClr val="C9A227"/>
          </a:solidFill>
          <a:ln w="6350">
            <a:solidFill>
              <a:srgbClr val="C9A227"/>
            </a:solidFill>
            <a:prstDash val="solid"/>
          </a:ln>
        </p:spPr>
      </p:sp>
      <p:sp>
        <p:nvSpPr>
          <p:cNvPr id="34" name="Text 32"/>
          <p:cNvSpPr txBox="1"/>
          <p:nvPr/>
        </p:nvSpPr>
        <p:spPr>
          <a:xfrm>
            <a:off x="548640" y="3566160"/>
            <a:ext cx="2377440" cy="274320"/>
          </a:xfrm>
          <a:prstGeom prst="rect">
            <a:avLst/>
          </a:prstGeom>
          <a:noFill/>
          <a:ln/>
        </p:spPr>
        <p:txBody>
          <a:bodyPr wrap="square" lIns="0" tIns="0" rIns="0" bIns="0" rtlCol="0" anchor="t"/>
          <a:lstStyle/>
          <a:p>
            <a:pPr algn="ctr" indent="0" marL="0">
              <a:buNone/>
            </a:pPr>
            <a:r>
              <a:rPr lang="en-US" sz="1200" dirty="0">
                <a:solidFill>
                  <a:srgbClr val="5A6B82"/>
                </a:solidFill>
                <a:latin typeface="Calibri" pitchFamily="34" charset="0"/>
                <a:ea typeface="Calibri" pitchFamily="34" charset="-122"/>
                <a:cs typeface="Calibri" pitchFamily="34" charset="-120"/>
              </a:rPr>
              <a:t>17 keypoints per person</a:t>
            </a:r>
            <a:endParaRPr lang="en-US" sz="1200" dirty="0"/>
          </a:p>
        </p:txBody>
      </p:sp>
      <p:sp>
        <p:nvSpPr>
          <p:cNvPr id="35" name="Shape 33"/>
          <p:cNvSpPr/>
          <p:nvPr/>
        </p:nvSpPr>
        <p:spPr>
          <a:xfrm>
            <a:off x="2971800" y="2651760"/>
            <a:ext cx="256032" cy="274320"/>
          </a:xfrm>
          <a:prstGeom prst="rightArrow">
            <a:avLst/>
          </a:prstGeom>
          <a:solidFill>
            <a:srgbClr val="C9A227"/>
          </a:solidFill>
          <a:ln w="6350">
            <a:solidFill>
              <a:srgbClr val="C9A227"/>
            </a:solidFill>
            <a:prstDash val="solid"/>
          </a:ln>
        </p:spPr>
      </p:sp>
      <p:sp>
        <p:nvSpPr>
          <p:cNvPr id="36" name="Shape 34"/>
          <p:cNvSpPr/>
          <p:nvPr/>
        </p:nvSpPr>
        <p:spPr>
          <a:xfrm>
            <a:off x="3246120" y="1554480"/>
            <a:ext cx="3108960" cy="2468880"/>
          </a:xfrm>
          <a:prstGeom prst="roundRect">
            <a:avLst>
              <a:gd name="adj" fmla="val 4444"/>
            </a:avLst>
          </a:prstGeom>
          <a:solidFill>
            <a:srgbClr val="F3F6FA"/>
          </a:solidFill>
          <a:ln w="9525">
            <a:solidFill>
              <a:srgbClr val="F3F6FA"/>
            </a:solidFill>
            <a:prstDash val="solid"/>
          </a:ln>
        </p:spPr>
      </p:sp>
      <p:sp>
        <p:nvSpPr>
          <p:cNvPr id="37" name="Shape 35"/>
          <p:cNvSpPr/>
          <p:nvPr/>
        </p:nvSpPr>
        <p:spPr>
          <a:xfrm>
            <a:off x="3383280" y="1828800"/>
            <a:ext cx="621792" cy="1371600"/>
          </a:xfrm>
          <a:prstGeom prst="rect">
            <a:avLst/>
          </a:prstGeom>
          <a:solidFill>
            <a:srgbClr val="FFFFFF"/>
          </a:solidFill>
          <a:ln w="12700">
            <a:solidFill>
              <a:srgbClr val="D5DCE6"/>
            </a:solidFill>
            <a:prstDash val="solid"/>
          </a:ln>
        </p:spPr>
      </p:sp>
      <p:sp>
        <p:nvSpPr>
          <p:cNvPr id="38" name="Shape 36"/>
          <p:cNvSpPr/>
          <p:nvPr/>
        </p:nvSpPr>
        <p:spPr>
          <a:xfrm>
            <a:off x="3694176" y="2029968"/>
            <a:ext cx="0" cy="137160"/>
          </a:xfrm>
          <a:prstGeom prst="line">
            <a:avLst/>
          </a:prstGeom>
          <a:noFill/>
          <a:ln w="15875">
            <a:solidFill>
              <a:srgbClr val="0B1F3A"/>
            </a:solidFill>
            <a:prstDash val="solid"/>
          </a:ln>
        </p:spPr>
      </p:sp>
      <p:sp>
        <p:nvSpPr>
          <p:cNvPr id="39" name="Shape 37"/>
          <p:cNvSpPr/>
          <p:nvPr/>
        </p:nvSpPr>
        <p:spPr>
          <a:xfrm flipV="1">
            <a:off x="3628339" y="2167128"/>
            <a:ext cx="65837" cy="22860"/>
          </a:xfrm>
          <a:prstGeom prst="line">
            <a:avLst/>
          </a:prstGeom>
          <a:noFill/>
          <a:ln w="15875">
            <a:solidFill>
              <a:srgbClr val="0B1F3A"/>
            </a:solidFill>
            <a:prstDash val="solid"/>
          </a:ln>
        </p:spPr>
      </p:sp>
      <p:sp>
        <p:nvSpPr>
          <p:cNvPr id="40" name="Shape 38"/>
          <p:cNvSpPr/>
          <p:nvPr/>
        </p:nvSpPr>
        <p:spPr>
          <a:xfrm>
            <a:off x="3694176" y="2167128"/>
            <a:ext cx="65837" cy="22860"/>
          </a:xfrm>
          <a:prstGeom prst="line">
            <a:avLst/>
          </a:prstGeom>
          <a:noFill/>
          <a:ln w="15875">
            <a:solidFill>
              <a:srgbClr val="0B1F3A"/>
            </a:solidFill>
            <a:prstDash val="solid"/>
          </a:ln>
        </p:spPr>
      </p:sp>
      <p:sp>
        <p:nvSpPr>
          <p:cNvPr id="41" name="Shape 39"/>
          <p:cNvSpPr/>
          <p:nvPr/>
        </p:nvSpPr>
        <p:spPr>
          <a:xfrm flipV="1">
            <a:off x="3584448" y="2189988"/>
            <a:ext cx="43891" cy="205740"/>
          </a:xfrm>
          <a:prstGeom prst="line">
            <a:avLst/>
          </a:prstGeom>
          <a:noFill/>
          <a:ln w="15875">
            <a:solidFill>
              <a:srgbClr val="0B1F3A"/>
            </a:solidFill>
            <a:prstDash val="solid"/>
          </a:ln>
        </p:spPr>
      </p:sp>
      <p:sp>
        <p:nvSpPr>
          <p:cNvPr id="42" name="Shape 40"/>
          <p:cNvSpPr/>
          <p:nvPr/>
        </p:nvSpPr>
        <p:spPr>
          <a:xfrm>
            <a:off x="3584448" y="2395728"/>
            <a:ext cx="13167" cy="182880"/>
          </a:xfrm>
          <a:prstGeom prst="line">
            <a:avLst/>
          </a:prstGeom>
          <a:noFill/>
          <a:ln w="15875">
            <a:solidFill>
              <a:srgbClr val="0B1F3A"/>
            </a:solidFill>
            <a:prstDash val="solid"/>
          </a:ln>
        </p:spPr>
      </p:sp>
      <p:sp>
        <p:nvSpPr>
          <p:cNvPr id="43" name="Shape 41"/>
          <p:cNvSpPr/>
          <p:nvPr/>
        </p:nvSpPr>
        <p:spPr>
          <a:xfrm>
            <a:off x="3760013" y="2189988"/>
            <a:ext cx="30724" cy="205740"/>
          </a:xfrm>
          <a:prstGeom prst="line">
            <a:avLst/>
          </a:prstGeom>
          <a:noFill/>
          <a:ln w="15875">
            <a:solidFill>
              <a:srgbClr val="0B1F3A"/>
            </a:solidFill>
            <a:prstDash val="solid"/>
          </a:ln>
        </p:spPr>
      </p:sp>
      <p:sp>
        <p:nvSpPr>
          <p:cNvPr id="44" name="Shape 42"/>
          <p:cNvSpPr/>
          <p:nvPr/>
        </p:nvSpPr>
        <p:spPr>
          <a:xfrm>
            <a:off x="3790737" y="2395728"/>
            <a:ext cx="35113" cy="205740"/>
          </a:xfrm>
          <a:prstGeom prst="line">
            <a:avLst/>
          </a:prstGeom>
          <a:noFill/>
          <a:ln w="15875">
            <a:solidFill>
              <a:srgbClr val="0B1F3A"/>
            </a:solidFill>
            <a:prstDash val="solid"/>
          </a:ln>
        </p:spPr>
      </p:sp>
      <p:sp>
        <p:nvSpPr>
          <p:cNvPr id="45" name="Shape 43"/>
          <p:cNvSpPr/>
          <p:nvPr/>
        </p:nvSpPr>
        <p:spPr>
          <a:xfrm>
            <a:off x="3628339" y="2189988"/>
            <a:ext cx="30724" cy="377190"/>
          </a:xfrm>
          <a:prstGeom prst="line">
            <a:avLst/>
          </a:prstGeom>
          <a:noFill/>
          <a:ln w="15875">
            <a:solidFill>
              <a:srgbClr val="0B1F3A"/>
            </a:solidFill>
            <a:prstDash val="solid"/>
          </a:ln>
        </p:spPr>
      </p:sp>
      <p:sp>
        <p:nvSpPr>
          <p:cNvPr id="46" name="Shape 44"/>
          <p:cNvSpPr/>
          <p:nvPr/>
        </p:nvSpPr>
        <p:spPr>
          <a:xfrm flipV="1">
            <a:off x="3729289" y="2189988"/>
            <a:ext cx="30724" cy="377190"/>
          </a:xfrm>
          <a:prstGeom prst="line">
            <a:avLst/>
          </a:prstGeom>
          <a:noFill/>
          <a:ln w="15875">
            <a:solidFill>
              <a:srgbClr val="0B1F3A"/>
            </a:solidFill>
            <a:prstDash val="solid"/>
          </a:ln>
        </p:spPr>
      </p:sp>
      <p:sp>
        <p:nvSpPr>
          <p:cNvPr id="47" name="Shape 45"/>
          <p:cNvSpPr/>
          <p:nvPr/>
        </p:nvSpPr>
        <p:spPr>
          <a:xfrm>
            <a:off x="3659063" y="2567178"/>
            <a:ext cx="70226" cy="0"/>
          </a:xfrm>
          <a:prstGeom prst="line">
            <a:avLst/>
          </a:prstGeom>
          <a:noFill/>
          <a:ln w="15875">
            <a:solidFill>
              <a:srgbClr val="0B1F3A"/>
            </a:solidFill>
            <a:prstDash val="solid"/>
          </a:ln>
        </p:spPr>
      </p:sp>
      <p:sp>
        <p:nvSpPr>
          <p:cNvPr id="48" name="Shape 46"/>
          <p:cNvSpPr/>
          <p:nvPr/>
        </p:nvSpPr>
        <p:spPr>
          <a:xfrm flipV="1">
            <a:off x="3641507" y="2567178"/>
            <a:ext cx="17556" cy="240030"/>
          </a:xfrm>
          <a:prstGeom prst="line">
            <a:avLst/>
          </a:prstGeom>
          <a:noFill/>
          <a:ln w="15875">
            <a:solidFill>
              <a:srgbClr val="0B1F3A"/>
            </a:solidFill>
            <a:prstDash val="solid"/>
          </a:ln>
        </p:spPr>
      </p:sp>
      <p:sp>
        <p:nvSpPr>
          <p:cNvPr id="49" name="Shape 47"/>
          <p:cNvSpPr/>
          <p:nvPr/>
        </p:nvSpPr>
        <p:spPr>
          <a:xfrm flipV="1">
            <a:off x="3632728" y="2807208"/>
            <a:ext cx="8778" cy="228600"/>
          </a:xfrm>
          <a:prstGeom prst="line">
            <a:avLst/>
          </a:prstGeom>
          <a:noFill/>
          <a:ln w="15875">
            <a:solidFill>
              <a:srgbClr val="0B1F3A"/>
            </a:solidFill>
            <a:prstDash val="solid"/>
          </a:ln>
        </p:spPr>
      </p:sp>
      <p:sp>
        <p:nvSpPr>
          <p:cNvPr id="50" name="Shape 48"/>
          <p:cNvSpPr/>
          <p:nvPr/>
        </p:nvSpPr>
        <p:spPr>
          <a:xfrm>
            <a:off x="3729289" y="2567178"/>
            <a:ext cx="17556" cy="240030"/>
          </a:xfrm>
          <a:prstGeom prst="line">
            <a:avLst/>
          </a:prstGeom>
          <a:noFill/>
          <a:ln w="15875">
            <a:solidFill>
              <a:srgbClr val="0B1F3A"/>
            </a:solidFill>
            <a:prstDash val="solid"/>
          </a:ln>
        </p:spPr>
      </p:sp>
      <p:sp>
        <p:nvSpPr>
          <p:cNvPr id="51" name="Shape 49"/>
          <p:cNvSpPr/>
          <p:nvPr/>
        </p:nvSpPr>
        <p:spPr>
          <a:xfrm>
            <a:off x="3746845" y="2807208"/>
            <a:ext cx="17556" cy="228600"/>
          </a:xfrm>
          <a:prstGeom prst="line">
            <a:avLst/>
          </a:prstGeom>
          <a:noFill/>
          <a:ln w="15875">
            <a:solidFill>
              <a:srgbClr val="0B1F3A"/>
            </a:solidFill>
            <a:prstDash val="solid"/>
          </a:ln>
        </p:spPr>
      </p:sp>
      <p:sp>
        <p:nvSpPr>
          <p:cNvPr id="52" name="Shape 50"/>
          <p:cNvSpPr/>
          <p:nvPr/>
        </p:nvSpPr>
        <p:spPr>
          <a:xfrm>
            <a:off x="3662172" y="1997964"/>
            <a:ext cx="64008" cy="64008"/>
          </a:xfrm>
          <a:prstGeom prst="ellipse">
            <a:avLst/>
          </a:prstGeom>
          <a:solidFill>
            <a:srgbClr val="C9A227"/>
          </a:solidFill>
          <a:ln w="6350">
            <a:solidFill>
              <a:srgbClr val="C9A227"/>
            </a:solidFill>
            <a:prstDash val="solid"/>
          </a:ln>
        </p:spPr>
      </p:sp>
      <p:sp>
        <p:nvSpPr>
          <p:cNvPr id="53" name="Shape 51"/>
          <p:cNvSpPr/>
          <p:nvPr/>
        </p:nvSpPr>
        <p:spPr>
          <a:xfrm>
            <a:off x="3662172" y="2135124"/>
            <a:ext cx="64008" cy="64008"/>
          </a:xfrm>
          <a:prstGeom prst="ellipse">
            <a:avLst/>
          </a:prstGeom>
          <a:solidFill>
            <a:srgbClr val="C9A227"/>
          </a:solidFill>
          <a:ln w="6350">
            <a:solidFill>
              <a:srgbClr val="C9A227"/>
            </a:solidFill>
            <a:prstDash val="solid"/>
          </a:ln>
        </p:spPr>
      </p:sp>
      <p:sp>
        <p:nvSpPr>
          <p:cNvPr id="54" name="Shape 52"/>
          <p:cNvSpPr/>
          <p:nvPr/>
        </p:nvSpPr>
        <p:spPr>
          <a:xfrm>
            <a:off x="3596335" y="2157984"/>
            <a:ext cx="64008" cy="64008"/>
          </a:xfrm>
          <a:prstGeom prst="ellipse">
            <a:avLst/>
          </a:prstGeom>
          <a:solidFill>
            <a:srgbClr val="C9A227"/>
          </a:solidFill>
          <a:ln w="6350">
            <a:solidFill>
              <a:srgbClr val="C9A227"/>
            </a:solidFill>
            <a:prstDash val="solid"/>
          </a:ln>
        </p:spPr>
      </p:sp>
      <p:sp>
        <p:nvSpPr>
          <p:cNvPr id="55" name="Shape 53"/>
          <p:cNvSpPr/>
          <p:nvPr/>
        </p:nvSpPr>
        <p:spPr>
          <a:xfrm>
            <a:off x="3728009" y="2157984"/>
            <a:ext cx="64008" cy="64008"/>
          </a:xfrm>
          <a:prstGeom prst="ellipse">
            <a:avLst/>
          </a:prstGeom>
          <a:solidFill>
            <a:srgbClr val="C9A227"/>
          </a:solidFill>
          <a:ln w="6350">
            <a:solidFill>
              <a:srgbClr val="C9A227"/>
            </a:solidFill>
            <a:prstDash val="solid"/>
          </a:ln>
        </p:spPr>
      </p:sp>
      <p:sp>
        <p:nvSpPr>
          <p:cNvPr id="56" name="Shape 54"/>
          <p:cNvSpPr/>
          <p:nvPr/>
        </p:nvSpPr>
        <p:spPr>
          <a:xfrm>
            <a:off x="3552444" y="2363724"/>
            <a:ext cx="64008" cy="64008"/>
          </a:xfrm>
          <a:prstGeom prst="ellipse">
            <a:avLst/>
          </a:prstGeom>
          <a:solidFill>
            <a:srgbClr val="C9A227"/>
          </a:solidFill>
          <a:ln w="6350">
            <a:solidFill>
              <a:srgbClr val="C9A227"/>
            </a:solidFill>
            <a:prstDash val="solid"/>
          </a:ln>
        </p:spPr>
      </p:sp>
      <p:sp>
        <p:nvSpPr>
          <p:cNvPr id="57" name="Shape 55"/>
          <p:cNvSpPr/>
          <p:nvPr/>
        </p:nvSpPr>
        <p:spPr>
          <a:xfrm>
            <a:off x="3565611" y="2546604"/>
            <a:ext cx="64008" cy="64008"/>
          </a:xfrm>
          <a:prstGeom prst="ellipse">
            <a:avLst/>
          </a:prstGeom>
          <a:solidFill>
            <a:srgbClr val="C9A227"/>
          </a:solidFill>
          <a:ln w="6350">
            <a:solidFill>
              <a:srgbClr val="C9A227"/>
            </a:solidFill>
            <a:prstDash val="solid"/>
          </a:ln>
        </p:spPr>
      </p:sp>
      <p:sp>
        <p:nvSpPr>
          <p:cNvPr id="58" name="Shape 56"/>
          <p:cNvSpPr/>
          <p:nvPr/>
        </p:nvSpPr>
        <p:spPr>
          <a:xfrm>
            <a:off x="3758733" y="2363724"/>
            <a:ext cx="64008" cy="64008"/>
          </a:xfrm>
          <a:prstGeom prst="ellipse">
            <a:avLst/>
          </a:prstGeom>
          <a:solidFill>
            <a:srgbClr val="C9A227"/>
          </a:solidFill>
          <a:ln w="6350">
            <a:solidFill>
              <a:srgbClr val="C9A227"/>
            </a:solidFill>
            <a:prstDash val="solid"/>
          </a:ln>
        </p:spPr>
      </p:sp>
      <p:sp>
        <p:nvSpPr>
          <p:cNvPr id="59" name="Shape 57"/>
          <p:cNvSpPr/>
          <p:nvPr/>
        </p:nvSpPr>
        <p:spPr>
          <a:xfrm>
            <a:off x="3793846" y="2569464"/>
            <a:ext cx="64008" cy="64008"/>
          </a:xfrm>
          <a:prstGeom prst="ellipse">
            <a:avLst/>
          </a:prstGeom>
          <a:solidFill>
            <a:srgbClr val="C9A227"/>
          </a:solidFill>
          <a:ln w="6350">
            <a:solidFill>
              <a:srgbClr val="C9A227"/>
            </a:solidFill>
            <a:prstDash val="solid"/>
          </a:ln>
        </p:spPr>
      </p:sp>
      <p:sp>
        <p:nvSpPr>
          <p:cNvPr id="60" name="Shape 58"/>
          <p:cNvSpPr/>
          <p:nvPr/>
        </p:nvSpPr>
        <p:spPr>
          <a:xfrm>
            <a:off x="3627059" y="2535174"/>
            <a:ext cx="64008" cy="64008"/>
          </a:xfrm>
          <a:prstGeom prst="ellipse">
            <a:avLst/>
          </a:prstGeom>
          <a:solidFill>
            <a:srgbClr val="C9A227"/>
          </a:solidFill>
          <a:ln w="6350">
            <a:solidFill>
              <a:srgbClr val="C9A227"/>
            </a:solidFill>
            <a:prstDash val="solid"/>
          </a:ln>
        </p:spPr>
      </p:sp>
      <p:sp>
        <p:nvSpPr>
          <p:cNvPr id="61" name="Shape 59"/>
          <p:cNvSpPr/>
          <p:nvPr/>
        </p:nvSpPr>
        <p:spPr>
          <a:xfrm>
            <a:off x="3697285" y="2535174"/>
            <a:ext cx="64008" cy="64008"/>
          </a:xfrm>
          <a:prstGeom prst="ellipse">
            <a:avLst/>
          </a:prstGeom>
          <a:solidFill>
            <a:srgbClr val="C9A227"/>
          </a:solidFill>
          <a:ln w="6350">
            <a:solidFill>
              <a:srgbClr val="C9A227"/>
            </a:solidFill>
            <a:prstDash val="solid"/>
          </a:ln>
        </p:spPr>
      </p:sp>
      <p:sp>
        <p:nvSpPr>
          <p:cNvPr id="62" name="Shape 60"/>
          <p:cNvSpPr/>
          <p:nvPr/>
        </p:nvSpPr>
        <p:spPr>
          <a:xfrm>
            <a:off x="3609503" y="2775204"/>
            <a:ext cx="64008" cy="64008"/>
          </a:xfrm>
          <a:prstGeom prst="ellipse">
            <a:avLst/>
          </a:prstGeom>
          <a:solidFill>
            <a:srgbClr val="C9A227"/>
          </a:solidFill>
          <a:ln w="6350">
            <a:solidFill>
              <a:srgbClr val="C9A227"/>
            </a:solidFill>
            <a:prstDash val="solid"/>
          </a:ln>
        </p:spPr>
      </p:sp>
      <p:sp>
        <p:nvSpPr>
          <p:cNvPr id="63" name="Shape 61"/>
          <p:cNvSpPr/>
          <p:nvPr/>
        </p:nvSpPr>
        <p:spPr>
          <a:xfrm>
            <a:off x="3714841" y="2775204"/>
            <a:ext cx="64008" cy="64008"/>
          </a:xfrm>
          <a:prstGeom prst="ellipse">
            <a:avLst/>
          </a:prstGeom>
          <a:solidFill>
            <a:srgbClr val="C9A227"/>
          </a:solidFill>
          <a:ln w="6350">
            <a:solidFill>
              <a:srgbClr val="C9A227"/>
            </a:solidFill>
            <a:prstDash val="solid"/>
          </a:ln>
        </p:spPr>
      </p:sp>
      <p:sp>
        <p:nvSpPr>
          <p:cNvPr id="64" name="Shape 62"/>
          <p:cNvSpPr/>
          <p:nvPr/>
        </p:nvSpPr>
        <p:spPr>
          <a:xfrm>
            <a:off x="3600724" y="3003804"/>
            <a:ext cx="64008" cy="64008"/>
          </a:xfrm>
          <a:prstGeom prst="ellipse">
            <a:avLst/>
          </a:prstGeom>
          <a:solidFill>
            <a:srgbClr val="C9A227"/>
          </a:solidFill>
          <a:ln w="6350">
            <a:solidFill>
              <a:srgbClr val="C9A227"/>
            </a:solidFill>
            <a:prstDash val="solid"/>
          </a:ln>
        </p:spPr>
      </p:sp>
      <p:sp>
        <p:nvSpPr>
          <p:cNvPr id="65" name="Shape 63"/>
          <p:cNvSpPr/>
          <p:nvPr/>
        </p:nvSpPr>
        <p:spPr>
          <a:xfrm>
            <a:off x="3732398" y="3003804"/>
            <a:ext cx="64008" cy="64008"/>
          </a:xfrm>
          <a:prstGeom prst="ellipse">
            <a:avLst/>
          </a:prstGeom>
          <a:solidFill>
            <a:srgbClr val="C9A227"/>
          </a:solidFill>
          <a:ln w="6350">
            <a:solidFill>
              <a:srgbClr val="C9A227"/>
            </a:solidFill>
            <a:prstDash val="solid"/>
          </a:ln>
        </p:spPr>
      </p:sp>
      <p:sp>
        <p:nvSpPr>
          <p:cNvPr id="66" name="Shape 64"/>
          <p:cNvSpPr/>
          <p:nvPr/>
        </p:nvSpPr>
        <p:spPr>
          <a:xfrm>
            <a:off x="4096512" y="1828800"/>
            <a:ext cx="621792" cy="1371600"/>
          </a:xfrm>
          <a:prstGeom prst="rect">
            <a:avLst/>
          </a:prstGeom>
          <a:solidFill>
            <a:srgbClr val="FFFFFF"/>
          </a:solidFill>
          <a:ln w="12700">
            <a:solidFill>
              <a:srgbClr val="D5DCE6"/>
            </a:solidFill>
            <a:prstDash val="solid"/>
          </a:ln>
        </p:spPr>
      </p:sp>
      <p:sp>
        <p:nvSpPr>
          <p:cNvPr id="67" name="Shape 65"/>
          <p:cNvSpPr/>
          <p:nvPr/>
        </p:nvSpPr>
        <p:spPr>
          <a:xfrm>
            <a:off x="4407408" y="2029968"/>
            <a:ext cx="0" cy="137160"/>
          </a:xfrm>
          <a:prstGeom prst="line">
            <a:avLst/>
          </a:prstGeom>
          <a:noFill/>
          <a:ln w="15875">
            <a:solidFill>
              <a:srgbClr val="0B1F3A"/>
            </a:solidFill>
            <a:prstDash val="solid"/>
          </a:ln>
        </p:spPr>
      </p:sp>
      <p:sp>
        <p:nvSpPr>
          <p:cNvPr id="68" name="Shape 66"/>
          <p:cNvSpPr/>
          <p:nvPr/>
        </p:nvSpPr>
        <p:spPr>
          <a:xfrm flipV="1">
            <a:off x="4341571" y="2167128"/>
            <a:ext cx="65837" cy="22860"/>
          </a:xfrm>
          <a:prstGeom prst="line">
            <a:avLst/>
          </a:prstGeom>
          <a:noFill/>
          <a:ln w="15875">
            <a:solidFill>
              <a:srgbClr val="0B1F3A"/>
            </a:solidFill>
            <a:prstDash val="solid"/>
          </a:ln>
        </p:spPr>
      </p:sp>
      <p:sp>
        <p:nvSpPr>
          <p:cNvPr id="69" name="Shape 67"/>
          <p:cNvSpPr/>
          <p:nvPr/>
        </p:nvSpPr>
        <p:spPr>
          <a:xfrm>
            <a:off x="4407408" y="2167128"/>
            <a:ext cx="65837" cy="22860"/>
          </a:xfrm>
          <a:prstGeom prst="line">
            <a:avLst/>
          </a:prstGeom>
          <a:noFill/>
          <a:ln w="15875">
            <a:solidFill>
              <a:srgbClr val="0B1F3A"/>
            </a:solidFill>
            <a:prstDash val="solid"/>
          </a:ln>
        </p:spPr>
      </p:sp>
      <p:sp>
        <p:nvSpPr>
          <p:cNvPr id="70" name="Shape 68"/>
          <p:cNvSpPr/>
          <p:nvPr/>
        </p:nvSpPr>
        <p:spPr>
          <a:xfrm flipV="1">
            <a:off x="4297680" y="2189988"/>
            <a:ext cx="43891" cy="205740"/>
          </a:xfrm>
          <a:prstGeom prst="line">
            <a:avLst/>
          </a:prstGeom>
          <a:noFill/>
          <a:ln w="15875">
            <a:solidFill>
              <a:srgbClr val="0B1F3A"/>
            </a:solidFill>
            <a:prstDash val="solid"/>
          </a:ln>
        </p:spPr>
      </p:sp>
      <p:sp>
        <p:nvSpPr>
          <p:cNvPr id="71" name="Shape 69"/>
          <p:cNvSpPr/>
          <p:nvPr/>
        </p:nvSpPr>
        <p:spPr>
          <a:xfrm>
            <a:off x="4297680" y="2395728"/>
            <a:ext cx="13167" cy="182880"/>
          </a:xfrm>
          <a:prstGeom prst="line">
            <a:avLst/>
          </a:prstGeom>
          <a:noFill/>
          <a:ln w="15875">
            <a:solidFill>
              <a:srgbClr val="0B1F3A"/>
            </a:solidFill>
            <a:prstDash val="solid"/>
          </a:ln>
        </p:spPr>
      </p:sp>
      <p:sp>
        <p:nvSpPr>
          <p:cNvPr id="72" name="Shape 70"/>
          <p:cNvSpPr/>
          <p:nvPr/>
        </p:nvSpPr>
        <p:spPr>
          <a:xfrm>
            <a:off x="4473245" y="2189988"/>
            <a:ext cx="57059" cy="160020"/>
          </a:xfrm>
          <a:prstGeom prst="line">
            <a:avLst/>
          </a:prstGeom>
          <a:noFill/>
          <a:ln w="15875">
            <a:solidFill>
              <a:srgbClr val="0B1F3A"/>
            </a:solidFill>
            <a:prstDash val="solid"/>
          </a:ln>
        </p:spPr>
      </p:sp>
      <p:sp>
        <p:nvSpPr>
          <p:cNvPr id="73" name="Shape 71"/>
          <p:cNvSpPr/>
          <p:nvPr/>
        </p:nvSpPr>
        <p:spPr>
          <a:xfrm>
            <a:off x="4530303" y="2350008"/>
            <a:ext cx="43891" cy="91440"/>
          </a:xfrm>
          <a:prstGeom prst="line">
            <a:avLst/>
          </a:prstGeom>
          <a:noFill/>
          <a:ln w="15875">
            <a:solidFill>
              <a:srgbClr val="0B1F3A"/>
            </a:solidFill>
            <a:prstDash val="solid"/>
          </a:ln>
        </p:spPr>
      </p:sp>
      <p:sp>
        <p:nvSpPr>
          <p:cNvPr id="74" name="Shape 72"/>
          <p:cNvSpPr/>
          <p:nvPr/>
        </p:nvSpPr>
        <p:spPr>
          <a:xfrm>
            <a:off x="4341571" y="2189988"/>
            <a:ext cx="30724" cy="377190"/>
          </a:xfrm>
          <a:prstGeom prst="line">
            <a:avLst/>
          </a:prstGeom>
          <a:noFill/>
          <a:ln w="15875">
            <a:solidFill>
              <a:srgbClr val="0B1F3A"/>
            </a:solidFill>
            <a:prstDash val="solid"/>
          </a:ln>
        </p:spPr>
      </p:sp>
      <p:sp>
        <p:nvSpPr>
          <p:cNvPr id="75" name="Shape 73"/>
          <p:cNvSpPr/>
          <p:nvPr/>
        </p:nvSpPr>
        <p:spPr>
          <a:xfrm flipV="1">
            <a:off x="4442521" y="2189988"/>
            <a:ext cx="30724" cy="377190"/>
          </a:xfrm>
          <a:prstGeom prst="line">
            <a:avLst/>
          </a:prstGeom>
          <a:noFill/>
          <a:ln w="15875">
            <a:solidFill>
              <a:srgbClr val="0B1F3A"/>
            </a:solidFill>
            <a:prstDash val="solid"/>
          </a:ln>
        </p:spPr>
      </p:sp>
      <p:sp>
        <p:nvSpPr>
          <p:cNvPr id="76" name="Shape 74"/>
          <p:cNvSpPr/>
          <p:nvPr/>
        </p:nvSpPr>
        <p:spPr>
          <a:xfrm>
            <a:off x="4372295" y="2567178"/>
            <a:ext cx="70226" cy="0"/>
          </a:xfrm>
          <a:prstGeom prst="line">
            <a:avLst/>
          </a:prstGeom>
          <a:noFill/>
          <a:ln w="15875">
            <a:solidFill>
              <a:srgbClr val="0B1F3A"/>
            </a:solidFill>
            <a:prstDash val="solid"/>
          </a:ln>
        </p:spPr>
      </p:sp>
      <p:sp>
        <p:nvSpPr>
          <p:cNvPr id="77" name="Shape 75"/>
          <p:cNvSpPr/>
          <p:nvPr/>
        </p:nvSpPr>
        <p:spPr>
          <a:xfrm flipV="1">
            <a:off x="4354739" y="2567178"/>
            <a:ext cx="17556" cy="240030"/>
          </a:xfrm>
          <a:prstGeom prst="line">
            <a:avLst/>
          </a:prstGeom>
          <a:noFill/>
          <a:ln w="15875">
            <a:solidFill>
              <a:srgbClr val="0B1F3A"/>
            </a:solidFill>
            <a:prstDash val="solid"/>
          </a:ln>
        </p:spPr>
      </p:sp>
      <p:sp>
        <p:nvSpPr>
          <p:cNvPr id="78" name="Shape 76"/>
          <p:cNvSpPr/>
          <p:nvPr/>
        </p:nvSpPr>
        <p:spPr>
          <a:xfrm flipV="1">
            <a:off x="4345960" y="2807208"/>
            <a:ext cx="8778" cy="228600"/>
          </a:xfrm>
          <a:prstGeom prst="line">
            <a:avLst/>
          </a:prstGeom>
          <a:noFill/>
          <a:ln w="15875">
            <a:solidFill>
              <a:srgbClr val="0B1F3A"/>
            </a:solidFill>
            <a:prstDash val="solid"/>
          </a:ln>
        </p:spPr>
      </p:sp>
      <p:sp>
        <p:nvSpPr>
          <p:cNvPr id="79" name="Shape 77"/>
          <p:cNvSpPr/>
          <p:nvPr/>
        </p:nvSpPr>
        <p:spPr>
          <a:xfrm>
            <a:off x="4442521" y="2567178"/>
            <a:ext cx="17556" cy="240030"/>
          </a:xfrm>
          <a:prstGeom prst="line">
            <a:avLst/>
          </a:prstGeom>
          <a:noFill/>
          <a:ln w="15875">
            <a:solidFill>
              <a:srgbClr val="0B1F3A"/>
            </a:solidFill>
            <a:prstDash val="solid"/>
          </a:ln>
        </p:spPr>
      </p:sp>
      <p:sp>
        <p:nvSpPr>
          <p:cNvPr id="80" name="Shape 78"/>
          <p:cNvSpPr/>
          <p:nvPr/>
        </p:nvSpPr>
        <p:spPr>
          <a:xfrm>
            <a:off x="4460077" y="2807208"/>
            <a:ext cx="17556" cy="228600"/>
          </a:xfrm>
          <a:prstGeom prst="line">
            <a:avLst/>
          </a:prstGeom>
          <a:noFill/>
          <a:ln w="15875">
            <a:solidFill>
              <a:srgbClr val="0B1F3A"/>
            </a:solidFill>
            <a:prstDash val="solid"/>
          </a:ln>
        </p:spPr>
      </p:sp>
      <p:sp>
        <p:nvSpPr>
          <p:cNvPr id="81" name="Shape 79"/>
          <p:cNvSpPr/>
          <p:nvPr/>
        </p:nvSpPr>
        <p:spPr>
          <a:xfrm>
            <a:off x="4375404" y="1997964"/>
            <a:ext cx="64008" cy="64008"/>
          </a:xfrm>
          <a:prstGeom prst="ellipse">
            <a:avLst/>
          </a:prstGeom>
          <a:solidFill>
            <a:srgbClr val="C9A227"/>
          </a:solidFill>
          <a:ln w="6350">
            <a:solidFill>
              <a:srgbClr val="C9A227"/>
            </a:solidFill>
            <a:prstDash val="solid"/>
          </a:ln>
        </p:spPr>
      </p:sp>
      <p:sp>
        <p:nvSpPr>
          <p:cNvPr id="82" name="Shape 80"/>
          <p:cNvSpPr/>
          <p:nvPr/>
        </p:nvSpPr>
        <p:spPr>
          <a:xfrm>
            <a:off x="4375404" y="2135124"/>
            <a:ext cx="64008" cy="64008"/>
          </a:xfrm>
          <a:prstGeom prst="ellipse">
            <a:avLst/>
          </a:prstGeom>
          <a:solidFill>
            <a:srgbClr val="C9A227"/>
          </a:solidFill>
          <a:ln w="6350">
            <a:solidFill>
              <a:srgbClr val="C9A227"/>
            </a:solidFill>
            <a:prstDash val="solid"/>
          </a:ln>
        </p:spPr>
      </p:sp>
      <p:sp>
        <p:nvSpPr>
          <p:cNvPr id="83" name="Shape 81"/>
          <p:cNvSpPr/>
          <p:nvPr/>
        </p:nvSpPr>
        <p:spPr>
          <a:xfrm>
            <a:off x="4309567" y="2157984"/>
            <a:ext cx="64008" cy="64008"/>
          </a:xfrm>
          <a:prstGeom prst="ellipse">
            <a:avLst/>
          </a:prstGeom>
          <a:solidFill>
            <a:srgbClr val="C9A227"/>
          </a:solidFill>
          <a:ln w="6350">
            <a:solidFill>
              <a:srgbClr val="C9A227"/>
            </a:solidFill>
            <a:prstDash val="solid"/>
          </a:ln>
        </p:spPr>
      </p:sp>
      <p:sp>
        <p:nvSpPr>
          <p:cNvPr id="84" name="Shape 82"/>
          <p:cNvSpPr/>
          <p:nvPr/>
        </p:nvSpPr>
        <p:spPr>
          <a:xfrm>
            <a:off x="4441241" y="2157984"/>
            <a:ext cx="64008" cy="64008"/>
          </a:xfrm>
          <a:prstGeom prst="ellipse">
            <a:avLst/>
          </a:prstGeom>
          <a:solidFill>
            <a:srgbClr val="C9A227"/>
          </a:solidFill>
          <a:ln w="6350">
            <a:solidFill>
              <a:srgbClr val="C9A227"/>
            </a:solidFill>
            <a:prstDash val="solid"/>
          </a:ln>
        </p:spPr>
      </p:sp>
      <p:sp>
        <p:nvSpPr>
          <p:cNvPr id="85" name="Shape 83"/>
          <p:cNvSpPr/>
          <p:nvPr/>
        </p:nvSpPr>
        <p:spPr>
          <a:xfrm>
            <a:off x="4265676" y="2363724"/>
            <a:ext cx="64008" cy="64008"/>
          </a:xfrm>
          <a:prstGeom prst="ellipse">
            <a:avLst/>
          </a:prstGeom>
          <a:solidFill>
            <a:srgbClr val="C9A227"/>
          </a:solidFill>
          <a:ln w="6350">
            <a:solidFill>
              <a:srgbClr val="C9A227"/>
            </a:solidFill>
            <a:prstDash val="solid"/>
          </a:ln>
        </p:spPr>
      </p:sp>
      <p:sp>
        <p:nvSpPr>
          <p:cNvPr id="86" name="Shape 84"/>
          <p:cNvSpPr/>
          <p:nvPr/>
        </p:nvSpPr>
        <p:spPr>
          <a:xfrm>
            <a:off x="4278843" y="2546604"/>
            <a:ext cx="64008" cy="64008"/>
          </a:xfrm>
          <a:prstGeom prst="ellipse">
            <a:avLst/>
          </a:prstGeom>
          <a:solidFill>
            <a:srgbClr val="C9A227"/>
          </a:solidFill>
          <a:ln w="6350">
            <a:solidFill>
              <a:srgbClr val="C9A227"/>
            </a:solidFill>
            <a:prstDash val="solid"/>
          </a:ln>
        </p:spPr>
      </p:sp>
      <p:sp>
        <p:nvSpPr>
          <p:cNvPr id="87" name="Shape 85"/>
          <p:cNvSpPr/>
          <p:nvPr/>
        </p:nvSpPr>
        <p:spPr>
          <a:xfrm>
            <a:off x="4498299" y="2318004"/>
            <a:ext cx="64008" cy="64008"/>
          </a:xfrm>
          <a:prstGeom prst="ellipse">
            <a:avLst/>
          </a:prstGeom>
          <a:solidFill>
            <a:srgbClr val="C9A227"/>
          </a:solidFill>
          <a:ln w="6350">
            <a:solidFill>
              <a:srgbClr val="C9A227"/>
            </a:solidFill>
            <a:prstDash val="solid"/>
          </a:ln>
        </p:spPr>
      </p:sp>
      <p:sp>
        <p:nvSpPr>
          <p:cNvPr id="88" name="Shape 86"/>
          <p:cNvSpPr/>
          <p:nvPr/>
        </p:nvSpPr>
        <p:spPr>
          <a:xfrm>
            <a:off x="4542191" y="2409444"/>
            <a:ext cx="64008" cy="64008"/>
          </a:xfrm>
          <a:prstGeom prst="ellipse">
            <a:avLst/>
          </a:prstGeom>
          <a:solidFill>
            <a:srgbClr val="C9A227"/>
          </a:solidFill>
          <a:ln w="6350">
            <a:solidFill>
              <a:srgbClr val="C9A227"/>
            </a:solidFill>
            <a:prstDash val="solid"/>
          </a:ln>
        </p:spPr>
      </p:sp>
      <p:sp>
        <p:nvSpPr>
          <p:cNvPr id="89" name="Shape 87"/>
          <p:cNvSpPr/>
          <p:nvPr/>
        </p:nvSpPr>
        <p:spPr>
          <a:xfrm>
            <a:off x="4340291" y="2535174"/>
            <a:ext cx="64008" cy="64008"/>
          </a:xfrm>
          <a:prstGeom prst="ellipse">
            <a:avLst/>
          </a:prstGeom>
          <a:solidFill>
            <a:srgbClr val="C9A227"/>
          </a:solidFill>
          <a:ln w="6350">
            <a:solidFill>
              <a:srgbClr val="C9A227"/>
            </a:solidFill>
            <a:prstDash val="solid"/>
          </a:ln>
        </p:spPr>
      </p:sp>
      <p:sp>
        <p:nvSpPr>
          <p:cNvPr id="90" name="Shape 88"/>
          <p:cNvSpPr/>
          <p:nvPr/>
        </p:nvSpPr>
        <p:spPr>
          <a:xfrm>
            <a:off x="4410517" y="2535174"/>
            <a:ext cx="64008" cy="64008"/>
          </a:xfrm>
          <a:prstGeom prst="ellipse">
            <a:avLst/>
          </a:prstGeom>
          <a:solidFill>
            <a:srgbClr val="C9A227"/>
          </a:solidFill>
          <a:ln w="6350">
            <a:solidFill>
              <a:srgbClr val="C9A227"/>
            </a:solidFill>
            <a:prstDash val="solid"/>
          </a:ln>
        </p:spPr>
      </p:sp>
      <p:sp>
        <p:nvSpPr>
          <p:cNvPr id="91" name="Shape 89"/>
          <p:cNvSpPr/>
          <p:nvPr/>
        </p:nvSpPr>
        <p:spPr>
          <a:xfrm>
            <a:off x="4322735" y="2775204"/>
            <a:ext cx="64008" cy="64008"/>
          </a:xfrm>
          <a:prstGeom prst="ellipse">
            <a:avLst/>
          </a:prstGeom>
          <a:solidFill>
            <a:srgbClr val="C9A227"/>
          </a:solidFill>
          <a:ln w="6350">
            <a:solidFill>
              <a:srgbClr val="C9A227"/>
            </a:solidFill>
            <a:prstDash val="solid"/>
          </a:ln>
        </p:spPr>
      </p:sp>
      <p:sp>
        <p:nvSpPr>
          <p:cNvPr id="92" name="Shape 90"/>
          <p:cNvSpPr/>
          <p:nvPr/>
        </p:nvSpPr>
        <p:spPr>
          <a:xfrm>
            <a:off x="4428073" y="2775204"/>
            <a:ext cx="64008" cy="64008"/>
          </a:xfrm>
          <a:prstGeom prst="ellipse">
            <a:avLst/>
          </a:prstGeom>
          <a:solidFill>
            <a:srgbClr val="C9A227"/>
          </a:solidFill>
          <a:ln w="6350">
            <a:solidFill>
              <a:srgbClr val="C9A227"/>
            </a:solidFill>
            <a:prstDash val="solid"/>
          </a:ln>
        </p:spPr>
      </p:sp>
      <p:sp>
        <p:nvSpPr>
          <p:cNvPr id="93" name="Shape 91"/>
          <p:cNvSpPr/>
          <p:nvPr/>
        </p:nvSpPr>
        <p:spPr>
          <a:xfrm>
            <a:off x="4313956" y="3003804"/>
            <a:ext cx="64008" cy="64008"/>
          </a:xfrm>
          <a:prstGeom prst="ellipse">
            <a:avLst/>
          </a:prstGeom>
          <a:solidFill>
            <a:srgbClr val="C9A227"/>
          </a:solidFill>
          <a:ln w="6350">
            <a:solidFill>
              <a:srgbClr val="C9A227"/>
            </a:solidFill>
            <a:prstDash val="solid"/>
          </a:ln>
        </p:spPr>
      </p:sp>
      <p:sp>
        <p:nvSpPr>
          <p:cNvPr id="94" name="Shape 92"/>
          <p:cNvSpPr/>
          <p:nvPr/>
        </p:nvSpPr>
        <p:spPr>
          <a:xfrm>
            <a:off x="4445630" y="3003804"/>
            <a:ext cx="64008" cy="64008"/>
          </a:xfrm>
          <a:prstGeom prst="ellipse">
            <a:avLst/>
          </a:prstGeom>
          <a:solidFill>
            <a:srgbClr val="C9A227"/>
          </a:solidFill>
          <a:ln w="6350">
            <a:solidFill>
              <a:srgbClr val="C9A227"/>
            </a:solidFill>
            <a:prstDash val="solid"/>
          </a:ln>
        </p:spPr>
      </p:sp>
      <p:sp>
        <p:nvSpPr>
          <p:cNvPr id="95" name="Shape 93"/>
          <p:cNvSpPr/>
          <p:nvPr/>
        </p:nvSpPr>
        <p:spPr>
          <a:xfrm>
            <a:off x="4809744" y="1828800"/>
            <a:ext cx="621792" cy="1371600"/>
          </a:xfrm>
          <a:prstGeom prst="rect">
            <a:avLst/>
          </a:prstGeom>
          <a:solidFill>
            <a:srgbClr val="FFFFFF"/>
          </a:solidFill>
          <a:ln w="12700">
            <a:solidFill>
              <a:srgbClr val="D5DCE6"/>
            </a:solidFill>
            <a:prstDash val="solid"/>
          </a:ln>
        </p:spPr>
      </p:sp>
      <p:sp>
        <p:nvSpPr>
          <p:cNvPr id="96" name="Shape 94"/>
          <p:cNvSpPr/>
          <p:nvPr/>
        </p:nvSpPr>
        <p:spPr>
          <a:xfrm>
            <a:off x="5120640" y="2029968"/>
            <a:ext cx="0" cy="137160"/>
          </a:xfrm>
          <a:prstGeom prst="line">
            <a:avLst/>
          </a:prstGeom>
          <a:noFill/>
          <a:ln w="15875">
            <a:solidFill>
              <a:srgbClr val="0B1F3A"/>
            </a:solidFill>
            <a:prstDash val="solid"/>
          </a:ln>
        </p:spPr>
      </p:sp>
      <p:sp>
        <p:nvSpPr>
          <p:cNvPr id="97" name="Shape 95"/>
          <p:cNvSpPr/>
          <p:nvPr/>
        </p:nvSpPr>
        <p:spPr>
          <a:xfrm flipV="1">
            <a:off x="5054803" y="2167128"/>
            <a:ext cx="65837" cy="22860"/>
          </a:xfrm>
          <a:prstGeom prst="line">
            <a:avLst/>
          </a:prstGeom>
          <a:noFill/>
          <a:ln w="15875">
            <a:solidFill>
              <a:srgbClr val="0B1F3A"/>
            </a:solidFill>
            <a:prstDash val="solid"/>
          </a:ln>
        </p:spPr>
      </p:sp>
      <p:sp>
        <p:nvSpPr>
          <p:cNvPr id="98" name="Shape 96"/>
          <p:cNvSpPr/>
          <p:nvPr/>
        </p:nvSpPr>
        <p:spPr>
          <a:xfrm>
            <a:off x="5120640" y="2167128"/>
            <a:ext cx="65837" cy="22860"/>
          </a:xfrm>
          <a:prstGeom prst="line">
            <a:avLst/>
          </a:prstGeom>
          <a:noFill/>
          <a:ln w="15875">
            <a:solidFill>
              <a:srgbClr val="0B1F3A"/>
            </a:solidFill>
            <a:prstDash val="solid"/>
          </a:ln>
        </p:spPr>
      </p:sp>
      <p:sp>
        <p:nvSpPr>
          <p:cNvPr id="99" name="Shape 97"/>
          <p:cNvSpPr/>
          <p:nvPr/>
        </p:nvSpPr>
        <p:spPr>
          <a:xfrm flipV="1">
            <a:off x="5010912" y="2189988"/>
            <a:ext cx="43891" cy="205740"/>
          </a:xfrm>
          <a:prstGeom prst="line">
            <a:avLst/>
          </a:prstGeom>
          <a:noFill/>
          <a:ln w="15875">
            <a:solidFill>
              <a:srgbClr val="0B1F3A"/>
            </a:solidFill>
            <a:prstDash val="solid"/>
          </a:ln>
        </p:spPr>
      </p:sp>
      <p:sp>
        <p:nvSpPr>
          <p:cNvPr id="100" name="Shape 98"/>
          <p:cNvSpPr/>
          <p:nvPr/>
        </p:nvSpPr>
        <p:spPr>
          <a:xfrm>
            <a:off x="5010912" y="2395728"/>
            <a:ext cx="13167" cy="182880"/>
          </a:xfrm>
          <a:prstGeom prst="line">
            <a:avLst/>
          </a:prstGeom>
          <a:noFill/>
          <a:ln w="15875">
            <a:solidFill>
              <a:srgbClr val="0B1F3A"/>
            </a:solidFill>
            <a:prstDash val="solid"/>
          </a:ln>
        </p:spPr>
      </p:sp>
      <p:sp>
        <p:nvSpPr>
          <p:cNvPr id="101" name="Shape 99"/>
          <p:cNvSpPr/>
          <p:nvPr/>
        </p:nvSpPr>
        <p:spPr>
          <a:xfrm>
            <a:off x="5186477" y="2189988"/>
            <a:ext cx="83393" cy="114300"/>
          </a:xfrm>
          <a:prstGeom prst="line">
            <a:avLst/>
          </a:prstGeom>
          <a:noFill/>
          <a:ln w="15875">
            <a:solidFill>
              <a:srgbClr val="0B1F3A"/>
            </a:solidFill>
            <a:prstDash val="solid"/>
          </a:ln>
        </p:spPr>
      </p:sp>
      <p:sp>
        <p:nvSpPr>
          <p:cNvPr id="102" name="Shape 100"/>
          <p:cNvSpPr/>
          <p:nvPr/>
        </p:nvSpPr>
        <p:spPr>
          <a:xfrm flipV="1">
            <a:off x="5269870" y="2281428"/>
            <a:ext cx="61448" cy="22860"/>
          </a:xfrm>
          <a:prstGeom prst="line">
            <a:avLst/>
          </a:prstGeom>
          <a:noFill/>
          <a:ln w="15875">
            <a:solidFill>
              <a:srgbClr val="0B1F3A"/>
            </a:solidFill>
            <a:prstDash val="solid"/>
          </a:ln>
        </p:spPr>
      </p:sp>
      <p:sp>
        <p:nvSpPr>
          <p:cNvPr id="103" name="Shape 101"/>
          <p:cNvSpPr/>
          <p:nvPr/>
        </p:nvSpPr>
        <p:spPr>
          <a:xfrm>
            <a:off x="5054803" y="2189988"/>
            <a:ext cx="30724" cy="377190"/>
          </a:xfrm>
          <a:prstGeom prst="line">
            <a:avLst/>
          </a:prstGeom>
          <a:noFill/>
          <a:ln w="15875">
            <a:solidFill>
              <a:srgbClr val="0B1F3A"/>
            </a:solidFill>
            <a:prstDash val="solid"/>
          </a:ln>
        </p:spPr>
      </p:sp>
      <p:sp>
        <p:nvSpPr>
          <p:cNvPr id="104" name="Shape 102"/>
          <p:cNvSpPr/>
          <p:nvPr/>
        </p:nvSpPr>
        <p:spPr>
          <a:xfrm flipV="1">
            <a:off x="5155753" y="2189988"/>
            <a:ext cx="30724" cy="377190"/>
          </a:xfrm>
          <a:prstGeom prst="line">
            <a:avLst/>
          </a:prstGeom>
          <a:noFill/>
          <a:ln w="15875">
            <a:solidFill>
              <a:srgbClr val="0B1F3A"/>
            </a:solidFill>
            <a:prstDash val="solid"/>
          </a:ln>
        </p:spPr>
      </p:sp>
      <p:sp>
        <p:nvSpPr>
          <p:cNvPr id="105" name="Shape 103"/>
          <p:cNvSpPr/>
          <p:nvPr/>
        </p:nvSpPr>
        <p:spPr>
          <a:xfrm>
            <a:off x="5085527" y="2567178"/>
            <a:ext cx="70226" cy="0"/>
          </a:xfrm>
          <a:prstGeom prst="line">
            <a:avLst/>
          </a:prstGeom>
          <a:noFill/>
          <a:ln w="15875">
            <a:solidFill>
              <a:srgbClr val="0B1F3A"/>
            </a:solidFill>
            <a:prstDash val="solid"/>
          </a:ln>
        </p:spPr>
      </p:sp>
      <p:sp>
        <p:nvSpPr>
          <p:cNvPr id="106" name="Shape 104"/>
          <p:cNvSpPr/>
          <p:nvPr/>
        </p:nvSpPr>
        <p:spPr>
          <a:xfrm flipV="1">
            <a:off x="5067971" y="2567178"/>
            <a:ext cx="17556" cy="240030"/>
          </a:xfrm>
          <a:prstGeom prst="line">
            <a:avLst/>
          </a:prstGeom>
          <a:noFill/>
          <a:ln w="15875">
            <a:solidFill>
              <a:srgbClr val="0B1F3A"/>
            </a:solidFill>
            <a:prstDash val="solid"/>
          </a:ln>
        </p:spPr>
      </p:sp>
      <p:sp>
        <p:nvSpPr>
          <p:cNvPr id="107" name="Shape 105"/>
          <p:cNvSpPr/>
          <p:nvPr/>
        </p:nvSpPr>
        <p:spPr>
          <a:xfrm flipV="1">
            <a:off x="5059192" y="2807208"/>
            <a:ext cx="8778" cy="228600"/>
          </a:xfrm>
          <a:prstGeom prst="line">
            <a:avLst/>
          </a:prstGeom>
          <a:noFill/>
          <a:ln w="15875">
            <a:solidFill>
              <a:srgbClr val="0B1F3A"/>
            </a:solidFill>
            <a:prstDash val="solid"/>
          </a:ln>
        </p:spPr>
      </p:sp>
      <p:sp>
        <p:nvSpPr>
          <p:cNvPr id="108" name="Shape 106"/>
          <p:cNvSpPr/>
          <p:nvPr/>
        </p:nvSpPr>
        <p:spPr>
          <a:xfrm>
            <a:off x="5155753" y="2567178"/>
            <a:ext cx="17556" cy="240030"/>
          </a:xfrm>
          <a:prstGeom prst="line">
            <a:avLst/>
          </a:prstGeom>
          <a:noFill/>
          <a:ln w="15875">
            <a:solidFill>
              <a:srgbClr val="0B1F3A"/>
            </a:solidFill>
            <a:prstDash val="solid"/>
          </a:ln>
        </p:spPr>
      </p:sp>
      <p:sp>
        <p:nvSpPr>
          <p:cNvPr id="109" name="Shape 107"/>
          <p:cNvSpPr/>
          <p:nvPr/>
        </p:nvSpPr>
        <p:spPr>
          <a:xfrm>
            <a:off x="5173309" y="2807208"/>
            <a:ext cx="17556" cy="228600"/>
          </a:xfrm>
          <a:prstGeom prst="line">
            <a:avLst/>
          </a:prstGeom>
          <a:noFill/>
          <a:ln w="15875">
            <a:solidFill>
              <a:srgbClr val="0B1F3A"/>
            </a:solidFill>
            <a:prstDash val="solid"/>
          </a:ln>
        </p:spPr>
      </p:sp>
      <p:sp>
        <p:nvSpPr>
          <p:cNvPr id="110" name="Shape 108"/>
          <p:cNvSpPr/>
          <p:nvPr/>
        </p:nvSpPr>
        <p:spPr>
          <a:xfrm>
            <a:off x="5088636" y="1997964"/>
            <a:ext cx="64008" cy="64008"/>
          </a:xfrm>
          <a:prstGeom prst="ellipse">
            <a:avLst/>
          </a:prstGeom>
          <a:solidFill>
            <a:srgbClr val="C9A227"/>
          </a:solidFill>
          <a:ln w="6350">
            <a:solidFill>
              <a:srgbClr val="C9A227"/>
            </a:solidFill>
            <a:prstDash val="solid"/>
          </a:ln>
        </p:spPr>
      </p:sp>
      <p:sp>
        <p:nvSpPr>
          <p:cNvPr id="111" name="Shape 109"/>
          <p:cNvSpPr/>
          <p:nvPr/>
        </p:nvSpPr>
        <p:spPr>
          <a:xfrm>
            <a:off x="5088636" y="2135124"/>
            <a:ext cx="64008" cy="64008"/>
          </a:xfrm>
          <a:prstGeom prst="ellipse">
            <a:avLst/>
          </a:prstGeom>
          <a:solidFill>
            <a:srgbClr val="C9A227"/>
          </a:solidFill>
          <a:ln w="6350">
            <a:solidFill>
              <a:srgbClr val="C9A227"/>
            </a:solidFill>
            <a:prstDash val="solid"/>
          </a:ln>
        </p:spPr>
      </p:sp>
      <p:sp>
        <p:nvSpPr>
          <p:cNvPr id="112" name="Shape 110"/>
          <p:cNvSpPr/>
          <p:nvPr/>
        </p:nvSpPr>
        <p:spPr>
          <a:xfrm>
            <a:off x="5022799" y="2157984"/>
            <a:ext cx="64008" cy="64008"/>
          </a:xfrm>
          <a:prstGeom prst="ellipse">
            <a:avLst/>
          </a:prstGeom>
          <a:solidFill>
            <a:srgbClr val="C9A227"/>
          </a:solidFill>
          <a:ln w="6350">
            <a:solidFill>
              <a:srgbClr val="C9A227"/>
            </a:solidFill>
            <a:prstDash val="solid"/>
          </a:ln>
        </p:spPr>
      </p:sp>
      <p:sp>
        <p:nvSpPr>
          <p:cNvPr id="113" name="Shape 111"/>
          <p:cNvSpPr/>
          <p:nvPr/>
        </p:nvSpPr>
        <p:spPr>
          <a:xfrm>
            <a:off x="5154473" y="2157984"/>
            <a:ext cx="64008" cy="64008"/>
          </a:xfrm>
          <a:prstGeom prst="ellipse">
            <a:avLst/>
          </a:prstGeom>
          <a:solidFill>
            <a:srgbClr val="C9A227"/>
          </a:solidFill>
          <a:ln w="6350">
            <a:solidFill>
              <a:srgbClr val="C9A227"/>
            </a:solidFill>
            <a:prstDash val="solid"/>
          </a:ln>
        </p:spPr>
      </p:sp>
      <p:sp>
        <p:nvSpPr>
          <p:cNvPr id="114" name="Shape 112"/>
          <p:cNvSpPr/>
          <p:nvPr/>
        </p:nvSpPr>
        <p:spPr>
          <a:xfrm>
            <a:off x="4978908" y="2363724"/>
            <a:ext cx="64008" cy="64008"/>
          </a:xfrm>
          <a:prstGeom prst="ellipse">
            <a:avLst/>
          </a:prstGeom>
          <a:solidFill>
            <a:srgbClr val="C9A227"/>
          </a:solidFill>
          <a:ln w="6350">
            <a:solidFill>
              <a:srgbClr val="C9A227"/>
            </a:solidFill>
            <a:prstDash val="solid"/>
          </a:ln>
        </p:spPr>
      </p:sp>
      <p:sp>
        <p:nvSpPr>
          <p:cNvPr id="115" name="Shape 113"/>
          <p:cNvSpPr/>
          <p:nvPr/>
        </p:nvSpPr>
        <p:spPr>
          <a:xfrm>
            <a:off x="4992075" y="2546604"/>
            <a:ext cx="64008" cy="64008"/>
          </a:xfrm>
          <a:prstGeom prst="ellipse">
            <a:avLst/>
          </a:prstGeom>
          <a:solidFill>
            <a:srgbClr val="C9A227"/>
          </a:solidFill>
          <a:ln w="6350">
            <a:solidFill>
              <a:srgbClr val="C9A227"/>
            </a:solidFill>
            <a:prstDash val="solid"/>
          </a:ln>
        </p:spPr>
      </p:sp>
      <p:sp>
        <p:nvSpPr>
          <p:cNvPr id="116" name="Shape 114"/>
          <p:cNvSpPr/>
          <p:nvPr/>
        </p:nvSpPr>
        <p:spPr>
          <a:xfrm>
            <a:off x="5237866" y="2272284"/>
            <a:ext cx="64008" cy="64008"/>
          </a:xfrm>
          <a:prstGeom prst="ellipse">
            <a:avLst/>
          </a:prstGeom>
          <a:solidFill>
            <a:srgbClr val="C9A227"/>
          </a:solidFill>
          <a:ln w="6350">
            <a:solidFill>
              <a:srgbClr val="C9A227"/>
            </a:solidFill>
            <a:prstDash val="solid"/>
          </a:ln>
        </p:spPr>
      </p:sp>
      <p:sp>
        <p:nvSpPr>
          <p:cNvPr id="117" name="Shape 115"/>
          <p:cNvSpPr/>
          <p:nvPr/>
        </p:nvSpPr>
        <p:spPr>
          <a:xfrm>
            <a:off x="5299314" y="2249424"/>
            <a:ext cx="64008" cy="64008"/>
          </a:xfrm>
          <a:prstGeom prst="ellipse">
            <a:avLst/>
          </a:prstGeom>
          <a:solidFill>
            <a:srgbClr val="C9A227"/>
          </a:solidFill>
          <a:ln w="6350">
            <a:solidFill>
              <a:srgbClr val="C9A227"/>
            </a:solidFill>
            <a:prstDash val="solid"/>
          </a:ln>
        </p:spPr>
      </p:sp>
      <p:sp>
        <p:nvSpPr>
          <p:cNvPr id="118" name="Shape 116"/>
          <p:cNvSpPr/>
          <p:nvPr/>
        </p:nvSpPr>
        <p:spPr>
          <a:xfrm>
            <a:off x="5053523" y="2535174"/>
            <a:ext cx="64008" cy="64008"/>
          </a:xfrm>
          <a:prstGeom prst="ellipse">
            <a:avLst/>
          </a:prstGeom>
          <a:solidFill>
            <a:srgbClr val="C9A227"/>
          </a:solidFill>
          <a:ln w="6350">
            <a:solidFill>
              <a:srgbClr val="C9A227"/>
            </a:solidFill>
            <a:prstDash val="solid"/>
          </a:ln>
        </p:spPr>
      </p:sp>
      <p:sp>
        <p:nvSpPr>
          <p:cNvPr id="119" name="Shape 117"/>
          <p:cNvSpPr/>
          <p:nvPr/>
        </p:nvSpPr>
        <p:spPr>
          <a:xfrm>
            <a:off x="5123749" y="2535174"/>
            <a:ext cx="64008" cy="64008"/>
          </a:xfrm>
          <a:prstGeom prst="ellipse">
            <a:avLst/>
          </a:prstGeom>
          <a:solidFill>
            <a:srgbClr val="C9A227"/>
          </a:solidFill>
          <a:ln w="6350">
            <a:solidFill>
              <a:srgbClr val="C9A227"/>
            </a:solidFill>
            <a:prstDash val="solid"/>
          </a:ln>
        </p:spPr>
      </p:sp>
      <p:sp>
        <p:nvSpPr>
          <p:cNvPr id="120" name="Shape 118"/>
          <p:cNvSpPr/>
          <p:nvPr/>
        </p:nvSpPr>
        <p:spPr>
          <a:xfrm>
            <a:off x="5035967" y="2775204"/>
            <a:ext cx="64008" cy="64008"/>
          </a:xfrm>
          <a:prstGeom prst="ellipse">
            <a:avLst/>
          </a:prstGeom>
          <a:solidFill>
            <a:srgbClr val="C9A227"/>
          </a:solidFill>
          <a:ln w="6350">
            <a:solidFill>
              <a:srgbClr val="C9A227"/>
            </a:solidFill>
            <a:prstDash val="solid"/>
          </a:ln>
        </p:spPr>
      </p:sp>
      <p:sp>
        <p:nvSpPr>
          <p:cNvPr id="121" name="Shape 119"/>
          <p:cNvSpPr/>
          <p:nvPr/>
        </p:nvSpPr>
        <p:spPr>
          <a:xfrm>
            <a:off x="5141305" y="2775204"/>
            <a:ext cx="64008" cy="64008"/>
          </a:xfrm>
          <a:prstGeom prst="ellipse">
            <a:avLst/>
          </a:prstGeom>
          <a:solidFill>
            <a:srgbClr val="C9A227"/>
          </a:solidFill>
          <a:ln w="6350">
            <a:solidFill>
              <a:srgbClr val="C9A227"/>
            </a:solidFill>
            <a:prstDash val="solid"/>
          </a:ln>
        </p:spPr>
      </p:sp>
      <p:sp>
        <p:nvSpPr>
          <p:cNvPr id="122" name="Shape 120"/>
          <p:cNvSpPr/>
          <p:nvPr/>
        </p:nvSpPr>
        <p:spPr>
          <a:xfrm>
            <a:off x="5027188" y="3003804"/>
            <a:ext cx="64008" cy="64008"/>
          </a:xfrm>
          <a:prstGeom prst="ellipse">
            <a:avLst/>
          </a:prstGeom>
          <a:solidFill>
            <a:srgbClr val="C9A227"/>
          </a:solidFill>
          <a:ln w="6350">
            <a:solidFill>
              <a:srgbClr val="C9A227"/>
            </a:solidFill>
            <a:prstDash val="solid"/>
          </a:ln>
        </p:spPr>
      </p:sp>
      <p:sp>
        <p:nvSpPr>
          <p:cNvPr id="123" name="Shape 121"/>
          <p:cNvSpPr/>
          <p:nvPr/>
        </p:nvSpPr>
        <p:spPr>
          <a:xfrm>
            <a:off x="5158862" y="3003804"/>
            <a:ext cx="64008" cy="64008"/>
          </a:xfrm>
          <a:prstGeom prst="ellipse">
            <a:avLst/>
          </a:prstGeom>
          <a:solidFill>
            <a:srgbClr val="C9A227"/>
          </a:solidFill>
          <a:ln w="6350">
            <a:solidFill>
              <a:srgbClr val="C9A227"/>
            </a:solidFill>
            <a:prstDash val="solid"/>
          </a:ln>
        </p:spPr>
      </p:sp>
      <p:sp>
        <p:nvSpPr>
          <p:cNvPr id="124" name="Shape 122"/>
          <p:cNvSpPr/>
          <p:nvPr/>
        </p:nvSpPr>
        <p:spPr>
          <a:xfrm>
            <a:off x="5522976" y="1828800"/>
            <a:ext cx="621792" cy="1371600"/>
          </a:xfrm>
          <a:prstGeom prst="rect">
            <a:avLst/>
          </a:prstGeom>
          <a:solidFill>
            <a:srgbClr val="FFFFFF"/>
          </a:solidFill>
          <a:ln w="12700">
            <a:solidFill>
              <a:srgbClr val="D5DCE6"/>
            </a:solidFill>
            <a:prstDash val="solid"/>
          </a:ln>
        </p:spPr>
      </p:sp>
      <p:sp>
        <p:nvSpPr>
          <p:cNvPr id="125" name="Shape 123"/>
          <p:cNvSpPr/>
          <p:nvPr/>
        </p:nvSpPr>
        <p:spPr>
          <a:xfrm>
            <a:off x="5833872" y="2029968"/>
            <a:ext cx="0" cy="137160"/>
          </a:xfrm>
          <a:prstGeom prst="line">
            <a:avLst/>
          </a:prstGeom>
          <a:noFill/>
          <a:ln w="15875">
            <a:solidFill>
              <a:srgbClr val="0B1F3A"/>
            </a:solidFill>
            <a:prstDash val="solid"/>
          </a:ln>
        </p:spPr>
      </p:sp>
      <p:sp>
        <p:nvSpPr>
          <p:cNvPr id="126" name="Shape 124"/>
          <p:cNvSpPr/>
          <p:nvPr/>
        </p:nvSpPr>
        <p:spPr>
          <a:xfrm flipV="1">
            <a:off x="5768035" y="2167128"/>
            <a:ext cx="65837" cy="22860"/>
          </a:xfrm>
          <a:prstGeom prst="line">
            <a:avLst/>
          </a:prstGeom>
          <a:noFill/>
          <a:ln w="15875">
            <a:solidFill>
              <a:srgbClr val="0B1F3A"/>
            </a:solidFill>
            <a:prstDash val="solid"/>
          </a:ln>
        </p:spPr>
      </p:sp>
      <p:sp>
        <p:nvSpPr>
          <p:cNvPr id="127" name="Shape 125"/>
          <p:cNvSpPr/>
          <p:nvPr/>
        </p:nvSpPr>
        <p:spPr>
          <a:xfrm>
            <a:off x="5833872" y="2167128"/>
            <a:ext cx="65837" cy="22860"/>
          </a:xfrm>
          <a:prstGeom prst="line">
            <a:avLst/>
          </a:prstGeom>
          <a:noFill/>
          <a:ln w="15875">
            <a:solidFill>
              <a:srgbClr val="0B1F3A"/>
            </a:solidFill>
            <a:prstDash val="solid"/>
          </a:ln>
        </p:spPr>
      </p:sp>
      <p:sp>
        <p:nvSpPr>
          <p:cNvPr id="128" name="Shape 126"/>
          <p:cNvSpPr/>
          <p:nvPr/>
        </p:nvSpPr>
        <p:spPr>
          <a:xfrm flipV="1">
            <a:off x="5724144" y="2189988"/>
            <a:ext cx="43891" cy="205740"/>
          </a:xfrm>
          <a:prstGeom prst="line">
            <a:avLst/>
          </a:prstGeom>
          <a:noFill/>
          <a:ln w="15875">
            <a:solidFill>
              <a:srgbClr val="0B1F3A"/>
            </a:solidFill>
            <a:prstDash val="solid"/>
          </a:ln>
        </p:spPr>
      </p:sp>
      <p:sp>
        <p:nvSpPr>
          <p:cNvPr id="129" name="Shape 127"/>
          <p:cNvSpPr/>
          <p:nvPr/>
        </p:nvSpPr>
        <p:spPr>
          <a:xfrm>
            <a:off x="5724144" y="2395728"/>
            <a:ext cx="13167" cy="182880"/>
          </a:xfrm>
          <a:prstGeom prst="line">
            <a:avLst/>
          </a:prstGeom>
          <a:noFill/>
          <a:ln w="15875">
            <a:solidFill>
              <a:srgbClr val="0B1F3A"/>
            </a:solidFill>
            <a:prstDash val="solid"/>
          </a:ln>
        </p:spPr>
      </p:sp>
      <p:sp>
        <p:nvSpPr>
          <p:cNvPr id="130" name="Shape 128"/>
          <p:cNvSpPr/>
          <p:nvPr/>
        </p:nvSpPr>
        <p:spPr>
          <a:xfrm>
            <a:off x="5899709" y="2189988"/>
            <a:ext cx="65837" cy="68580"/>
          </a:xfrm>
          <a:prstGeom prst="line">
            <a:avLst/>
          </a:prstGeom>
          <a:noFill/>
          <a:ln w="15875">
            <a:solidFill>
              <a:srgbClr val="0B1F3A"/>
            </a:solidFill>
            <a:prstDash val="solid"/>
          </a:ln>
        </p:spPr>
      </p:sp>
      <p:sp>
        <p:nvSpPr>
          <p:cNvPr id="131" name="Shape 129"/>
          <p:cNvSpPr/>
          <p:nvPr/>
        </p:nvSpPr>
        <p:spPr>
          <a:xfrm flipV="1">
            <a:off x="5965546" y="2144268"/>
            <a:ext cx="79004" cy="114300"/>
          </a:xfrm>
          <a:prstGeom prst="line">
            <a:avLst/>
          </a:prstGeom>
          <a:noFill/>
          <a:ln w="15875">
            <a:solidFill>
              <a:srgbClr val="0B1F3A"/>
            </a:solidFill>
            <a:prstDash val="solid"/>
          </a:ln>
        </p:spPr>
      </p:sp>
      <p:sp>
        <p:nvSpPr>
          <p:cNvPr id="132" name="Shape 130"/>
          <p:cNvSpPr/>
          <p:nvPr/>
        </p:nvSpPr>
        <p:spPr>
          <a:xfrm>
            <a:off x="5768035" y="2189988"/>
            <a:ext cx="30724" cy="377190"/>
          </a:xfrm>
          <a:prstGeom prst="line">
            <a:avLst/>
          </a:prstGeom>
          <a:noFill/>
          <a:ln w="15875">
            <a:solidFill>
              <a:srgbClr val="0B1F3A"/>
            </a:solidFill>
            <a:prstDash val="solid"/>
          </a:ln>
        </p:spPr>
      </p:sp>
      <p:sp>
        <p:nvSpPr>
          <p:cNvPr id="133" name="Shape 131"/>
          <p:cNvSpPr/>
          <p:nvPr/>
        </p:nvSpPr>
        <p:spPr>
          <a:xfrm flipV="1">
            <a:off x="5868985" y="2189988"/>
            <a:ext cx="30724" cy="377190"/>
          </a:xfrm>
          <a:prstGeom prst="line">
            <a:avLst/>
          </a:prstGeom>
          <a:noFill/>
          <a:ln w="15875">
            <a:solidFill>
              <a:srgbClr val="0B1F3A"/>
            </a:solidFill>
            <a:prstDash val="solid"/>
          </a:ln>
        </p:spPr>
      </p:sp>
      <p:sp>
        <p:nvSpPr>
          <p:cNvPr id="134" name="Shape 132"/>
          <p:cNvSpPr/>
          <p:nvPr/>
        </p:nvSpPr>
        <p:spPr>
          <a:xfrm>
            <a:off x="5798759" y="2567178"/>
            <a:ext cx="70226" cy="0"/>
          </a:xfrm>
          <a:prstGeom prst="line">
            <a:avLst/>
          </a:prstGeom>
          <a:noFill/>
          <a:ln w="15875">
            <a:solidFill>
              <a:srgbClr val="0B1F3A"/>
            </a:solidFill>
            <a:prstDash val="solid"/>
          </a:ln>
        </p:spPr>
      </p:sp>
      <p:sp>
        <p:nvSpPr>
          <p:cNvPr id="135" name="Shape 133"/>
          <p:cNvSpPr/>
          <p:nvPr/>
        </p:nvSpPr>
        <p:spPr>
          <a:xfrm flipV="1">
            <a:off x="5781203" y="2567178"/>
            <a:ext cx="17556" cy="240030"/>
          </a:xfrm>
          <a:prstGeom prst="line">
            <a:avLst/>
          </a:prstGeom>
          <a:noFill/>
          <a:ln w="15875">
            <a:solidFill>
              <a:srgbClr val="0B1F3A"/>
            </a:solidFill>
            <a:prstDash val="solid"/>
          </a:ln>
        </p:spPr>
      </p:sp>
      <p:sp>
        <p:nvSpPr>
          <p:cNvPr id="136" name="Shape 134"/>
          <p:cNvSpPr/>
          <p:nvPr/>
        </p:nvSpPr>
        <p:spPr>
          <a:xfrm flipV="1">
            <a:off x="5772424" y="2807208"/>
            <a:ext cx="8778" cy="228600"/>
          </a:xfrm>
          <a:prstGeom prst="line">
            <a:avLst/>
          </a:prstGeom>
          <a:noFill/>
          <a:ln w="15875">
            <a:solidFill>
              <a:srgbClr val="0B1F3A"/>
            </a:solidFill>
            <a:prstDash val="solid"/>
          </a:ln>
        </p:spPr>
      </p:sp>
      <p:sp>
        <p:nvSpPr>
          <p:cNvPr id="137" name="Shape 135"/>
          <p:cNvSpPr/>
          <p:nvPr/>
        </p:nvSpPr>
        <p:spPr>
          <a:xfrm>
            <a:off x="5868985" y="2567178"/>
            <a:ext cx="17556" cy="240030"/>
          </a:xfrm>
          <a:prstGeom prst="line">
            <a:avLst/>
          </a:prstGeom>
          <a:noFill/>
          <a:ln w="15875">
            <a:solidFill>
              <a:srgbClr val="0B1F3A"/>
            </a:solidFill>
            <a:prstDash val="solid"/>
          </a:ln>
        </p:spPr>
      </p:sp>
      <p:sp>
        <p:nvSpPr>
          <p:cNvPr id="138" name="Shape 136"/>
          <p:cNvSpPr/>
          <p:nvPr/>
        </p:nvSpPr>
        <p:spPr>
          <a:xfrm>
            <a:off x="5886541" y="2807208"/>
            <a:ext cx="17556" cy="228600"/>
          </a:xfrm>
          <a:prstGeom prst="line">
            <a:avLst/>
          </a:prstGeom>
          <a:noFill/>
          <a:ln w="15875">
            <a:solidFill>
              <a:srgbClr val="0B1F3A"/>
            </a:solidFill>
            <a:prstDash val="solid"/>
          </a:ln>
        </p:spPr>
      </p:sp>
      <p:sp>
        <p:nvSpPr>
          <p:cNvPr id="139" name="Shape 137"/>
          <p:cNvSpPr/>
          <p:nvPr/>
        </p:nvSpPr>
        <p:spPr>
          <a:xfrm>
            <a:off x="5801868" y="1997964"/>
            <a:ext cx="64008" cy="64008"/>
          </a:xfrm>
          <a:prstGeom prst="ellipse">
            <a:avLst/>
          </a:prstGeom>
          <a:solidFill>
            <a:srgbClr val="C9A227"/>
          </a:solidFill>
          <a:ln w="6350">
            <a:solidFill>
              <a:srgbClr val="C9A227"/>
            </a:solidFill>
            <a:prstDash val="solid"/>
          </a:ln>
        </p:spPr>
      </p:sp>
      <p:sp>
        <p:nvSpPr>
          <p:cNvPr id="140" name="Shape 138"/>
          <p:cNvSpPr/>
          <p:nvPr/>
        </p:nvSpPr>
        <p:spPr>
          <a:xfrm>
            <a:off x="5801868" y="2135124"/>
            <a:ext cx="64008" cy="64008"/>
          </a:xfrm>
          <a:prstGeom prst="ellipse">
            <a:avLst/>
          </a:prstGeom>
          <a:solidFill>
            <a:srgbClr val="C9A227"/>
          </a:solidFill>
          <a:ln w="6350">
            <a:solidFill>
              <a:srgbClr val="C9A227"/>
            </a:solidFill>
            <a:prstDash val="solid"/>
          </a:ln>
        </p:spPr>
      </p:sp>
      <p:sp>
        <p:nvSpPr>
          <p:cNvPr id="141" name="Shape 139"/>
          <p:cNvSpPr/>
          <p:nvPr/>
        </p:nvSpPr>
        <p:spPr>
          <a:xfrm>
            <a:off x="5736031" y="2157984"/>
            <a:ext cx="64008" cy="64008"/>
          </a:xfrm>
          <a:prstGeom prst="ellipse">
            <a:avLst/>
          </a:prstGeom>
          <a:solidFill>
            <a:srgbClr val="C9A227"/>
          </a:solidFill>
          <a:ln w="6350">
            <a:solidFill>
              <a:srgbClr val="C9A227"/>
            </a:solidFill>
            <a:prstDash val="solid"/>
          </a:ln>
        </p:spPr>
      </p:sp>
      <p:sp>
        <p:nvSpPr>
          <p:cNvPr id="142" name="Shape 140"/>
          <p:cNvSpPr/>
          <p:nvPr/>
        </p:nvSpPr>
        <p:spPr>
          <a:xfrm>
            <a:off x="5867705" y="2157984"/>
            <a:ext cx="64008" cy="64008"/>
          </a:xfrm>
          <a:prstGeom prst="ellipse">
            <a:avLst/>
          </a:prstGeom>
          <a:solidFill>
            <a:srgbClr val="C9A227"/>
          </a:solidFill>
          <a:ln w="6350">
            <a:solidFill>
              <a:srgbClr val="C9A227"/>
            </a:solidFill>
            <a:prstDash val="solid"/>
          </a:ln>
        </p:spPr>
      </p:sp>
      <p:sp>
        <p:nvSpPr>
          <p:cNvPr id="143" name="Shape 141"/>
          <p:cNvSpPr/>
          <p:nvPr/>
        </p:nvSpPr>
        <p:spPr>
          <a:xfrm>
            <a:off x="5692140" y="2363724"/>
            <a:ext cx="64008" cy="64008"/>
          </a:xfrm>
          <a:prstGeom prst="ellipse">
            <a:avLst/>
          </a:prstGeom>
          <a:solidFill>
            <a:srgbClr val="C9A227"/>
          </a:solidFill>
          <a:ln w="6350">
            <a:solidFill>
              <a:srgbClr val="C9A227"/>
            </a:solidFill>
            <a:prstDash val="solid"/>
          </a:ln>
        </p:spPr>
      </p:sp>
      <p:sp>
        <p:nvSpPr>
          <p:cNvPr id="144" name="Shape 142"/>
          <p:cNvSpPr/>
          <p:nvPr/>
        </p:nvSpPr>
        <p:spPr>
          <a:xfrm>
            <a:off x="5705307" y="2546604"/>
            <a:ext cx="64008" cy="64008"/>
          </a:xfrm>
          <a:prstGeom prst="ellipse">
            <a:avLst/>
          </a:prstGeom>
          <a:solidFill>
            <a:srgbClr val="C9A227"/>
          </a:solidFill>
          <a:ln w="6350">
            <a:solidFill>
              <a:srgbClr val="C9A227"/>
            </a:solidFill>
            <a:prstDash val="solid"/>
          </a:ln>
        </p:spPr>
      </p:sp>
      <p:sp>
        <p:nvSpPr>
          <p:cNvPr id="145" name="Shape 143"/>
          <p:cNvSpPr/>
          <p:nvPr/>
        </p:nvSpPr>
        <p:spPr>
          <a:xfrm>
            <a:off x="5933542" y="2226564"/>
            <a:ext cx="64008" cy="64008"/>
          </a:xfrm>
          <a:prstGeom prst="ellipse">
            <a:avLst/>
          </a:prstGeom>
          <a:solidFill>
            <a:srgbClr val="C9A227"/>
          </a:solidFill>
          <a:ln w="6350">
            <a:solidFill>
              <a:srgbClr val="C9A227"/>
            </a:solidFill>
            <a:prstDash val="solid"/>
          </a:ln>
        </p:spPr>
      </p:sp>
      <p:sp>
        <p:nvSpPr>
          <p:cNvPr id="146" name="Shape 144"/>
          <p:cNvSpPr/>
          <p:nvPr/>
        </p:nvSpPr>
        <p:spPr>
          <a:xfrm>
            <a:off x="6012546" y="2112264"/>
            <a:ext cx="64008" cy="64008"/>
          </a:xfrm>
          <a:prstGeom prst="ellipse">
            <a:avLst/>
          </a:prstGeom>
          <a:solidFill>
            <a:srgbClr val="C9A227"/>
          </a:solidFill>
          <a:ln w="6350">
            <a:solidFill>
              <a:srgbClr val="C9A227"/>
            </a:solidFill>
            <a:prstDash val="solid"/>
          </a:ln>
        </p:spPr>
      </p:sp>
      <p:sp>
        <p:nvSpPr>
          <p:cNvPr id="147" name="Shape 145"/>
          <p:cNvSpPr/>
          <p:nvPr/>
        </p:nvSpPr>
        <p:spPr>
          <a:xfrm>
            <a:off x="5766755" y="2535174"/>
            <a:ext cx="64008" cy="64008"/>
          </a:xfrm>
          <a:prstGeom prst="ellipse">
            <a:avLst/>
          </a:prstGeom>
          <a:solidFill>
            <a:srgbClr val="C9A227"/>
          </a:solidFill>
          <a:ln w="6350">
            <a:solidFill>
              <a:srgbClr val="C9A227"/>
            </a:solidFill>
            <a:prstDash val="solid"/>
          </a:ln>
        </p:spPr>
      </p:sp>
      <p:sp>
        <p:nvSpPr>
          <p:cNvPr id="148" name="Shape 146"/>
          <p:cNvSpPr/>
          <p:nvPr/>
        </p:nvSpPr>
        <p:spPr>
          <a:xfrm>
            <a:off x="5836981" y="2535174"/>
            <a:ext cx="64008" cy="64008"/>
          </a:xfrm>
          <a:prstGeom prst="ellipse">
            <a:avLst/>
          </a:prstGeom>
          <a:solidFill>
            <a:srgbClr val="C9A227"/>
          </a:solidFill>
          <a:ln w="6350">
            <a:solidFill>
              <a:srgbClr val="C9A227"/>
            </a:solidFill>
            <a:prstDash val="solid"/>
          </a:ln>
        </p:spPr>
      </p:sp>
      <p:sp>
        <p:nvSpPr>
          <p:cNvPr id="149" name="Shape 147"/>
          <p:cNvSpPr/>
          <p:nvPr/>
        </p:nvSpPr>
        <p:spPr>
          <a:xfrm>
            <a:off x="5749199" y="2775204"/>
            <a:ext cx="64008" cy="64008"/>
          </a:xfrm>
          <a:prstGeom prst="ellipse">
            <a:avLst/>
          </a:prstGeom>
          <a:solidFill>
            <a:srgbClr val="C9A227"/>
          </a:solidFill>
          <a:ln w="6350">
            <a:solidFill>
              <a:srgbClr val="C9A227"/>
            </a:solidFill>
            <a:prstDash val="solid"/>
          </a:ln>
        </p:spPr>
      </p:sp>
      <p:sp>
        <p:nvSpPr>
          <p:cNvPr id="150" name="Shape 148"/>
          <p:cNvSpPr/>
          <p:nvPr/>
        </p:nvSpPr>
        <p:spPr>
          <a:xfrm>
            <a:off x="5854537" y="2775204"/>
            <a:ext cx="64008" cy="64008"/>
          </a:xfrm>
          <a:prstGeom prst="ellipse">
            <a:avLst/>
          </a:prstGeom>
          <a:solidFill>
            <a:srgbClr val="C9A227"/>
          </a:solidFill>
          <a:ln w="6350">
            <a:solidFill>
              <a:srgbClr val="C9A227"/>
            </a:solidFill>
            <a:prstDash val="solid"/>
          </a:ln>
        </p:spPr>
      </p:sp>
      <p:sp>
        <p:nvSpPr>
          <p:cNvPr id="151" name="Shape 149"/>
          <p:cNvSpPr/>
          <p:nvPr/>
        </p:nvSpPr>
        <p:spPr>
          <a:xfrm>
            <a:off x="5740420" y="3003804"/>
            <a:ext cx="64008" cy="64008"/>
          </a:xfrm>
          <a:prstGeom prst="ellipse">
            <a:avLst/>
          </a:prstGeom>
          <a:solidFill>
            <a:srgbClr val="C9A227"/>
          </a:solidFill>
          <a:ln w="6350">
            <a:solidFill>
              <a:srgbClr val="C9A227"/>
            </a:solidFill>
            <a:prstDash val="solid"/>
          </a:ln>
        </p:spPr>
      </p:sp>
      <p:sp>
        <p:nvSpPr>
          <p:cNvPr id="152" name="Shape 150"/>
          <p:cNvSpPr/>
          <p:nvPr/>
        </p:nvSpPr>
        <p:spPr>
          <a:xfrm>
            <a:off x="5872094" y="3003804"/>
            <a:ext cx="64008" cy="64008"/>
          </a:xfrm>
          <a:prstGeom prst="ellipse">
            <a:avLst/>
          </a:prstGeom>
          <a:solidFill>
            <a:srgbClr val="C9A227"/>
          </a:solidFill>
          <a:ln w="6350">
            <a:solidFill>
              <a:srgbClr val="C9A227"/>
            </a:solidFill>
            <a:prstDash val="solid"/>
          </a:ln>
        </p:spPr>
      </p:sp>
      <p:sp>
        <p:nvSpPr>
          <p:cNvPr id="153" name="Text 151"/>
          <p:cNvSpPr txBox="1"/>
          <p:nvPr/>
        </p:nvSpPr>
        <p:spPr>
          <a:xfrm>
            <a:off x="3246120" y="3566160"/>
            <a:ext cx="3108960" cy="274320"/>
          </a:xfrm>
          <a:prstGeom prst="rect">
            <a:avLst/>
          </a:prstGeom>
          <a:noFill/>
          <a:ln/>
        </p:spPr>
        <p:txBody>
          <a:bodyPr wrap="square" lIns="0" tIns="0" rIns="0" bIns="0" rtlCol="0" anchor="t"/>
          <a:lstStyle/>
          <a:p>
            <a:pPr algn="ctr" indent="0" marL="0">
              <a:buNone/>
            </a:pPr>
            <a:r>
              <a:rPr lang="en-US" sz="1200" dirty="0">
                <a:solidFill>
                  <a:srgbClr val="5A6B82"/>
                </a:solidFill>
                <a:latin typeface="Calibri" pitchFamily="34" charset="0"/>
                <a:ea typeface="Calibri" pitchFamily="34" charset="-122"/>
                <a:cs typeface="Calibri" pitchFamily="34" charset="-120"/>
              </a:rPr>
              <a:t>Sliding window of frames</a:t>
            </a:r>
            <a:endParaRPr lang="en-US" sz="1200" dirty="0"/>
          </a:p>
        </p:txBody>
      </p:sp>
      <p:sp>
        <p:nvSpPr>
          <p:cNvPr id="154" name="Shape 152"/>
          <p:cNvSpPr/>
          <p:nvPr/>
        </p:nvSpPr>
        <p:spPr>
          <a:xfrm>
            <a:off x="6400800" y="2651760"/>
            <a:ext cx="256032" cy="274320"/>
          </a:xfrm>
          <a:prstGeom prst="rightArrow">
            <a:avLst/>
          </a:prstGeom>
          <a:solidFill>
            <a:srgbClr val="C9A227"/>
          </a:solidFill>
          <a:ln w="6350">
            <a:solidFill>
              <a:srgbClr val="C9A227"/>
            </a:solidFill>
            <a:prstDash val="solid"/>
          </a:ln>
        </p:spPr>
      </p:sp>
      <p:sp>
        <p:nvSpPr>
          <p:cNvPr id="155" name="Shape 153"/>
          <p:cNvSpPr/>
          <p:nvPr/>
        </p:nvSpPr>
        <p:spPr>
          <a:xfrm>
            <a:off x="6675120" y="1554480"/>
            <a:ext cx="2377440" cy="2468880"/>
          </a:xfrm>
          <a:prstGeom prst="roundRect">
            <a:avLst>
              <a:gd name="adj" fmla="val 4615"/>
            </a:avLst>
          </a:prstGeom>
          <a:solidFill>
            <a:srgbClr val="F3F6FA"/>
          </a:solidFill>
          <a:ln w="9525">
            <a:solidFill>
              <a:srgbClr val="F3F6FA"/>
            </a:solidFill>
            <a:prstDash val="solid"/>
          </a:ln>
        </p:spPr>
      </p:sp>
      <p:sp>
        <p:nvSpPr>
          <p:cNvPr id="156" name="Shape 154"/>
          <p:cNvSpPr/>
          <p:nvPr/>
        </p:nvSpPr>
        <p:spPr>
          <a:xfrm>
            <a:off x="6949440" y="1874520"/>
            <a:ext cx="1828800" cy="640080"/>
          </a:xfrm>
          <a:prstGeom prst="roundRect">
            <a:avLst>
              <a:gd name="adj" fmla="val 17143"/>
            </a:avLst>
          </a:prstGeom>
          <a:solidFill>
            <a:srgbClr val="0B1F3A"/>
          </a:solidFill>
          <a:ln w="9525">
            <a:solidFill>
              <a:srgbClr val="0B1F3A"/>
            </a:solidFill>
            <a:prstDash val="solid"/>
          </a:ln>
        </p:spPr>
      </p:sp>
      <p:sp>
        <p:nvSpPr>
          <p:cNvPr id="157" name="Text 155"/>
          <p:cNvSpPr txBox="1"/>
          <p:nvPr/>
        </p:nvSpPr>
        <p:spPr>
          <a:xfrm>
            <a:off x="6949440" y="1874520"/>
            <a:ext cx="182880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LSTM layer 1</a:t>
            </a:r>
            <a:endParaRPr lang="en-US" sz="1400" dirty="0"/>
          </a:p>
        </p:txBody>
      </p:sp>
      <p:sp>
        <p:nvSpPr>
          <p:cNvPr id="158" name="Shape 156"/>
          <p:cNvSpPr/>
          <p:nvPr/>
        </p:nvSpPr>
        <p:spPr>
          <a:xfrm>
            <a:off x="6949440" y="2697480"/>
            <a:ext cx="1828800" cy="640080"/>
          </a:xfrm>
          <a:prstGeom prst="roundRect">
            <a:avLst>
              <a:gd name="adj" fmla="val 17143"/>
            </a:avLst>
          </a:prstGeom>
          <a:solidFill>
            <a:srgbClr val="1B3A6B"/>
          </a:solidFill>
          <a:ln w="9525">
            <a:solidFill>
              <a:srgbClr val="1B3A6B"/>
            </a:solidFill>
            <a:prstDash val="solid"/>
          </a:ln>
        </p:spPr>
      </p:sp>
      <p:sp>
        <p:nvSpPr>
          <p:cNvPr id="159" name="Text 157"/>
          <p:cNvSpPr txBox="1"/>
          <p:nvPr/>
        </p:nvSpPr>
        <p:spPr>
          <a:xfrm>
            <a:off x="6949440" y="2697480"/>
            <a:ext cx="182880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LSTM layer 2</a:t>
            </a:r>
            <a:endParaRPr lang="en-US" sz="1400" dirty="0"/>
          </a:p>
        </p:txBody>
      </p:sp>
      <p:sp>
        <p:nvSpPr>
          <p:cNvPr id="160" name="Text 158"/>
          <p:cNvSpPr txBox="1"/>
          <p:nvPr/>
        </p:nvSpPr>
        <p:spPr>
          <a:xfrm>
            <a:off x="6675120" y="3566160"/>
            <a:ext cx="2377440" cy="274320"/>
          </a:xfrm>
          <a:prstGeom prst="rect">
            <a:avLst/>
          </a:prstGeom>
          <a:noFill/>
          <a:ln/>
        </p:spPr>
        <p:txBody>
          <a:bodyPr wrap="square" lIns="0" tIns="0" rIns="0" bIns="0" rtlCol="0" anchor="t"/>
          <a:lstStyle/>
          <a:p>
            <a:pPr algn="ctr" indent="0" marL="0">
              <a:buNone/>
            </a:pPr>
            <a:r>
              <a:rPr lang="en-US" sz="1200" dirty="0">
                <a:solidFill>
                  <a:srgbClr val="5A6B82"/>
                </a:solidFill>
                <a:latin typeface="Calibri" pitchFamily="34" charset="0"/>
                <a:ea typeface="Calibri" pitchFamily="34" charset="-122"/>
                <a:cs typeface="Calibri" pitchFamily="34" charset="-120"/>
              </a:rPr>
              <a:t>2-layer LSTM</a:t>
            </a:r>
            <a:endParaRPr lang="en-US" sz="1200" dirty="0"/>
          </a:p>
        </p:txBody>
      </p:sp>
      <p:sp>
        <p:nvSpPr>
          <p:cNvPr id="161" name="Shape 159"/>
          <p:cNvSpPr/>
          <p:nvPr/>
        </p:nvSpPr>
        <p:spPr>
          <a:xfrm>
            <a:off x="9098280" y="2651760"/>
            <a:ext cx="256032" cy="274320"/>
          </a:xfrm>
          <a:prstGeom prst="rightArrow">
            <a:avLst/>
          </a:prstGeom>
          <a:solidFill>
            <a:srgbClr val="C9A227"/>
          </a:solidFill>
          <a:ln w="6350">
            <a:solidFill>
              <a:srgbClr val="C9A227"/>
            </a:solidFill>
            <a:prstDash val="solid"/>
          </a:ln>
        </p:spPr>
      </p:sp>
      <p:sp>
        <p:nvSpPr>
          <p:cNvPr id="162" name="Shape 160"/>
          <p:cNvSpPr/>
          <p:nvPr/>
        </p:nvSpPr>
        <p:spPr>
          <a:xfrm>
            <a:off x="9372600" y="1554480"/>
            <a:ext cx="2240280" cy="2468880"/>
          </a:xfrm>
          <a:prstGeom prst="roundRect">
            <a:avLst>
              <a:gd name="adj" fmla="val 4898"/>
            </a:avLst>
          </a:prstGeom>
          <a:solidFill>
            <a:srgbClr val="F3F6FA"/>
          </a:solidFill>
          <a:ln w="9525">
            <a:solidFill>
              <a:srgbClr val="F3F6FA"/>
            </a:solidFill>
            <a:prstDash val="solid"/>
          </a:ln>
        </p:spPr>
      </p:sp>
      <p:sp>
        <p:nvSpPr>
          <p:cNvPr id="163" name="Shape 161"/>
          <p:cNvSpPr/>
          <p:nvPr/>
        </p:nvSpPr>
        <p:spPr>
          <a:xfrm>
            <a:off x="9555480" y="1737360"/>
            <a:ext cx="1874520" cy="438912"/>
          </a:xfrm>
          <a:prstGeom prst="roundRect">
            <a:avLst>
              <a:gd name="adj" fmla="val 16667"/>
            </a:avLst>
          </a:prstGeom>
          <a:solidFill>
            <a:srgbClr val="0B1F3A"/>
          </a:solidFill>
          <a:ln w="9525">
            <a:solidFill>
              <a:srgbClr val="0B1F3A"/>
            </a:solidFill>
            <a:prstDash val="solid"/>
          </a:ln>
        </p:spPr>
      </p:sp>
      <p:sp>
        <p:nvSpPr>
          <p:cNvPr id="164" name="Text 162"/>
          <p:cNvSpPr txBox="1"/>
          <p:nvPr/>
        </p:nvSpPr>
        <p:spPr>
          <a:xfrm>
            <a:off x="9555480" y="1737360"/>
            <a:ext cx="18745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Fighting</a:t>
            </a:r>
            <a:endParaRPr lang="en-US" sz="1400" dirty="0"/>
          </a:p>
        </p:txBody>
      </p:sp>
      <p:sp>
        <p:nvSpPr>
          <p:cNvPr id="165" name="Shape 163"/>
          <p:cNvSpPr/>
          <p:nvPr/>
        </p:nvSpPr>
        <p:spPr>
          <a:xfrm>
            <a:off x="9555480" y="2286000"/>
            <a:ext cx="1874520" cy="438912"/>
          </a:xfrm>
          <a:prstGeom prst="roundRect">
            <a:avLst>
              <a:gd name="adj" fmla="val 16667"/>
            </a:avLst>
          </a:prstGeom>
          <a:solidFill>
            <a:srgbClr val="0B1F3A"/>
          </a:solidFill>
          <a:ln w="9525">
            <a:solidFill>
              <a:srgbClr val="0B1F3A"/>
            </a:solidFill>
            <a:prstDash val="solid"/>
          </a:ln>
        </p:spPr>
      </p:sp>
      <p:sp>
        <p:nvSpPr>
          <p:cNvPr id="166" name="Text 164"/>
          <p:cNvSpPr txBox="1"/>
          <p:nvPr/>
        </p:nvSpPr>
        <p:spPr>
          <a:xfrm>
            <a:off x="9555480" y="2286000"/>
            <a:ext cx="18745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Robbery</a:t>
            </a:r>
            <a:endParaRPr lang="en-US" sz="1400" dirty="0"/>
          </a:p>
        </p:txBody>
      </p:sp>
      <p:sp>
        <p:nvSpPr>
          <p:cNvPr id="167" name="Shape 165"/>
          <p:cNvSpPr/>
          <p:nvPr/>
        </p:nvSpPr>
        <p:spPr>
          <a:xfrm>
            <a:off x="9555480" y="2834640"/>
            <a:ext cx="1874520" cy="438912"/>
          </a:xfrm>
          <a:prstGeom prst="roundRect">
            <a:avLst>
              <a:gd name="adj" fmla="val 16667"/>
            </a:avLst>
          </a:prstGeom>
          <a:solidFill>
            <a:srgbClr val="0B1F3A"/>
          </a:solidFill>
          <a:ln w="9525">
            <a:solidFill>
              <a:srgbClr val="0B1F3A"/>
            </a:solidFill>
            <a:prstDash val="solid"/>
          </a:ln>
        </p:spPr>
      </p:sp>
      <p:sp>
        <p:nvSpPr>
          <p:cNvPr id="168" name="Text 166"/>
          <p:cNvSpPr txBox="1"/>
          <p:nvPr/>
        </p:nvSpPr>
        <p:spPr>
          <a:xfrm>
            <a:off x="9555480" y="2834640"/>
            <a:ext cx="1874520"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Shooting</a:t>
            </a:r>
            <a:endParaRPr lang="en-US" sz="1400" dirty="0"/>
          </a:p>
        </p:txBody>
      </p:sp>
      <p:sp>
        <p:nvSpPr>
          <p:cNvPr id="169" name="Shape 167"/>
          <p:cNvSpPr/>
          <p:nvPr/>
        </p:nvSpPr>
        <p:spPr>
          <a:xfrm>
            <a:off x="9555480" y="3383280"/>
            <a:ext cx="1874520" cy="438912"/>
          </a:xfrm>
          <a:prstGeom prst="roundRect">
            <a:avLst>
              <a:gd name="adj" fmla="val 16667"/>
            </a:avLst>
          </a:prstGeom>
          <a:solidFill>
            <a:srgbClr val="FFFFFF"/>
          </a:solidFill>
          <a:ln w="9525">
            <a:solidFill>
              <a:srgbClr val="D5DCE6"/>
            </a:solidFill>
            <a:prstDash val="solid"/>
          </a:ln>
        </p:spPr>
      </p:sp>
      <p:sp>
        <p:nvSpPr>
          <p:cNvPr id="170" name="Text 168"/>
          <p:cNvSpPr txBox="1"/>
          <p:nvPr/>
        </p:nvSpPr>
        <p:spPr>
          <a:xfrm>
            <a:off x="9555480" y="3383280"/>
            <a:ext cx="1874520" cy="438912"/>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Normal</a:t>
            </a:r>
            <a:endParaRPr lang="en-US" sz="1400" dirty="0"/>
          </a:p>
        </p:txBody>
      </p:sp>
      <p:sp>
        <p:nvSpPr>
          <p:cNvPr id="171" name="Shape 169"/>
          <p:cNvSpPr/>
          <p:nvPr/>
        </p:nvSpPr>
        <p:spPr>
          <a:xfrm>
            <a:off x="548640" y="4343400"/>
            <a:ext cx="3566160" cy="1691640"/>
          </a:xfrm>
          <a:prstGeom prst="roundRect">
            <a:avLst>
              <a:gd name="adj" fmla="val 6486"/>
            </a:avLst>
          </a:prstGeom>
          <a:solidFill>
            <a:srgbClr val="FFFFFF"/>
          </a:solidFill>
          <a:ln w="12700">
            <a:solidFill>
              <a:srgbClr val="D5DCE6"/>
            </a:solidFill>
            <a:prstDash val="solid"/>
          </a:ln>
        </p:spPr>
      </p:sp>
      <p:sp>
        <p:nvSpPr>
          <p:cNvPr id="172" name="Text 170"/>
          <p:cNvSpPr txBox="1"/>
          <p:nvPr/>
        </p:nvSpPr>
        <p:spPr>
          <a:xfrm>
            <a:off x="777240" y="4480560"/>
            <a:ext cx="3108960" cy="365760"/>
          </a:xfrm>
          <a:prstGeom prst="rect">
            <a:avLst/>
          </a:prstGeom>
          <a:noFill/>
          <a:ln/>
        </p:spPr>
        <p:txBody>
          <a:bodyPr wrap="square" lIns="0" tIns="0" rIns="0" bIns="0" rtlCol="0" anchor="t"/>
          <a:lstStyle/>
          <a:p>
            <a:pPr indent="0" marL="0">
              <a:buNone/>
            </a:pPr>
            <a:r>
              <a:rPr lang="en-US" sz="1700" b="1" dirty="0">
                <a:solidFill>
                  <a:srgbClr val="0B1F3A"/>
                </a:solidFill>
                <a:latin typeface="Calibri" pitchFamily="34" charset="0"/>
                <a:ea typeface="Calibri" pitchFamily="34" charset="-122"/>
                <a:cs typeface="Calibri" pitchFamily="34" charset="-120"/>
              </a:rPr>
              <a:t>Keypoints, not pixels</a:t>
            </a:r>
            <a:endParaRPr lang="en-US" sz="1700" dirty="0"/>
          </a:p>
        </p:txBody>
      </p:sp>
      <p:sp>
        <p:nvSpPr>
          <p:cNvPr id="173" name="Text 171"/>
          <p:cNvSpPr txBox="1"/>
          <p:nvPr/>
        </p:nvSpPr>
        <p:spPr>
          <a:xfrm>
            <a:off x="777240" y="4892040"/>
            <a:ext cx="3108960" cy="1051560"/>
          </a:xfrm>
          <a:prstGeom prst="rect">
            <a:avLst/>
          </a:prstGeom>
          <a:noFill/>
          <a:ln/>
        </p:spPr>
        <p:txBody>
          <a:bodyPr wrap="square" lIns="0" tIns="0" rIns="0" bIns="0" rtlCol="0" anchor="t"/>
          <a:lstStyle/>
          <a:p>
            <a:pPr indent="0" marL="0">
              <a:buNone/>
            </a:pPr>
            <a:r>
              <a:rPr lang="en-US" sz="1400" dirty="0">
                <a:solidFill>
                  <a:srgbClr val="1F2A3C"/>
                </a:solidFill>
                <a:latin typeface="Calibri" pitchFamily="34" charset="0"/>
                <a:ea typeface="Calibri" pitchFamily="34" charset="-122"/>
                <a:cs typeface="Calibri" pitchFamily="34" charset="-120"/>
              </a:rPr>
              <a:t>Each joint gives x, y and a confidence score, so the model reads posture instead of raw video.</a:t>
            </a:r>
            <a:endParaRPr lang="en-US" sz="1400" dirty="0"/>
          </a:p>
        </p:txBody>
      </p:sp>
      <p:sp>
        <p:nvSpPr>
          <p:cNvPr id="174" name="Shape 172"/>
          <p:cNvSpPr/>
          <p:nvPr/>
        </p:nvSpPr>
        <p:spPr>
          <a:xfrm>
            <a:off x="4297680" y="4343400"/>
            <a:ext cx="3566160" cy="1691640"/>
          </a:xfrm>
          <a:prstGeom prst="roundRect">
            <a:avLst>
              <a:gd name="adj" fmla="val 6486"/>
            </a:avLst>
          </a:prstGeom>
          <a:solidFill>
            <a:srgbClr val="FFFFFF"/>
          </a:solidFill>
          <a:ln w="12700">
            <a:solidFill>
              <a:srgbClr val="D5DCE6"/>
            </a:solidFill>
            <a:prstDash val="solid"/>
          </a:ln>
        </p:spPr>
      </p:sp>
      <p:sp>
        <p:nvSpPr>
          <p:cNvPr id="175" name="Text 173"/>
          <p:cNvSpPr txBox="1"/>
          <p:nvPr/>
        </p:nvSpPr>
        <p:spPr>
          <a:xfrm>
            <a:off x="4526280" y="4480560"/>
            <a:ext cx="3108960" cy="365760"/>
          </a:xfrm>
          <a:prstGeom prst="rect">
            <a:avLst/>
          </a:prstGeom>
          <a:noFill/>
          <a:ln/>
        </p:spPr>
        <p:txBody>
          <a:bodyPr wrap="square" lIns="0" tIns="0" rIns="0" bIns="0" rtlCol="0" anchor="t"/>
          <a:lstStyle/>
          <a:p>
            <a:pPr indent="0" marL="0">
              <a:buNone/>
            </a:pPr>
            <a:r>
              <a:rPr lang="en-US" sz="1700" b="1" dirty="0">
                <a:solidFill>
                  <a:srgbClr val="0B1F3A"/>
                </a:solidFill>
                <a:latin typeface="Calibri" pitchFamily="34" charset="0"/>
                <a:ea typeface="Calibri" pitchFamily="34" charset="-122"/>
                <a:cs typeface="Calibri" pitchFamily="34" charset="-120"/>
              </a:rPr>
              <a:t>Motion over time</a:t>
            </a:r>
            <a:endParaRPr lang="en-US" sz="1700" dirty="0"/>
          </a:p>
        </p:txBody>
      </p:sp>
      <p:sp>
        <p:nvSpPr>
          <p:cNvPr id="176" name="Text 174"/>
          <p:cNvSpPr txBox="1"/>
          <p:nvPr/>
        </p:nvSpPr>
        <p:spPr>
          <a:xfrm>
            <a:off x="4526280" y="4892040"/>
            <a:ext cx="3108960" cy="1051560"/>
          </a:xfrm>
          <a:prstGeom prst="rect">
            <a:avLst/>
          </a:prstGeom>
          <a:noFill/>
          <a:ln/>
        </p:spPr>
        <p:txBody>
          <a:bodyPr wrap="square" lIns="0" tIns="0" rIns="0" bIns="0" rtlCol="0" anchor="t"/>
          <a:lstStyle/>
          <a:p>
            <a:pPr indent="0" marL="0">
              <a:buNone/>
            </a:pPr>
            <a:r>
              <a:rPr lang="en-US" sz="1400" dirty="0">
                <a:solidFill>
                  <a:srgbClr val="1F2A3C"/>
                </a:solidFill>
                <a:latin typeface="Calibri" pitchFamily="34" charset="0"/>
                <a:ea typeface="Calibri" pitchFamily="34" charset="-122"/>
                <a:cs typeface="Calibri" pitchFamily="34" charset="-120"/>
              </a:rPr>
              <a:t>Keypoints are stacked across a sliding window so the LSTM sees the movement, not a single pose.</a:t>
            </a:r>
            <a:endParaRPr lang="en-US" sz="1400" dirty="0"/>
          </a:p>
        </p:txBody>
      </p:sp>
      <p:sp>
        <p:nvSpPr>
          <p:cNvPr id="177" name="Shape 175"/>
          <p:cNvSpPr/>
          <p:nvPr/>
        </p:nvSpPr>
        <p:spPr>
          <a:xfrm>
            <a:off x="8046720" y="4343400"/>
            <a:ext cx="3566160" cy="1691640"/>
          </a:xfrm>
          <a:prstGeom prst="roundRect">
            <a:avLst>
              <a:gd name="adj" fmla="val 6486"/>
            </a:avLst>
          </a:prstGeom>
          <a:solidFill>
            <a:srgbClr val="FFFFFF"/>
          </a:solidFill>
          <a:ln w="12700">
            <a:solidFill>
              <a:srgbClr val="D5DCE6"/>
            </a:solidFill>
            <a:prstDash val="solid"/>
          </a:ln>
        </p:spPr>
      </p:sp>
      <p:sp>
        <p:nvSpPr>
          <p:cNvPr id="178" name="Text 176"/>
          <p:cNvSpPr txBox="1"/>
          <p:nvPr/>
        </p:nvSpPr>
        <p:spPr>
          <a:xfrm>
            <a:off x="8275320" y="4480560"/>
            <a:ext cx="3108960" cy="365760"/>
          </a:xfrm>
          <a:prstGeom prst="rect">
            <a:avLst/>
          </a:prstGeom>
          <a:noFill/>
          <a:ln/>
        </p:spPr>
        <p:txBody>
          <a:bodyPr wrap="square" lIns="0" tIns="0" rIns="0" bIns="0" rtlCol="0" anchor="t"/>
          <a:lstStyle/>
          <a:p>
            <a:pPr indent="0" marL="0">
              <a:buNone/>
            </a:pPr>
            <a:r>
              <a:rPr lang="en-US" sz="1700" b="1" dirty="0">
                <a:solidFill>
                  <a:srgbClr val="0B1F3A"/>
                </a:solidFill>
                <a:latin typeface="Calibri" pitchFamily="34" charset="0"/>
                <a:ea typeface="Calibri" pitchFamily="34" charset="-122"/>
                <a:cs typeface="Calibri" pitchFamily="34" charset="-120"/>
              </a:rPr>
              <a:t>Built for speed</a:t>
            </a:r>
            <a:endParaRPr lang="en-US" sz="1700" dirty="0"/>
          </a:p>
        </p:txBody>
      </p:sp>
      <p:sp>
        <p:nvSpPr>
          <p:cNvPr id="179" name="Text 177"/>
          <p:cNvSpPr txBox="1"/>
          <p:nvPr/>
        </p:nvSpPr>
        <p:spPr>
          <a:xfrm>
            <a:off x="8275320" y="4892040"/>
            <a:ext cx="3108960" cy="1051560"/>
          </a:xfrm>
          <a:prstGeom prst="rect">
            <a:avLst/>
          </a:prstGeom>
          <a:noFill/>
          <a:ln/>
        </p:spPr>
        <p:txBody>
          <a:bodyPr wrap="square" lIns="0" tIns="0" rIns="0" bIns="0" rtlCol="0" anchor="t"/>
          <a:lstStyle/>
          <a:p>
            <a:pPr indent="0" marL="0">
              <a:buNone/>
            </a:pPr>
            <a:r>
              <a:rPr lang="en-US" sz="1400" dirty="0">
                <a:solidFill>
                  <a:srgbClr val="1F2A3C"/>
                </a:solidFill>
                <a:latin typeface="Calibri" pitchFamily="34" charset="0"/>
                <a:ea typeface="Calibri" pitchFamily="34" charset="-122"/>
                <a:cs typeface="Calibri" pitchFamily="34" charset="-120"/>
              </a:rPr>
              <a:t>Skeleton inputs avoid the cost of 3D-CNNs, which keeps real-time frame rates within reach.</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B1F3A"/>
                </a:solidFill>
                <a:latin typeface="Cambria" pitchFamily="34" charset="0"/>
                <a:ea typeface="Cambria" pitchFamily="34" charset="-122"/>
                <a:cs typeface="Cambria" pitchFamily="34" charset="-120"/>
              </a:rPr>
              <a:t>False Alarm Suppression</a:t>
            </a:r>
            <a:endParaRPr lang="en-US" sz="3400" dirty="0"/>
          </a:p>
        </p:txBody>
      </p:sp>
      <p:sp>
        <p:nvSpPr>
          <p:cNvPr id="3" name="Text 1"/>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A6B82"/>
                </a:solidFill>
                <a:latin typeface="Calibri" pitchFamily="34" charset="0"/>
                <a:ea typeface="Calibri" pitchFamily="34" charset="-122"/>
                <a:cs typeface="Calibri" pitchFamily="34" charset="-120"/>
              </a:rPr>
              <a:t>SENTINEL  |  FYP-I Defense  |  FAST-NUCES</a:t>
            </a:r>
            <a:endParaRPr lang="en-US" sz="1000" dirty="0"/>
          </a:p>
        </p:txBody>
      </p:sp>
      <p:sp>
        <p:nvSpPr>
          <p:cNvPr id="4" name="Text 2"/>
          <p:cNvSpPr txBox="1"/>
          <p:nvPr/>
        </p:nvSpPr>
        <p:spPr>
          <a:xfrm>
            <a:off x="10698480" y="6400800"/>
            <a:ext cx="914400" cy="22860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548640" y="1691640"/>
            <a:ext cx="7223760" cy="320040"/>
          </a:xfrm>
          <a:prstGeom prst="rect">
            <a:avLst/>
          </a:prstGeom>
          <a:noFill/>
          <a:ln/>
        </p:spPr>
        <p:txBody>
          <a:bodyPr wrap="square" lIns="0" tIns="0" rIns="0" bIns="0" rtlCol="0" anchor="t"/>
          <a:lstStyle/>
          <a:p>
            <a:pPr indent="0" marL="0">
              <a:buNone/>
            </a:pPr>
            <a:r>
              <a:rPr lang="en-US" sz="1500" b="1" dirty="0">
                <a:solidFill>
                  <a:srgbClr val="0B1F3A"/>
                </a:solidFill>
                <a:latin typeface="Calibri" pitchFamily="34" charset="0"/>
                <a:ea typeface="Calibri" pitchFamily="34" charset="-122"/>
                <a:cs typeface="Calibri" pitchFamily="34" charset="-120"/>
              </a:rPr>
              <a:t>A one-frame glitch (for example a phone glare)</a:t>
            </a:r>
            <a:endParaRPr lang="en-US" sz="1500" dirty="0"/>
          </a:p>
        </p:txBody>
      </p:sp>
      <p:sp>
        <p:nvSpPr>
          <p:cNvPr id="6" name="Shape 4"/>
          <p:cNvSpPr/>
          <p:nvPr/>
        </p:nvSpPr>
        <p:spPr>
          <a:xfrm>
            <a:off x="548640" y="2103120"/>
            <a:ext cx="640080" cy="640080"/>
          </a:xfrm>
          <a:prstGeom prst="roundRect">
            <a:avLst>
              <a:gd name="adj" fmla="val 8571"/>
            </a:avLst>
          </a:prstGeom>
          <a:solidFill>
            <a:srgbClr val="E3E9F2"/>
          </a:solidFill>
          <a:ln w="6350">
            <a:solidFill>
              <a:srgbClr val="E3E9F2"/>
            </a:solidFill>
            <a:prstDash val="solid"/>
          </a:ln>
        </p:spPr>
      </p:sp>
      <p:sp>
        <p:nvSpPr>
          <p:cNvPr id="7" name="Text 5"/>
          <p:cNvSpPr txBox="1"/>
          <p:nvPr/>
        </p:nvSpPr>
        <p:spPr>
          <a:xfrm>
            <a:off x="548640" y="2103120"/>
            <a:ext cx="640080" cy="640080"/>
          </a:xfrm>
          <a:prstGeom prst="rect">
            <a:avLst/>
          </a:prstGeom>
          <a:noFill/>
          <a:ln/>
        </p:spPr>
        <p:txBody>
          <a:bodyPr wrap="square" lIns="0" tIns="0" rIns="0" bIns="0" rtlCol="0" anchor="ctr"/>
          <a:lstStyle/>
          <a:p>
            <a:pPr algn="ctr" indent="0" marL="0">
              <a:buNone/>
            </a:pPr>
            <a:r>
              <a:rPr lang="en-US" sz="1300" b="1" dirty="0">
                <a:solidFill>
                  <a:srgbClr val="5A6B82"/>
                </a:solidFill>
                <a:latin typeface="Calibri" pitchFamily="34" charset="0"/>
                <a:ea typeface="Calibri" pitchFamily="34" charset="-122"/>
                <a:cs typeface="Calibri" pitchFamily="34" charset="-120"/>
              </a:rPr>
              <a:t>1</a:t>
            </a:r>
            <a:endParaRPr lang="en-US" sz="1300" dirty="0"/>
          </a:p>
        </p:txBody>
      </p:sp>
      <p:sp>
        <p:nvSpPr>
          <p:cNvPr id="8" name="Shape 6"/>
          <p:cNvSpPr/>
          <p:nvPr/>
        </p:nvSpPr>
        <p:spPr>
          <a:xfrm>
            <a:off x="1280160" y="2103120"/>
            <a:ext cx="640080" cy="640080"/>
          </a:xfrm>
          <a:prstGeom prst="roundRect">
            <a:avLst>
              <a:gd name="adj" fmla="val 8571"/>
            </a:avLst>
          </a:prstGeom>
          <a:solidFill>
            <a:srgbClr val="E3E9F2"/>
          </a:solidFill>
          <a:ln w="6350">
            <a:solidFill>
              <a:srgbClr val="E3E9F2"/>
            </a:solidFill>
            <a:prstDash val="solid"/>
          </a:ln>
        </p:spPr>
      </p:sp>
      <p:sp>
        <p:nvSpPr>
          <p:cNvPr id="9" name="Text 7"/>
          <p:cNvSpPr txBox="1"/>
          <p:nvPr/>
        </p:nvSpPr>
        <p:spPr>
          <a:xfrm>
            <a:off x="1280160" y="2103120"/>
            <a:ext cx="640080" cy="640080"/>
          </a:xfrm>
          <a:prstGeom prst="rect">
            <a:avLst/>
          </a:prstGeom>
          <a:noFill/>
          <a:ln/>
        </p:spPr>
        <p:txBody>
          <a:bodyPr wrap="square" lIns="0" tIns="0" rIns="0" bIns="0" rtlCol="0" anchor="ctr"/>
          <a:lstStyle/>
          <a:p>
            <a:pPr algn="ctr" indent="0" marL="0">
              <a:buNone/>
            </a:pPr>
            <a:r>
              <a:rPr lang="en-US" sz="1300" b="1" dirty="0">
                <a:solidFill>
                  <a:srgbClr val="5A6B82"/>
                </a:solidFill>
                <a:latin typeface="Calibri" pitchFamily="34" charset="0"/>
                <a:ea typeface="Calibri" pitchFamily="34" charset="-122"/>
                <a:cs typeface="Calibri" pitchFamily="34" charset="-120"/>
              </a:rPr>
              <a:t>2</a:t>
            </a:r>
            <a:endParaRPr lang="en-US" sz="1300" dirty="0"/>
          </a:p>
        </p:txBody>
      </p:sp>
      <p:sp>
        <p:nvSpPr>
          <p:cNvPr id="10" name="Shape 8"/>
          <p:cNvSpPr/>
          <p:nvPr/>
        </p:nvSpPr>
        <p:spPr>
          <a:xfrm>
            <a:off x="2011680" y="2103120"/>
            <a:ext cx="640080" cy="640080"/>
          </a:xfrm>
          <a:prstGeom prst="roundRect">
            <a:avLst>
              <a:gd name="adj" fmla="val 8571"/>
            </a:avLst>
          </a:prstGeom>
          <a:solidFill>
            <a:srgbClr val="E3E9F2"/>
          </a:solidFill>
          <a:ln w="6350">
            <a:solidFill>
              <a:srgbClr val="E3E9F2"/>
            </a:solidFill>
            <a:prstDash val="solid"/>
          </a:ln>
        </p:spPr>
      </p:sp>
      <p:sp>
        <p:nvSpPr>
          <p:cNvPr id="11" name="Text 9"/>
          <p:cNvSpPr txBox="1"/>
          <p:nvPr/>
        </p:nvSpPr>
        <p:spPr>
          <a:xfrm>
            <a:off x="2011680" y="2103120"/>
            <a:ext cx="640080" cy="640080"/>
          </a:xfrm>
          <a:prstGeom prst="rect">
            <a:avLst/>
          </a:prstGeom>
          <a:noFill/>
          <a:ln/>
        </p:spPr>
        <p:txBody>
          <a:bodyPr wrap="square" lIns="0" tIns="0" rIns="0" bIns="0" rtlCol="0" anchor="ctr"/>
          <a:lstStyle/>
          <a:p>
            <a:pPr algn="ctr" indent="0" marL="0">
              <a:buNone/>
            </a:pPr>
            <a:r>
              <a:rPr lang="en-US" sz="1300" b="1" dirty="0">
                <a:solidFill>
                  <a:srgbClr val="5A6B82"/>
                </a:solidFill>
                <a:latin typeface="Calibri" pitchFamily="34" charset="0"/>
                <a:ea typeface="Calibri" pitchFamily="34" charset="-122"/>
                <a:cs typeface="Calibri" pitchFamily="34" charset="-120"/>
              </a:rPr>
              <a:t>3</a:t>
            </a:r>
            <a:endParaRPr lang="en-US" sz="1300" dirty="0"/>
          </a:p>
        </p:txBody>
      </p:sp>
      <p:sp>
        <p:nvSpPr>
          <p:cNvPr id="12" name="Shape 10"/>
          <p:cNvSpPr/>
          <p:nvPr/>
        </p:nvSpPr>
        <p:spPr>
          <a:xfrm>
            <a:off x="2743200" y="2103120"/>
            <a:ext cx="640080" cy="640080"/>
          </a:xfrm>
          <a:prstGeom prst="roundRect">
            <a:avLst>
              <a:gd name="adj" fmla="val 8571"/>
            </a:avLst>
          </a:prstGeom>
          <a:solidFill>
            <a:srgbClr val="E3E9F2"/>
          </a:solidFill>
          <a:ln w="6350">
            <a:solidFill>
              <a:srgbClr val="E3E9F2"/>
            </a:solidFill>
            <a:prstDash val="solid"/>
          </a:ln>
        </p:spPr>
      </p:sp>
      <p:sp>
        <p:nvSpPr>
          <p:cNvPr id="13" name="Text 11"/>
          <p:cNvSpPr txBox="1"/>
          <p:nvPr/>
        </p:nvSpPr>
        <p:spPr>
          <a:xfrm>
            <a:off x="2743200" y="2103120"/>
            <a:ext cx="640080" cy="640080"/>
          </a:xfrm>
          <a:prstGeom prst="rect">
            <a:avLst/>
          </a:prstGeom>
          <a:noFill/>
          <a:ln/>
        </p:spPr>
        <p:txBody>
          <a:bodyPr wrap="square" lIns="0" tIns="0" rIns="0" bIns="0" rtlCol="0" anchor="ctr"/>
          <a:lstStyle/>
          <a:p>
            <a:pPr algn="ctr" indent="0" marL="0">
              <a:buNone/>
            </a:pPr>
            <a:r>
              <a:rPr lang="en-US" sz="1300" b="1" dirty="0">
                <a:solidFill>
                  <a:srgbClr val="5A6B82"/>
                </a:solidFill>
                <a:latin typeface="Calibri" pitchFamily="34" charset="0"/>
                <a:ea typeface="Calibri" pitchFamily="34" charset="-122"/>
                <a:cs typeface="Calibri" pitchFamily="34" charset="-120"/>
              </a:rPr>
              <a:t>4</a:t>
            </a:r>
            <a:endParaRPr lang="en-US" sz="1300" dirty="0"/>
          </a:p>
        </p:txBody>
      </p:sp>
      <p:sp>
        <p:nvSpPr>
          <p:cNvPr id="14" name="Shape 12"/>
          <p:cNvSpPr/>
          <p:nvPr/>
        </p:nvSpPr>
        <p:spPr>
          <a:xfrm>
            <a:off x="3474720" y="2103120"/>
            <a:ext cx="640080" cy="640080"/>
          </a:xfrm>
          <a:prstGeom prst="roundRect">
            <a:avLst>
              <a:gd name="adj" fmla="val 8571"/>
            </a:avLst>
          </a:prstGeom>
          <a:solidFill>
            <a:srgbClr val="E5484D"/>
          </a:solidFill>
          <a:ln w="6350">
            <a:solidFill>
              <a:srgbClr val="E5484D"/>
            </a:solidFill>
            <a:prstDash val="solid"/>
          </a:ln>
        </p:spPr>
      </p:sp>
      <p:sp>
        <p:nvSpPr>
          <p:cNvPr id="15" name="Text 13"/>
          <p:cNvSpPr txBox="1"/>
          <p:nvPr/>
        </p:nvSpPr>
        <p:spPr>
          <a:xfrm>
            <a:off x="3474720" y="210312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6" name="Shape 14"/>
          <p:cNvSpPr/>
          <p:nvPr/>
        </p:nvSpPr>
        <p:spPr>
          <a:xfrm>
            <a:off x="4206240" y="2103120"/>
            <a:ext cx="640080" cy="640080"/>
          </a:xfrm>
          <a:prstGeom prst="roundRect">
            <a:avLst>
              <a:gd name="adj" fmla="val 8571"/>
            </a:avLst>
          </a:prstGeom>
          <a:solidFill>
            <a:srgbClr val="E3E9F2"/>
          </a:solidFill>
          <a:ln w="6350">
            <a:solidFill>
              <a:srgbClr val="E3E9F2"/>
            </a:solidFill>
            <a:prstDash val="solid"/>
          </a:ln>
        </p:spPr>
      </p:sp>
      <p:sp>
        <p:nvSpPr>
          <p:cNvPr id="17" name="Text 15"/>
          <p:cNvSpPr txBox="1"/>
          <p:nvPr/>
        </p:nvSpPr>
        <p:spPr>
          <a:xfrm>
            <a:off x="4206240" y="2103120"/>
            <a:ext cx="640080" cy="640080"/>
          </a:xfrm>
          <a:prstGeom prst="rect">
            <a:avLst/>
          </a:prstGeom>
          <a:noFill/>
          <a:ln/>
        </p:spPr>
        <p:txBody>
          <a:bodyPr wrap="square" lIns="0" tIns="0" rIns="0" bIns="0" rtlCol="0" anchor="ctr"/>
          <a:lstStyle/>
          <a:p>
            <a:pPr algn="ctr" indent="0" marL="0">
              <a:buNone/>
            </a:pPr>
            <a:r>
              <a:rPr lang="en-US" sz="1300" b="1" dirty="0">
                <a:solidFill>
                  <a:srgbClr val="5A6B82"/>
                </a:solidFill>
                <a:latin typeface="Calibri" pitchFamily="34" charset="0"/>
                <a:ea typeface="Calibri" pitchFamily="34" charset="-122"/>
                <a:cs typeface="Calibri" pitchFamily="34" charset="-120"/>
              </a:rPr>
              <a:t>6</a:t>
            </a:r>
            <a:endParaRPr lang="en-US" sz="1300" dirty="0"/>
          </a:p>
        </p:txBody>
      </p:sp>
      <p:sp>
        <p:nvSpPr>
          <p:cNvPr id="18" name="Shape 16"/>
          <p:cNvSpPr/>
          <p:nvPr/>
        </p:nvSpPr>
        <p:spPr>
          <a:xfrm>
            <a:off x="4937760" y="2103120"/>
            <a:ext cx="640080" cy="640080"/>
          </a:xfrm>
          <a:prstGeom prst="roundRect">
            <a:avLst>
              <a:gd name="adj" fmla="val 8571"/>
            </a:avLst>
          </a:prstGeom>
          <a:solidFill>
            <a:srgbClr val="E3E9F2"/>
          </a:solidFill>
          <a:ln w="6350">
            <a:solidFill>
              <a:srgbClr val="E3E9F2"/>
            </a:solidFill>
            <a:prstDash val="solid"/>
          </a:ln>
        </p:spPr>
      </p:sp>
      <p:sp>
        <p:nvSpPr>
          <p:cNvPr id="19" name="Text 17"/>
          <p:cNvSpPr txBox="1"/>
          <p:nvPr/>
        </p:nvSpPr>
        <p:spPr>
          <a:xfrm>
            <a:off x="4937760" y="2103120"/>
            <a:ext cx="640080" cy="640080"/>
          </a:xfrm>
          <a:prstGeom prst="rect">
            <a:avLst/>
          </a:prstGeom>
          <a:noFill/>
          <a:ln/>
        </p:spPr>
        <p:txBody>
          <a:bodyPr wrap="square" lIns="0" tIns="0" rIns="0" bIns="0" rtlCol="0" anchor="ctr"/>
          <a:lstStyle/>
          <a:p>
            <a:pPr algn="ctr" indent="0" marL="0">
              <a:buNone/>
            </a:pPr>
            <a:r>
              <a:rPr lang="en-US" sz="1300" b="1" dirty="0">
                <a:solidFill>
                  <a:srgbClr val="5A6B82"/>
                </a:solidFill>
                <a:latin typeface="Calibri" pitchFamily="34" charset="0"/>
                <a:ea typeface="Calibri" pitchFamily="34" charset="-122"/>
                <a:cs typeface="Calibri" pitchFamily="34" charset="-120"/>
              </a:rPr>
              <a:t>7</a:t>
            </a:r>
            <a:endParaRPr lang="en-US" sz="1300" dirty="0"/>
          </a:p>
        </p:txBody>
      </p:sp>
      <p:sp>
        <p:nvSpPr>
          <p:cNvPr id="20" name="Shape 18"/>
          <p:cNvSpPr/>
          <p:nvPr/>
        </p:nvSpPr>
        <p:spPr>
          <a:xfrm>
            <a:off x="5669280" y="2103120"/>
            <a:ext cx="640080" cy="640080"/>
          </a:xfrm>
          <a:prstGeom prst="roundRect">
            <a:avLst>
              <a:gd name="adj" fmla="val 8571"/>
            </a:avLst>
          </a:prstGeom>
          <a:solidFill>
            <a:srgbClr val="E3E9F2"/>
          </a:solidFill>
          <a:ln w="6350">
            <a:solidFill>
              <a:srgbClr val="E3E9F2"/>
            </a:solidFill>
            <a:prstDash val="solid"/>
          </a:ln>
        </p:spPr>
      </p:sp>
      <p:sp>
        <p:nvSpPr>
          <p:cNvPr id="21" name="Text 19"/>
          <p:cNvSpPr txBox="1"/>
          <p:nvPr/>
        </p:nvSpPr>
        <p:spPr>
          <a:xfrm>
            <a:off x="5669280" y="2103120"/>
            <a:ext cx="640080" cy="640080"/>
          </a:xfrm>
          <a:prstGeom prst="rect">
            <a:avLst/>
          </a:prstGeom>
          <a:noFill/>
          <a:ln/>
        </p:spPr>
        <p:txBody>
          <a:bodyPr wrap="square" lIns="0" tIns="0" rIns="0" bIns="0" rtlCol="0" anchor="ctr"/>
          <a:lstStyle/>
          <a:p>
            <a:pPr algn="ctr" indent="0" marL="0">
              <a:buNone/>
            </a:pPr>
            <a:r>
              <a:rPr lang="en-US" sz="1300" b="1" dirty="0">
                <a:solidFill>
                  <a:srgbClr val="5A6B82"/>
                </a:solidFill>
                <a:latin typeface="Calibri" pitchFamily="34" charset="0"/>
                <a:ea typeface="Calibri" pitchFamily="34" charset="-122"/>
                <a:cs typeface="Calibri" pitchFamily="34" charset="-120"/>
              </a:rPr>
              <a:t>8</a:t>
            </a:r>
            <a:endParaRPr lang="en-US" sz="1300" dirty="0"/>
          </a:p>
        </p:txBody>
      </p:sp>
      <p:sp>
        <p:nvSpPr>
          <p:cNvPr id="22" name="Shape 20"/>
          <p:cNvSpPr/>
          <p:nvPr/>
        </p:nvSpPr>
        <p:spPr>
          <a:xfrm>
            <a:off x="6400800" y="2103120"/>
            <a:ext cx="640080" cy="640080"/>
          </a:xfrm>
          <a:prstGeom prst="roundRect">
            <a:avLst>
              <a:gd name="adj" fmla="val 8571"/>
            </a:avLst>
          </a:prstGeom>
          <a:solidFill>
            <a:srgbClr val="E3E9F2"/>
          </a:solidFill>
          <a:ln w="6350">
            <a:solidFill>
              <a:srgbClr val="E3E9F2"/>
            </a:solidFill>
            <a:prstDash val="solid"/>
          </a:ln>
        </p:spPr>
      </p:sp>
      <p:sp>
        <p:nvSpPr>
          <p:cNvPr id="23" name="Text 21"/>
          <p:cNvSpPr txBox="1"/>
          <p:nvPr/>
        </p:nvSpPr>
        <p:spPr>
          <a:xfrm>
            <a:off x="6400800" y="2103120"/>
            <a:ext cx="640080" cy="640080"/>
          </a:xfrm>
          <a:prstGeom prst="rect">
            <a:avLst/>
          </a:prstGeom>
          <a:noFill/>
          <a:ln/>
        </p:spPr>
        <p:txBody>
          <a:bodyPr wrap="square" lIns="0" tIns="0" rIns="0" bIns="0" rtlCol="0" anchor="ctr"/>
          <a:lstStyle/>
          <a:p>
            <a:pPr algn="ctr" indent="0" marL="0">
              <a:buNone/>
            </a:pPr>
            <a:r>
              <a:rPr lang="en-US" sz="1300" b="1" dirty="0">
                <a:solidFill>
                  <a:srgbClr val="5A6B82"/>
                </a:solidFill>
                <a:latin typeface="Calibri" pitchFamily="34" charset="0"/>
                <a:ea typeface="Calibri" pitchFamily="34" charset="-122"/>
                <a:cs typeface="Calibri" pitchFamily="34" charset="-120"/>
              </a:rPr>
              <a:t>9</a:t>
            </a:r>
            <a:endParaRPr lang="en-US" sz="1300" dirty="0"/>
          </a:p>
        </p:txBody>
      </p:sp>
      <p:sp>
        <p:nvSpPr>
          <p:cNvPr id="24" name="Shape 22"/>
          <p:cNvSpPr/>
          <p:nvPr/>
        </p:nvSpPr>
        <p:spPr>
          <a:xfrm>
            <a:off x="7132320" y="2103120"/>
            <a:ext cx="640080" cy="640080"/>
          </a:xfrm>
          <a:prstGeom prst="roundRect">
            <a:avLst>
              <a:gd name="adj" fmla="val 8571"/>
            </a:avLst>
          </a:prstGeom>
          <a:solidFill>
            <a:srgbClr val="E3E9F2"/>
          </a:solidFill>
          <a:ln w="6350">
            <a:solidFill>
              <a:srgbClr val="E3E9F2"/>
            </a:solidFill>
            <a:prstDash val="solid"/>
          </a:ln>
        </p:spPr>
      </p:sp>
      <p:sp>
        <p:nvSpPr>
          <p:cNvPr id="25" name="Text 23"/>
          <p:cNvSpPr txBox="1"/>
          <p:nvPr/>
        </p:nvSpPr>
        <p:spPr>
          <a:xfrm>
            <a:off x="7132320" y="2103120"/>
            <a:ext cx="640080" cy="640080"/>
          </a:xfrm>
          <a:prstGeom prst="rect">
            <a:avLst/>
          </a:prstGeom>
          <a:noFill/>
          <a:ln/>
        </p:spPr>
        <p:txBody>
          <a:bodyPr wrap="square" lIns="0" tIns="0" rIns="0" bIns="0" rtlCol="0" anchor="ctr"/>
          <a:lstStyle/>
          <a:p>
            <a:pPr algn="ctr" indent="0" marL="0">
              <a:buNone/>
            </a:pPr>
            <a:r>
              <a:rPr lang="en-US" sz="1300" b="1" dirty="0">
                <a:solidFill>
                  <a:srgbClr val="5A6B82"/>
                </a:solidFill>
                <a:latin typeface="Calibri" pitchFamily="34" charset="0"/>
                <a:ea typeface="Calibri" pitchFamily="34" charset="-122"/>
                <a:cs typeface="Calibri" pitchFamily="34" charset="-120"/>
              </a:rPr>
              <a:t>10</a:t>
            </a:r>
            <a:endParaRPr lang="en-US" sz="1300" dirty="0"/>
          </a:p>
        </p:txBody>
      </p:sp>
      <p:sp>
        <p:nvSpPr>
          <p:cNvPr id="26" name="Text 24"/>
          <p:cNvSpPr txBox="1"/>
          <p:nvPr/>
        </p:nvSpPr>
        <p:spPr>
          <a:xfrm>
            <a:off x="548640" y="3200400"/>
            <a:ext cx="7223760" cy="320040"/>
          </a:xfrm>
          <a:prstGeom prst="rect">
            <a:avLst/>
          </a:prstGeom>
          <a:noFill/>
          <a:ln/>
        </p:spPr>
        <p:txBody>
          <a:bodyPr wrap="square" lIns="0" tIns="0" rIns="0" bIns="0" rtlCol="0" anchor="t"/>
          <a:lstStyle/>
          <a:p>
            <a:pPr indent="0" marL="0">
              <a:buNone/>
            </a:pPr>
            <a:r>
              <a:rPr lang="en-US" sz="1500" b="1" dirty="0">
                <a:solidFill>
                  <a:srgbClr val="0B1F3A"/>
                </a:solidFill>
                <a:latin typeface="Calibri" pitchFamily="34" charset="0"/>
                <a:ea typeface="Calibri" pitchFamily="34" charset="-122"/>
                <a:cs typeface="Calibri" pitchFamily="34" charset="-120"/>
              </a:rPr>
              <a:t>A persistent threat</a:t>
            </a:r>
            <a:endParaRPr lang="en-US" sz="1500" dirty="0"/>
          </a:p>
        </p:txBody>
      </p:sp>
      <p:sp>
        <p:nvSpPr>
          <p:cNvPr id="27" name="Shape 25"/>
          <p:cNvSpPr/>
          <p:nvPr/>
        </p:nvSpPr>
        <p:spPr>
          <a:xfrm>
            <a:off x="548640" y="3611880"/>
            <a:ext cx="640080" cy="640080"/>
          </a:xfrm>
          <a:prstGeom prst="roundRect">
            <a:avLst>
              <a:gd name="adj" fmla="val 8571"/>
            </a:avLst>
          </a:prstGeom>
          <a:solidFill>
            <a:srgbClr val="E3E9F2"/>
          </a:solidFill>
          <a:ln w="6350">
            <a:solidFill>
              <a:srgbClr val="E3E9F2"/>
            </a:solidFill>
            <a:prstDash val="solid"/>
          </a:ln>
        </p:spPr>
      </p:sp>
      <p:sp>
        <p:nvSpPr>
          <p:cNvPr id="28" name="Text 26"/>
          <p:cNvSpPr txBox="1"/>
          <p:nvPr/>
        </p:nvSpPr>
        <p:spPr>
          <a:xfrm>
            <a:off x="548640" y="3611880"/>
            <a:ext cx="640080" cy="640080"/>
          </a:xfrm>
          <a:prstGeom prst="rect">
            <a:avLst/>
          </a:prstGeom>
          <a:noFill/>
          <a:ln/>
        </p:spPr>
        <p:txBody>
          <a:bodyPr wrap="square" lIns="0" tIns="0" rIns="0" bIns="0" rtlCol="0" anchor="ctr"/>
          <a:lstStyle/>
          <a:p>
            <a:pPr algn="ctr" indent="0" marL="0">
              <a:buNone/>
            </a:pPr>
            <a:r>
              <a:rPr lang="en-US" sz="1300" b="1" dirty="0">
                <a:solidFill>
                  <a:srgbClr val="5A6B82"/>
                </a:solidFill>
                <a:latin typeface="Calibri" pitchFamily="34" charset="0"/>
                <a:ea typeface="Calibri" pitchFamily="34" charset="-122"/>
                <a:cs typeface="Calibri" pitchFamily="34" charset="-120"/>
              </a:rPr>
              <a:t>1</a:t>
            </a:r>
            <a:endParaRPr lang="en-US" sz="1300" dirty="0"/>
          </a:p>
        </p:txBody>
      </p:sp>
      <p:sp>
        <p:nvSpPr>
          <p:cNvPr id="29" name="Shape 27"/>
          <p:cNvSpPr/>
          <p:nvPr/>
        </p:nvSpPr>
        <p:spPr>
          <a:xfrm>
            <a:off x="1280160" y="3611880"/>
            <a:ext cx="640080" cy="640080"/>
          </a:xfrm>
          <a:prstGeom prst="roundRect">
            <a:avLst>
              <a:gd name="adj" fmla="val 8571"/>
            </a:avLst>
          </a:prstGeom>
          <a:solidFill>
            <a:srgbClr val="E5484D"/>
          </a:solidFill>
          <a:ln w="6350">
            <a:solidFill>
              <a:srgbClr val="E5484D"/>
            </a:solidFill>
            <a:prstDash val="solid"/>
          </a:ln>
        </p:spPr>
      </p:sp>
      <p:sp>
        <p:nvSpPr>
          <p:cNvPr id="30" name="Text 28"/>
          <p:cNvSpPr txBox="1"/>
          <p:nvPr/>
        </p:nvSpPr>
        <p:spPr>
          <a:xfrm>
            <a:off x="1280160" y="361188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1" name="Shape 29"/>
          <p:cNvSpPr/>
          <p:nvPr/>
        </p:nvSpPr>
        <p:spPr>
          <a:xfrm>
            <a:off x="2011680" y="3611880"/>
            <a:ext cx="640080" cy="640080"/>
          </a:xfrm>
          <a:prstGeom prst="roundRect">
            <a:avLst>
              <a:gd name="adj" fmla="val 8571"/>
            </a:avLst>
          </a:prstGeom>
          <a:solidFill>
            <a:srgbClr val="E5484D"/>
          </a:solidFill>
          <a:ln w="6350">
            <a:solidFill>
              <a:srgbClr val="E5484D"/>
            </a:solidFill>
            <a:prstDash val="solid"/>
          </a:ln>
        </p:spPr>
      </p:sp>
      <p:sp>
        <p:nvSpPr>
          <p:cNvPr id="32" name="Text 30"/>
          <p:cNvSpPr txBox="1"/>
          <p:nvPr/>
        </p:nvSpPr>
        <p:spPr>
          <a:xfrm>
            <a:off x="2011680" y="361188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3" name="Shape 31"/>
          <p:cNvSpPr/>
          <p:nvPr/>
        </p:nvSpPr>
        <p:spPr>
          <a:xfrm>
            <a:off x="2743200" y="3611880"/>
            <a:ext cx="640080" cy="640080"/>
          </a:xfrm>
          <a:prstGeom prst="roundRect">
            <a:avLst>
              <a:gd name="adj" fmla="val 8571"/>
            </a:avLst>
          </a:prstGeom>
          <a:solidFill>
            <a:srgbClr val="E5484D"/>
          </a:solidFill>
          <a:ln w="6350">
            <a:solidFill>
              <a:srgbClr val="E5484D"/>
            </a:solidFill>
            <a:prstDash val="solid"/>
          </a:ln>
        </p:spPr>
      </p:sp>
      <p:sp>
        <p:nvSpPr>
          <p:cNvPr id="34" name="Text 32"/>
          <p:cNvSpPr txBox="1"/>
          <p:nvPr/>
        </p:nvSpPr>
        <p:spPr>
          <a:xfrm>
            <a:off x="2743200" y="361188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5" name="Shape 33"/>
          <p:cNvSpPr/>
          <p:nvPr/>
        </p:nvSpPr>
        <p:spPr>
          <a:xfrm>
            <a:off x="3474720" y="3611880"/>
            <a:ext cx="640080" cy="640080"/>
          </a:xfrm>
          <a:prstGeom prst="roundRect">
            <a:avLst>
              <a:gd name="adj" fmla="val 8571"/>
            </a:avLst>
          </a:prstGeom>
          <a:solidFill>
            <a:srgbClr val="E5484D"/>
          </a:solidFill>
          <a:ln w="6350">
            <a:solidFill>
              <a:srgbClr val="E5484D"/>
            </a:solidFill>
            <a:prstDash val="solid"/>
          </a:ln>
        </p:spPr>
      </p:sp>
      <p:sp>
        <p:nvSpPr>
          <p:cNvPr id="36" name="Text 34"/>
          <p:cNvSpPr txBox="1"/>
          <p:nvPr/>
        </p:nvSpPr>
        <p:spPr>
          <a:xfrm>
            <a:off x="3474720" y="361188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7" name="Shape 35"/>
          <p:cNvSpPr/>
          <p:nvPr/>
        </p:nvSpPr>
        <p:spPr>
          <a:xfrm>
            <a:off x="4206240" y="3611880"/>
            <a:ext cx="640080" cy="640080"/>
          </a:xfrm>
          <a:prstGeom prst="roundRect">
            <a:avLst>
              <a:gd name="adj" fmla="val 8571"/>
            </a:avLst>
          </a:prstGeom>
          <a:solidFill>
            <a:srgbClr val="E5484D"/>
          </a:solidFill>
          <a:ln w="6350">
            <a:solidFill>
              <a:srgbClr val="E5484D"/>
            </a:solidFill>
            <a:prstDash val="solid"/>
          </a:ln>
        </p:spPr>
      </p:sp>
      <p:sp>
        <p:nvSpPr>
          <p:cNvPr id="38" name="Text 36"/>
          <p:cNvSpPr txBox="1"/>
          <p:nvPr/>
        </p:nvSpPr>
        <p:spPr>
          <a:xfrm>
            <a:off x="4206240" y="361188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9" name="Shape 37"/>
          <p:cNvSpPr/>
          <p:nvPr/>
        </p:nvSpPr>
        <p:spPr>
          <a:xfrm>
            <a:off x="4937760" y="3611880"/>
            <a:ext cx="640080" cy="640080"/>
          </a:xfrm>
          <a:prstGeom prst="roundRect">
            <a:avLst>
              <a:gd name="adj" fmla="val 8571"/>
            </a:avLst>
          </a:prstGeom>
          <a:solidFill>
            <a:srgbClr val="E5484D"/>
          </a:solidFill>
          <a:ln w="6350">
            <a:solidFill>
              <a:srgbClr val="E5484D"/>
            </a:solidFill>
            <a:prstDash val="solid"/>
          </a:ln>
        </p:spPr>
      </p:sp>
      <p:sp>
        <p:nvSpPr>
          <p:cNvPr id="40" name="Text 38"/>
          <p:cNvSpPr txBox="1"/>
          <p:nvPr/>
        </p:nvSpPr>
        <p:spPr>
          <a:xfrm>
            <a:off x="4937760" y="361188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1" name="Shape 39"/>
          <p:cNvSpPr/>
          <p:nvPr/>
        </p:nvSpPr>
        <p:spPr>
          <a:xfrm>
            <a:off x="5669280" y="3611880"/>
            <a:ext cx="640080" cy="640080"/>
          </a:xfrm>
          <a:prstGeom prst="roundRect">
            <a:avLst>
              <a:gd name="adj" fmla="val 8571"/>
            </a:avLst>
          </a:prstGeom>
          <a:solidFill>
            <a:srgbClr val="E5484D"/>
          </a:solidFill>
          <a:ln w="6350">
            <a:solidFill>
              <a:srgbClr val="E5484D"/>
            </a:solidFill>
            <a:prstDash val="solid"/>
          </a:ln>
        </p:spPr>
      </p:sp>
      <p:sp>
        <p:nvSpPr>
          <p:cNvPr id="42" name="Text 40"/>
          <p:cNvSpPr txBox="1"/>
          <p:nvPr/>
        </p:nvSpPr>
        <p:spPr>
          <a:xfrm>
            <a:off x="5669280" y="3611880"/>
            <a:ext cx="6400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3" name="Shape 41"/>
          <p:cNvSpPr/>
          <p:nvPr/>
        </p:nvSpPr>
        <p:spPr>
          <a:xfrm>
            <a:off x="6400800" y="3611880"/>
            <a:ext cx="640080" cy="640080"/>
          </a:xfrm>
          <a:prstGeom prst="roundRect">
            <a:avLst>
              <a:gd name="adj" fmla="val 8571"/>
            </a:avLst>
          </a:prstGeom>
          <a:solidFill>
            <a:srgbClr val="E3E9F2"/>
          </a:solidFill>
          <a:ln w="6350">
            <a:solidFill>
              <a:srgbClr val="E3E9F2"/>
            </a:solidFill>
            <a:prstDash val="solid"/>
          </a:ln>
        </p:spPr>
      </p:sp>
      <p:sp>
        <p:nvSpPr>
          <p:cNvPr id="44" name="Text 42"/>
          <p:cNvSpPr txBox="1"/>
          <p:nvPr/>
        </p:nvSpPr>
        <p:spPr>
          <a:xfrm>
            <a:off x="6400800" y="3611880"/>
            <a:ext cx="640080" cy="640080"/>
          </a:xfrm>
          <a:prstGeom prst="rect">
            <a:avLst/>
          </a:prstGeom>
          <a:noFill/>
          <a:ln/>
        </p:spPr>
        <p:txBody>
          <a:bodyPr wrap="square" lIns="0" tIns="0" rIns="0" bIns="0" rtlCol="0" anchor="ctr"/>
          <a:lstStyle/>
          <a:p>
            <a:pPr algn="ctr" indent="0" marL="0">
              <a:buNone/>
            </a:pPr>
            <a:r>
              <a:rPr lang="en-US" sz="1300" b="1" dirty="0">
                <a:solidFill>
                  <a:srgbClr val="5A6B82"/>
                </a:solidFill>
                <a:latin typeface="Calibri" pitchFamily="34" charset="0"/>
                <a:ea typeface="Calibri" pitchFamily="34" charset="-122"/>
                <a:cs typeface="Calibri" pitchFamily="34" charset="-120"/>
              </a:rPr>
              <a:t>9</a:t>
            </a:r>
            <a:endParaRPr lang="en-US" sz="1300" dirty="0"/>
          </a:p>
        </p:txBody>
      </p:sp>
      <p:sp>
        <p:nvSpPr>
          <p:cNvPr id="45" name="Shape 43"/>
          <p:cNvSpPr/>
          <p:nvPr/>
        </p:nvSpPr>
        <p:spPr>
          <a:xfrm>
            <a:off x="7132320" y="3611880"/>
            <a:ext cx="640080" cy="640080"/>
          </a:xfrm>
          <a:prstGeom prst="roundRect">
            <a:avLst>
              <a:gd name="adj" fmla="val 8571"/>
            </a:avLst>
          </a:prstGeom>
          <a:solidFill>
            <a:srgbClr val="E3E9F2"/>
          </a:solidFill>
          <a:ln w="6350">
            <a:solidFill>
              <a:srgbClr val="E3E9F2"/>
            </a:solidFill>
            <a:prstDash val="solid"/>
          </a:ln>
        </p:spPr>
      </p:sp>
      <p:sp>
        <p:nvSpPr>
          <p:cNvPr id="46" name="Text 44"/>
          <p:cNvSpPr txBox="1"/>
          <p:nvPr/>
        </p:nvSpPr>
        <p:spPr>
          <a:xfrm>
            <a:off x="7132320" y="3611880"/>
            <a:ext cx="640080" cy="640080"/>
          </a:xfrm>
          <a:prstGeom prst="rect">
            <a:avLst/>
          </a:prstGeom>
          <a:noFill/>
          <a:ln/>
        </p:spPr>
        <p:txBody>
          <a:bodyPr wrap="square" lIns="0" tIns="0" rIns="0" bIns="0" rtlCol="0" anchor="ctr"/>
          <a:lstStyle/>
          <a:p>
            <a:pPr algn="ctr" indent="0" marL="0">
              <a:buNone/>
            </a:pPr>
            <a:r>
              <a:rPr lang="en-US" sz="1300" b="1" dirty="0">
                <a:solidFill>
                  <a:srgbClr val="5A6B82"/>
                </a:solidFill>
                <a:latin typeface="Calibri" pitchFamily="34" charset="0"/>
                <a:ea typeface="Calibri" pitchFamily="34" charset="-122"/>
                <a:cs typeface="Calibri" pitchFamily="34" charset="-120"/>
              </a:rPr>
              <a:t>10</a:t>
            </a:r>
            <a:endParaRPr lang="en-US" sz="1300" dirty="0"/>
          </a:p>
        </p:txBody>
      </p:sp>
      <p:sp>
        <p:nvSpPr>
          <p:cNvPr id="47" name="Shape 45"/>
          <p:cNvSpPr/>
          <p:nvPr/>
        </p:nvSpPr>
        <p:spPr>
          <a:xfrm>
            <a:off x="8138160" y="1920240"/>
            <a:ext cx="3474720" cy="1005840"/>
          </a:xfrm>
          <a:prstGeom prst="roundRect">
            <a:avLst>
              <a:gd name="adj" fmla="val 10909"/>
            </a:avLst>
          </a:prstGeom>
          <a:solidFill>
            <a:srgbClr val="F3F6FA"/>
          </a:solidFill>
          <a:ln w="12700">
            <a:solidFill>
              <a:srgbClr val="D5DCE6"/>
            </a:solidFill>
            <a:prstDash val="solid"/>
          </a:ln>
        </p:spPr>
      </p:sp>
      <p:sp>
        <p:nvSpPr>
          <p:cNvPr id="48" name="Text 46"/>
          <p:cNvSpPr txBox="1"/>
          <p:nvPr/>
        </p:nvSpPr>
        <p:spPr>
          <a:xfrm>
            <a:off x="8366760" y="2011680"/>
            <a:ext cx="3017520" cy="365760"/>
          </a:xfrm>
          <a:prstGeom prst="rect">
            <a:avLst/>
          </a:prstGeom>
          <a:noFill/>
          <a:ln/>
        </p:spPr>
        <p:txBody>
          <a:bodyPr wrap="square" lIns="0" tIns="0" rIns="0" bIns="0" rtlCol="0" anchor="t"/>
          <a:lstStyle/>
          <a:p>
            <a:pPr indent="0" marL="0">
              <a:buNone/>
            </a:pPr>
            <a:r>
              <a:rPr lang="en-US" sz="1600" b="1" dirty="0">
                <a:solidFill>
                  <a:srgbClr val="0B1F3A"/>
                </a:solidFill>
                <a:latin typeface="Calibri" pitchFamily="34" charset="0"/>
                <a:ea typeface="Calibri" pitchFamily="34" charset="-122"/>
                <a:cs typeface="Calibri" pitchFamily="34" charset="-120"/>
              </a:rPr>
              <a:t>1 of 10 frames</a:t>
            </a:r>
            <a:endParaRPr lang="en-US" sz="1600" dirty="0"/>
          </a:p>
        </p:txBody>
      </p:sp>
      <p:sp>
        <p:nvSpPr>
          <p:cNvPr id="49" name="Text 47"/>
          <p:cNvSpPr txBox="1"/>
          <p:nvPr/>
        </p:nvSpPr>
        <p:spPr>
          <a:xfrm>
            <a:off x="8366760" y="2395728"/>
            <a:ext cx="3017520" cy="365760"/>
          </a:xfrm>
          <a:prstGeom prst="rect">
            <a:avLst/>
          </a:prstGeom>
          <a:noFill/>
          <a:ln/>
        </p:spPr>
        <p:txBody>
          <a:bodyPr wrap="square" lIns="0" tIns="0" rIns="0" bIns="0" rtlCol="0" anchor="t"/>
          <a:lstStyle/>
          <a:p>
            <a:pPr indent="0" marL="0">
              <a:buNone/>
            </a:pPr>
            <a:r>
              <a:rPr lang="en-US" sz="1500" b="1" dirty="0">
                <a:solidFill>
                  <a:srgbClr val="B3383D"/>
                </a:solidFill>
                <a:latin typeface="Calibri" pitchFamily="34" charset="0"/>
                <a:ea typeface="Calibri" pitchFamily="34" charset="-122"/>
                <a:cs typeface="Calibri" pitchFamily="34" charset="-120"/>
              </a:rPr>
              <a:t>Below threshold: rejected</a:t>
            </a:r>
            <a:endParaRPr lang="en-US" sz="1500" dirty="0"/>
          </a:p>
        </p:txBody>
      </p:sp>
      <p:sp>
        <p:nvSpPr>
          <p:cNvPr id="50" name="Shape 48"/>
          <p:cNvSpPr/>
          <p:nvPr/>
        </p:nvSpPr>
        <p:spPr>
          <a:xfrm>
            <a:off x="8138160" y="3429000"/>
            <a:ext cx="3474720" cy="1005840"/>
          </a:xfrm>
          <a:prstGeom prst="roundRect">
            <a:avLst>
              <a:gd name="adj" fmla="val 10909"/>
            </a:avLst>
          </a:prstGeom>
          <a:solidFill>
            <a:srgbClr val="0B1F3A"/>
          </a:solidFill>
          <a:ln w="9525">
            <a:solidFill>
              <a:srgbClr val="0B1F3A"/>
            </a:solidFill>
            <a:prstDash val="solid"/>
          </a:ln>
        </p:spPr>
      </p:sp>
      <p:sp>
        <p:nvSpPr>
          <p:cNvPr id="51" name="Text 49"/>
          <p:cNvSpPr txBox="1"/>
          <p:nvPr/>
        </p:nvSpPr>
        <p:spPr>
          <a:xfrm>
            <a:off x="8366760" y="3520440"/>
            <a:ext cx="301752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7 of 10 frames</a:t>
            </a:r>
            <a:endParaRPr lang="en-US" sz="1600" dirty="0"/>
          </a:p>
        </p:txBody>
      </p:sp>
      <p:sp>
        <p:nvSpPr>
          <p:cNvPr id="52" name="Text 50"/>
          <p:cNvSpPr txBox="1"/>
          <p:nvPr/>
        </p:nvSpPr>
        <p:spPr>
          <a:xfrm>
            <a:off x="8366760" y="3904488"/>
            <a:ext cx="3017520" cy="365760"/>
          </a:xfrm>
          <a:prstGeom prst="rect">
            <a:avLst/>
          </a:prstGeom>
          <a:noFill/>
          <a:ln/>
        </p:spPr>
        <p:txBody>
          <a:bodyPr wrap="square" lIns="0" tIns="0" rIns="0" bIns="0" rtlCol="0" anchor="t"/>
          <a:lstStyle/>
          <a:p>
            <a:pPr indent="0" marL="0">
              <a:buNone/>
            </a:pPr>
            <a:r>
              <a:rPr lang="en-US" sz="1500" b="1" dirty="0">
                <a:solidFill>
                  <a:srgbClr val="C9A227"/>
                </a:solidFill>
                <a:latin typeface="Calibri" pitchFamily="34" charset="0"/>
                <a:ea typeface="Calibri" pitchFamily="34" charset="-122"/>
                <a:cs typeface="Calibri" pitchFamily="34" charset="-120"/>
              </a:rPr>
              <a:t>Threshold of 6 met: alert raised</a:t>
            </a:r>
            <a:endParaRPr lang="en-US" sz="1500" dirty="0"/>
          </a:p>
        </p:txBody>
      </p:sp>
      <p:sp>
        <p:nvSpPr>
          <p:cNvPr id="53" name="Shape 51"/>
          <p:cNvSpPr/>
          <p:nvPr/>
        </p:nvSpPr>
        <p:spPr>
          <a:xfrm>
            <a:off x="548640" y="4754880"/>
            <a:ext cx="3566160" cy="1371600"/>
          </a:xfrm>
          <a:prstGeom prst="roundRect">
            <a:avLst>
              <a:gd name="adj" fmla="val 8000"/>
            </a:avLst>
          </a:prstGeom>
          <a:solidFill>
            <a:srgbClr val="FFFFFF"/>
          </a:solidFill>
          <a:ln w="12700">
            <a:solidFill>
              <a:srgbClr val="D5DCE6"/>
            </a:solidFill>
            <a:prstDash val="solid"/>
          </a:ln>
        </p:spPr>
      </p:sp>
      <p:sp>
        <p:nvSpPr>
          <p:cNvPr id="54" name="Text 52"/>
          <p:cNvSpPr txBox="1"/>
          <p:nvPr/>
        </p:nvSpPr>
        <p:spPr>
          <a:xfrm>
            <a:off x="777240" y="4846320"/>
            <a:ext cx="3108960" cy="320040"/>
          </a:xfrm>
          <a:prstGeom prst="rect">
            <a:avLst/>
          </a:prstGeom>
          <a:noFill/>
          <a:ln/>
        </p:spPr>
        <p:txBody>
          <a:bodyPr wrap="square" lIns="0" tIns="0" rIns="0" bIns="0" rtlCol="0" anchor="t"/>
          <a:lstStyle/>
          <a:p>
            <a:pPr indent="0" marL="0">
              <a:buNone/>
            </a:pPr>
            <a:r>
              <a:rPr lang="en-US" sz="1600" b="1" dirty="0">
                <a:solidFill>
                  <a:srgbClr val="0B1F3A"/>
                </a:solidFill>
                <a:latin typeface="Calibri" pitchFamily="34" charset="0"/>
                <a:ea typeface="Calibri" pitchFamily="34" charset="-122"/>
                <a:cs typeface="Calibri" pitchFamily="34" charset="-120"/>
              </a:rPr>
              <a:t>The rule</a:t>
            </a:r>
            <a:endParaRPr lang="en-US" sz="1600" dirty="0"/>
          </a:p>
        </p:txBody>
      </p:sp>
      <p:sp>
        <p:nvSpPr>
          <p:cNvPr id="55" name="Text 53"/>
          <p:cNvSpPr txBox="1"/>
          <p:nvPr/>
        </p:nvSpPr>
        <p:spPr>
          <a:xfrm>
            <a:off x="777240" y="5193792"/>
            <a:ext cx="3108960" cy="868680"/>
          </a:xfrm>
          <a:prstGeom prst="rect">
            <a:avLst/>
          </a:prstGeom>
          <a:noFill/>
          <a:ln/>
        </p:spPr>
        <p:txBody>
          <a:bodyPr wrap="square" lIns="0" tIns="0" rIns="0" bIns="0" rtlCol="0" anchor="t"/>
          <a:lstStyle/>
          <a:p>
            <a:pPr indent="0" marL="0">
              <a:buNone/>
            </a:pPr>
            <a:r>
              <a:rPr lang="en-US" sz="1300" dirty="0">
                <a:solidFill>
                  <a:srgbClr val="1F2A3C"/>
                </a:solidFill>
                <a:latin typeface="Calibri" pitchFamily="34" charset="0"/>
                <a:ea typeface="Calibri" pitchFamily="34" charset="-122"/>
                <a:cs typeface="Calibri" pitchFamily="34" charset="-120"/>
              </a:rPr>
              <a:t>A threat must persist in N of M consecutive frames (for example 6 of 10) before an alert fires.</a:t>
            </a:r>
            <a:endParaRPr lang="en-US" sz="1300" dirty="0"/>
          </a:p>
        </p:txBody>
      </p:sp>
      <p:sp>
        <p:nvSpPr>
          <p:cNvPr id="56" name="Shape 54"/>
          <p:cNvSpPr/>
          <p:nvPr/>
        </p:nvSpPr>
        <p:spPr>
          <a:xfrm>
            <a:off x="4297680" y="4754880"/>
            <a:ext cx="3566160" cy="1371600"/>
          </a:xfrm>
          <a:prstGeom prst="roundRect">
            <a:avLst>
              <a:gd name="adj" fmla="val 8000"/>
            </a:avLst>
          </a:prstGeom>
          <a:solidFill>
            <a:srgbClr val="FFFFFF"/>
          </a:solidFill>
          <a:ln w="12700">
            <a:solidFill>
              <a:srgbClr val="D5DCE6"/>
            </a:solidFill>
            <a:prstDash val="solid"/>
          </a:ln>
        </p:spPr>
      </p:sp>
      <p:sp>
        <p:nvSpPr>
          <p:cNvPr id="57" name="Text 55"/>
          <p:cNvSpPr txBox="1"/>
          <p:nvPr/>
        </p:nvSpPr>
        <p:spPr>
          <a:xfrm>
            <a:off x="4526280" y="4846320"/>
            <a:ext cx="3108960" cy="320040"/>
          </a:xfrm>
          <a:prstGeom prst="rect">
            <a:avLst/>
          </a:prstGeom>
          <a:noFill/>
          <a:ln/>
        </p:spPr>
        <p:txBody>
          <a:bodyPr wrap="square" lIns="0" tIns="0" rIns="0" bIns="0" rtlCol="0" anchor="t"/>
          <a:lstStyle/>
          <a:p>
            <a:pPr indent="0" marL="0">
              <a:buNone/>
            </a:pPr>
            <a:r>
              <a:rPr lang="en-US" sz="1600" b="1" dirty="0">
                <a:solidFill>
                  <a:srgbClr val="0B1F3A"/>
                </a:solidFill>
                <a:latin typeface="Calibri" pitchFamily="34" charset="0"/>
                <a:ea typeface="Calibri" pitchFamily="34" charset="-122"/>
                <a:cs typeface="Calibri" pitchFamily="34" charset="-120"/>
              </a:rPr>
              <a:t>Same object</a:t>
            </a:r>
            <a:endParaRPr lang="en-US" sz="1600" dirty="0"/>
          </a:p>
        </p:txBody>
      </p:sp>
      <p:sp>
        <p:nvSpPr>
          <p:cNvPr id="58" name="Text 56"/>
          <p:cNvSpPr txBox="1"/>
          <p:nvPr/>
        </p:nvSpPr>
        <p:spPr>
          <a:xfrm>
            <a:off x="4526280" y="5193792"/>
            <a:ext cx="3108960" cy="868680"/>
          </a:xfrm>
          <a:prstGeom prst="rect">
            <a:avLst/>
          </a:prstGeom>
          <a:noFill/>
          <a:ln/>
        </p:spPr>
        <p:txBody>
          <a:bodyPr wrap="square" lIns="0" tIns="0" rIns="0" bIns="0" rtlCol="0" anchor="t"/>
          <a:lstStyle/>
          <a:p>
            <a:pPr indent="0" marL="0">
              <a:buNone/>
            </a:pPr>
            <a:r>
              <a:rPr lang="en-US" sz="1300" dirty="0">
                <a:solidFill>
                  <a:srgbClr val="1F2A3C"/>
                </a:solidFill>
                <a:latin typeface="Calibri" pitchFamily="34" charset="0"/>
                <a:ea typeface="Calibri" pitchFamily="34" charset="-122"/>
                <a:cs typeface="Calibri" pitchFamily="34" charset="-120"/>
              </a:rPr>
              <a:t>Intersection over Union (IoU) tracking confirms that the detections belong to the same object.</a:t>
            </a:r>
            <a:endParaRPr lang="en-US" sz="1300" dirty="0"/>
          </a:p>
        </p:txBody>
      </p:sp>
      <p:sp>
        <p:nvSpPr>
          <p:cNvPr id="59" name="Shape 57"/>
          <p:cNvSpPr/>
          <p:nvPr/>
        </p:nvSpPr>
        <p:spPr>
          <a:xfrm>
            <a:off x="8046720" y="4754880"/>
            <a:ext cx="3566160" cy="1371600"/>
          </a:xfrm>
          <a:prstGeom prst="roundRect">
            <a:avLst>
              <a:gd name="adj" fmla="val 8000"/>
            </a:avLst>
          </a:prstGeom>
          <a:solidFill>
            <a:srgbClr val="FFFFFF"/>
          </a:solidFill>
          <a:ln w="12700">
            <a:solidFill>
              <a:srgbClr val="D5DCE6"/>
            </a:solidFill>
            <a:prstDash val="solid"/>
          </a:ln>
        </p:spPr>
      </p:sp>
      <p:sp>
        <p:nvSpPr>
          <p:cNvPr id="60" name="Text 58"/>
          <p:cNvSpPr txBox="1"/>
          <p:nvPr/>
        </p:nvSpPr>
        <p:spPr>
          <a:xfrm>
            <a:off x="8275320" y="4846320"/>
            <a:ext cx="3108960" cy="320040"/>
          </a:xfrm>
          <a:prstGeom prst="rect">
            <a:avLst/>
          </a:prstGeom>
          <a:noFill/>
          <a:ln/>
        </p:spPr>
        <p:txBody>
          <a:bodyPr wrap="square" lIns="0" tIns="0" rIns="0" bIns="0" rtlCol="0" anchor="t"/>
          <a:lstStyle/>
          <a:p>
            <a:pPr indent="0" marL="0">
              <a:buNone/>
            </a:pPr>
            <a:r>
              <a:rPr lang="en-US" sz="1600" b="1" dirty="0">
                <a:solidFill>
                  <a:srgbClr val="0B1F3A"/>
                </a:solidFill>
                <a:latin typeface="Calibri" pitchFamily="34" charset="0"/>
                <a:ea typeface="Calibri" pitchFamily="34" charset="-122"/>
                <a:cs typeface="Calibri" pitchFamily="34" charset="-120"/>
              </a:rPr>
              <a:t>Low overhead</a:t>
            </a:r>
            <a:endParaRPr lang="en-US" sz="1600" dirty="0"/>
          </a:p>
        </p:txBody>
      </p:sp>
      <p:sp>
        <p:nvSpPr>
          <p:cNvPr id="61" name="Text 59"/>
          <p:cNvSpPr txBox="1"/>
          <p:nvPr/>
        </p:nvSpPr>
        <p:spPr>
          <a:xfrm>
            <a:off x="8275320" y="5193792"/>
            <a:ext cx="3108960" cy="868680"/>
          </a:xfrm>
          <a:prstGeom prst="rect">
            <a:avLst/>
          </a:prstGeom>
          <a:noFill/>
          <a:ln/>
        </p:spPr>
        <p:txBody>
          <a:bodyPr wrap="square" lIns="0" tIns="0" rIns="0" bIns="0" rtlCol="0" anchor="t"/>
          <a:lstStyle/>
          <a:p>
            <a:pPr indent="0" marL="0">
              <a:buNone/>
            </a:pPr>
            <a:r>
              <a:rPr lang="en-US" sz="1300" dirty="0">
                <a:solidFill>
                  <a:srgbClr val="1F2A3C"/>
                </a:solidFill>
                <a:latin typeface="Calibri" pitchFamily="34" charset="0"/>
                <a:ea typeface="Calibri" pitchFamily="34" charset="-122"/>
                <a:cs typeface="Calibri" pitchFamily="34" charset="-120"/>
              </a:rPr>
              <a:t>Simple buffer logic, with no extra neural network, adds negligible processing time.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B1F3A"/>
                </a:solidFill>
                <a:latin typeface="Cambria" pitchFamily="34" charset="0"/>
                <a:ea typeface="Cambria" pitchFamily="34" charset="-122"/>
                <a:cs typeface="Cambria" pitchFamily="34" charset="-120"/>
              </a:rPr>
              <a:t>Technology Stack</a:t>
            </a:r>
            <a:endParaRPr lang="en-US" sz="3400" dirty="0"/>
          </a:p>
        </p:txBody>
      </p:sp>
      <p:sp>
        <p:nvSpPr>
          <p:cNvPr id="3" name="Text 1"/>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A6B82"/>
                </a:solidFill>
                <a:latin typeface="Calibri" pitchFamily="34" charset="0"/>
                <a:ea typeface="Calibri" pitchFamily="34" charset="-122"/>
                <a:cs typeface="Calibri" pitchFamily="34" charset="-120"/>
              </a:rPr>
              <a:t>SENTINEL  |  FYP-I Defense  |  FAST-NUCES</a:t>
            </a:r>
            <a:endParaRPr lang="en-US" sz="1000" dirty="0"/>
          </a:p>
        </p:txBody>
      </p:sp>
      <p:sp>
        <p:nvSpPr>
          <p:cNvPr id="4" name="Text 2"/>
          <p:cNvSpPr txBox="1"/>
          <p:nvPr/>
        </p:nvSpPr>
        <p:spPr>
          <a:xfrm>
            <a:off x="10698480" y="6400800"/>
            <a:ext cx="914400" cy="22860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48640" y="1554480"/>
            <a:ext cx="11064240" cy="960120"/>
          </a:xfrm>
          <a:prstGeom prst="roundRect">
            <a:avLst>
              <a:gd name="adj" fmla="val 11429"/>
            </a:avLst>
          </a:prstGeom>
          <a:solidFill>
            <a:srgbClr val="F3F6FA"/>
          </a:solidFill>
          <a:ln w="9525">
            <a:solidFill>
              <a:srgbClr val="F3F6FA"/>
            </a:solidFill>
            <a:prstDash val="solid"/>
          </a:ln>
        </p:spPr>
      </p:sp>
      <p:sp>
        <p:nvSpPr>
          <p:cNvPr id="6" name="Shape 4"/>
          <p:cNvSpPr/>
          <p:nvPr/>
        </p:nvSpPr>
        <p:spPr>
          <a:xfrm>
            <a:off x="548640" y="1554480"/>
            <a:ext cx="3108960" cy="960120"/>
          </a:xfrm>
          <a:prstGeom prst="roundRect">
            <a:avLst>
              <a:gd name="adj" fmla="val 11429"/>
            </a:avLst>
          </a:prstGeom>
          <a:solidFill>
            <a:srgbClr val="0B1F3A"/>
          </a:solidFill>
          <a:ln w="9525">
            <a:solidFill>
              <a:srgbClr val="0B1F3A"/>
            </a:solidFill>
            <a:prstDash val="solid"/>
          </a:ln>
        </p:spPr>
      </p:sp>
      <p:sp>
        <p:nvSpPr>
          <p:cNvPr id="7" name="Shape 5"/>
          <p:cNvSpPr/>
          <p:nvPr/>
        </p:nvSpPr>
        <p:spPr>
          <a:xfrm>
            <a:off x="777240" y="1737360"/>
            <a:ext cx="594360" cy="594360"/>
          </a:xfrm>
          <a:prstGeom prst="ellipse">
            <a:avLst/>
          </a:prstGeom>
          <a:solidFill>
            <a:srgbClr val="FFFFFF"/>
          </a:solidFill>
          <a:ln w="635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925830" y="1885950"/>
            <a:ext cx="297180" cy="297180"/>
          </a:xfrm>
          <a:prstGeom prst="rect">
            <a:avLst/>
          </a:prstGeom>
        </p:spPr>
      </p:pic>
      <p:sp>
        <p:nvSpPr>
          <p:cNvPr id="9" name="Text 6"/>
          <p:cNvSpPr txBox="1"/>
          <p:nvPr/>
        </p:nvSpPr>
        <p:spPr>
          <a:xfrm>
            <a:off x="1554480" y="1554480"/>
            <a:ext cx="2011680" cy="9601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Frontend</a:t>
            </a:r>
            <a:endParaRPr lang="en-US" sz="1800" dirty="0"/>
          </a:p>
        </p:txBody>
      </p:sp>
      <p:sp>
        <p:nvSpPr>
          <p:cNvPr id="10" name="Shape 7"/>
          <p:cNvSpPr/>
          <p:nvPr/>
        </p:nvSpPr>
        <p:spPr>
          <a:xfrm>
            <a:off x="3931920" y="1801368"/>
            <a:ext cx="1463040" cy="475488"/>
          </a:xfrm>
          <a:prstGeom prst="roundRect">
            <a:avLst>
              <a:gd name="adj" fmla="val 15385"/>
            </a:avLst>
          </a:prstGeom>
          <a:solidFill>
            <a:srgbClr val="FFFFFF"/>
          </a:solidFill>
          <a:ln w="9525">
            <a:solidFill>
              <a:srgbClr val="D5DCE6"/>
            </a:solidFill>
            <a:prstDash val="solid"/>
          </a:ln>
        </p:spPr>
      </p:sp>
      <p:sp>
        <p:nvSpPr>
          <p:cNvPr id="11" name="Text 8"/>
          <p:cNvSpPr txBox="1"/>
          <p:nvPr/>
        </p:nvSpPr>
        <p:spPr>
          <a:xfrm>
            <a:off x="3931920" y="1801368"/>
            <a:ext cx="1463040" cy="475488"/>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React</a:t>
            </a:r>
            <a:endParaRPr lang="en-US" sz="1400" dirty="0"/>
          </a:p>
        </p:txBody>
      </p:sp>
      <p:sp>
        <p:nvSpPr>
          <p:cNvPr id="12" name="Shape 9"/>
          <p:cNvSpPr/>
          <p:nvPr/>
        </p:nvSpPr>
        <p:spPr>
          <a:xfrm>
            <a:off x="5577840" y="1801368"/>
            <a:ext cx="1463040" cy="475488"/>
          </a:xfrm>
          <a:prstGeom prst="roundRect">
            <a:avLst>
              <a:gd name="adj" fmla="val 15385"/>
            </a:avLst>
          </a:prstGeom>
          <a:solidFill>
            <a:srgbClr val="FFFFFF"/>
          </a:solidFill>
          <a:ln w="9525">
            <a:solidFill>
              <a:srgbClr val="D5DCE6"/>
            </a:solidFill>
            <a:prstDash val="solid"/>
          </a:ln>
        </p:spPr>
      </p:sp>
      <p:sp>
        <p:nvSpPr>
          <p:cNvPr id="13" name="Text 10"/>
          <p:cNvSpPr txBox="1"/>
          <p:nvPr/>
        </p:nvSpPr>
        <p:spPr>
          <a:xfrm>
            <a:off x="5577840" y="1801368"/>
            <a:ext cx="1463040" cy="475488"/>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Vite</a:t>
            </a:r>
            <a:endParaRPr lang="en-US" sz="1400" dirty="0"/>
          </a:p>
        </p:txBody>
      </p:sp>
      <p:sp>
        <p:nvSpPr>
          <p:cNvPr id="14" name="Shape 11"/>
          <p:cNvSpPr/>
          <p:nvPr/>
        </p:nvSpPr>
        <p:spPr>
          <a:xfrm>
            <a:off x="7223760" y="1801368"/>
            <a:ext cx="2816352" cy="475488"/>
          </a:xfrm>
          <a:prstGeom prst="roundRect">
            <a:avLst>
              <a:gd name="adj" fmla="val 15385"/>
            </a:avLst>
          </a:prstGeom>
          <a:solidFill>
            <a:srgbClr val="FFFFFF"/>
          </a:solidFill>
          <a:ln w="9525">
            <a:solidFill>
              <a:srgbClr val="D5DCE6"/>
            </a:solidFill>
            <a:prstDash val="solid"/>
          </a:ln>
        </p:spPr>
      </p:sp>
      <p:sp>
        <p:nvSpPr>
          <p:cNvPr id="15" name="Text 12"/>
          <p:cNvSpPr txBox="1"/>
          <p:nvPr/>
        </p:nvSpPr>
        <p:spPr>
          <a:xfrm>
            <a:off x="7223760" y="1801368"/>
            <a:ext cx="2816352" cy="475488"/>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HTML5 Canvas overlays</a:t>
            </a:r>
            <a:endParaRPr lang="en-US" sz="1400" dirty="0"/>
          </a:p>
        </p:txBody>
      </p:sp>
      <p:sp>
        <p:nvSpPr>
          <p:cNvPr id="16" name="Shape 13"/>
          <p:cNvSpPr/>
          <p:nvPr/>
        </p:nvSpPr>
        <p:spPr>
          <a:xfrm>
            <a:off x="548640" y="2697480"/>
            <a:ext cx="11064240" cy="960120"/>
          </a:xfrm>
          <a:prstGeom prst="roundRect">
            <a:avLst>
              <a:gd name="adj" fmla="val 11429"/>
            </a:avLst>
          </a:prstGeom>
          <a:solidFill>
            <a:srgbClr val="F3F6FA"/>
          </a:solidFill>
          <a:ln w="9525">
            <a:solidFill>
              <a:srgbClr val="F3F6FA"/>
            </a:solidFill>
            <a:prstDash val="solid"/>
          </a:ln>
        </p:spPr>
      </p:sp>
      <p:sp>
        <p:nvSpPr>
          <p:cNvPr id="17" name="Shape 14"/>
          <p:cNvSpPr/>
          <p:nvPr/>
        </p:nvSpPr>
        <p:spPr>
          <a:xfrm>
            <a:off x="548640" y="2697480"/>
            <a:ext cx="3108960" cy="960120"/>
          </a:xfrm>
          <a:prstGeom prst="roundRect">
            <a:avLst>
              <a:gd name="adj" fmla="val 11429"/>
            </a:avLst>
          </a:prstGeom>
          <a:solidFill>
            <a:srgbClr val="1B3A6B"/>
          </a:solidFill>
          <a:ln w="9525">
            <a:solidFill>
              <a:srgbClr val="1B3A6B"/>
            </a:solidFill>
            <a:prstDash val="solid"/>
          </a:ln>
        </p:spPr>
      </p:sp>
      <p:sp>
        <p:nvSpPr>
          <p:cNvPr id="18" name="Shape 15"/>
          <p:cNvSpPr/>
          <p:nvPr/>
        </p:nvSpPr>
        <p:spPr>
          <a:xfrm>
            <a:off x="777240" y="2880360"/>
            <a:ext cx="594360" cy="594360"/>
          </a:xfrm>
          <a:prstGeom prst="ellipse">
            <a:avLst/>
          </a:prstGeom>
          <a:solidFill>
            <a:srgbClr val="FFFFFF"/>
          </a:solidFill>
          <a:ln w="6350">
            <a:solidFill>
              <a:srgbClr val="FFFFFF"/>
            </a:solidFill>
            <a:prstDash val="solid"/>
          </a:ln>
        </p:spPr>
      </p:sp>
      <p:pic>
        <p:nvPicPr>
          <p:cNvPr id="19" name="Image 1" descr="preencoded.png">    </p:cNvPr>
          <p:cNvPicPr>
            <a:picLocks noChangeAspect="1"/>
          </p:cNvPicPr>
          <p:nvPr/>
        </p:nvPicPr>
        <p:blipFill>
          <a:blip r:embed="rId2"/>
          <a:stretch>
            <a:fillRect/>
          </a:stretch>
        </p:blipFill>
        <p:spPr>
          <a:xfrm>
            <a:off x="925830" y="3028950"/>
            <a:ext cx="297180" cy="297180"/>
          </a:xfrm>
          <a:prstGeom prst="rect">
            <a:avLst/>
          </a:prstGeom>
        </p:spPr>
      </p:pic>
      <p:sp>
        <p:nvSpPr>
          <p:cNvPr id="20" name="Text 16"/>
          <p:cNvSpPr txBox="1"/>
          <p:nvPr/>
        </p:nvSpPr>
        <p:spPr>
          <a:xfrm>
            <a:off x="1554480" y="2697480"/>
            <a:ext cx="2011680" cy="9601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Communication</a:t>
            </a:r>
            <a:endParaRPr lang="en-US" sz="1800" dirty="0"/>
          </a:p>
        </p:txBody>
      </p:sp>
      <p:sp>
        <p:nvSpPr>
          <p:cNvPr id="21" name="Shape 17"/>
          <p:cNvSpPr/>
          <p:nvPr/>
        </p:nvSpPr>
        <p:spPr>
          <a:xfrm>
            <a:off x="3931920" y="2944368"/>
            <a:ext cx="4005072" cy="475488"/>
          </a:xfrm>
          <a:prstGeom prst="roundRect">
            <a:avLst>
              <a:gd name="adj" fmla="val 15385"/>
            </a:avLst>
          </a:prstGeom>
          <a:solidFill>
            <a:srgbClr val="FFFFFF"/>
          </a:solidFill>
          <a:ln w="9525">
            <a:solidFill>
              <a:srgbClr val="D5DCE6"/>
            </a:solidFill>
            <a:prstDash val="solid"/>
          </a:ln>
        </p:spPr>
      </p:sp>
      <p:sp>
        <p:nvSpPr>
          <p:cNvPr id="22" name="Text 18"/>
          <p:cNvSpPr txBox="1"/>
          <p:nvPr/>
        </p:nvSpPr>
        <p:spPr>
          <a:xfrm>
            <a:off x="3931920" y="2944368"/>
            <a:ext cx="4005072" cy="475488"/>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WebSockets (low-latency alerts)</a:t>
            </a:r>
            <a:endParaRPr lang="en-US" sz="1400" dirty="0"/>
          </a:p>
        </p:txBody>
      </p:sp>
      <p:sp>
        <p:nvSpPr>
          <p:cNvPr id="23" name="Shape 19"/>
          <p:cNvSpPr/>
          <p:nvPr/>
        </p:nvSpPr>
        <p:spPr>
          <a:xfrm>
            <a:off x="548640" y="3840480"/>
            <a:ext cx="11064240" cy="960120"/>
          </a:xfrm>
          <a:prstGeom prst="roundRect">
            <a:avLst>
              <a:gd name="adj" fmla="val 11429"/>
            </a:avLst>
          </a:prstGeom>
          <a:solidFill>
            <a:srgbClr val="F3F6FA"/>
          </a:solidFill>
          <a:ln w="9525">
            <a:solidFill>
              <a:srgbClr val="F3F6FA"/>
            </a:solidFill>
            <a:prstDash val="solid"/>
          </a:ln>
        </p:spPr>
      </p:sp>
      <p:sp>
        <p:nvSpPr>
          <p:cNvPr id="24" name="Shape 20"/>
          <p:cNvSpPr/>
          <p:nvPr/>
        </p:nvSpPr>
        <p:spPr>
          <a:xfrm>
            <a:off x="548640" y="3840480"/>
            <a:ext cx="3108960" cy="960120"/>
          </a:xfrm>
          <a:prstGeom prst="roundRect">
            <a:avLst>
              <a:gd name="adj" fmla="val 11429"/>
            </a:avLst>
          </a:prstGeom>
          <a:solidFill>
            <a:srgbClr val="0B1F3A"/>
          </a:solidFill>
          <a:ln w="9525">
            <a:solidFill>
              <a:srgbClr val="0B1F3A"/>
            </a:solidFill>
            <a:prstDash val="solid"/>
          </a:ln>
        </p:spPr>
      </p:sp>
      <p:sp>
        <p:nvSpPr>
          <p:cNvPr id="25" name="Shape 21"/>
          <p:cNvSpPr/>
          <p:nvPr/>
        </p:nvSpPr>
        <p:spPr>
          <a:xfrm>
            <a:off x="777240" y="4023360"/>
            <a:ext cx="594360" cy="594360"/>
          </a:xfrm>
          <a:prstGeom prst="ellipse">
            <a:avLst/>
          </a:prstGeom>
          <a:solidFill>
            <a:srgbClr val="FFFFFF"/>
          </a:solidFill>
          <a:ln w="6350">
            <a:solidFill>
              <a:srgbClr val="FFFFFF"/>
            </a:solidFill>
            <a:prstDash val="solid"/>
          </a:ln>
        </p:spPr>
      </p:sp>
      <p:pic>
        <p:nvPicPr>
          <p:cNvPr id="26" name="Image 2" descr="preencoded.png">    </p:cNvPr>
          <p:cNvPicPr>
            <a:picLocks noChangeAspect="1"/>
          </p:cNvPicPr>
          <p:nvPr/>
        </p:nvPicPr>
        <p:blipFill>
          <a:blip r:embed="rId3"/>
          <a:stretch>
            <a:fillRect/>
          </a:stretch>
        </p:blipFill>
        <p:spPr>
          <a:xfrm>
            <a:off x="925830" y="4171950"/>
            <a:ext cx="297180" cy="297180"/>
          </a:xfrm>
          <a:prstGeom prst="rect">
            <a:avLst/>
          </a:prstGeom>
        </p:spPr>
      </p:pic>
      <p:sp>
        <p:nvSpPr>
          <p:cNvPr id="27" name="Text 22"/>
          <p:cNvSpPr txBox="1"/>
          <p:nvPr/>
        </p:nvSpPr>
        <p:spPr>
          <a:xfrm>
            <a:off x="1554480" y="3840480"/>
            <a:ext cx="2011680" cy="9601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Backend</a:t>
            </a:r>
            <a:endParaRPr lang="en-US" sz="1800" dirty="0"/>
          </a:p>
        </p:txBody>
      </p:sp>
      <p:sp>
        <p:nvSpPr>
          <p:cNvPr id="28" name="Shape 23"/>
          <p:cNvSpPr/>
          <p:nvPr/>
        </p:nvSpPr>
        <p:spPr>
          <a:xfrm>
            <a:off x="3931920" y="4087368"/>
            <a:ext cx="2103120" cy="475488"/>
          </a:xfrm>
          <a:prstGeom prst="roundRect">
            <a:avLst>
              <a:gd name="adj" fmla="val 15385"/>
            </a:avLst>
          </a:prstGeom>
          <a:solidFill>
            <a:srgbClr val="FFFFFF"/>
          </a:solidFill>
          <a:ln w="9525">
            <a:solidFill>
              <a:srgbClr val="D5DCE6"/>
            </a:solidFill>
            <a:prstDash val="solid"/>
          </a:ln>
        </p:spPr>
      </p:sp>
      <p:sp>
        <p:nvSpPr>
          <p:cNvPr id="29" name="Text 24"/>
          <p:cNvSpPr txBox="1"/>
          <p:nvPr/>
        </p:nvSpPr>
        <p:spPr>
          <a:xfrm>
            <a:off x="3931920" y="4087368"/>
            <a:ext cx="2103120" cy="475488"/>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FastAPI (async)</a:t>
            </a:r>
            <a:endParaRPr lang="en-US" sz="1400" dirty="0"/>
          </a:p>
        </p:txBody>
      </p:sp>
      <p:sp>
        <p:nvSpPr>
          <p:cNvPr id="30" name="Shape 25"/>
          <p:cNvSpPr/>
          <p:nvPr/>
        </p:nvSpPr>
        <p:spPr>
          <a:xfrm>
            <a:off x="6217920" y="4087368"/>
            <a:ext cx="1463040" cy="475488"/>
          </a:xfrm>
          <a:prstGeom prst="roundRect">
            <a:avLst>
              <a:gd name="adj" fmla="val 15385"/>
            </a:avLst>
          </a:prstGeom>
          <a:solidFill>
            <a:srgbClr val="FFFFFF"/>
          </a:solidFill>
          <a:ln w="9525">
            <a:solidFill>
              <a:srgbClr val="D5DCE6"/>
            </a:solidFill>
            <a:prstDash val="solid"/>
          </a:ln>
        </p:spPr>
      </p:sp>
      <p:sp>
        <p:nvSpPr>
          <p:cNvPr id="31" name="Text 26"/>
          <p:cNvSpPr txBox="1"/>
          <p:nvPr/>
        </p:nvSpPr>
        <p:spPr>
          <a:xfrm>
            <a:off x="6217920" y="4087368"/>
            <a:ext cx="1463040" cy="475488"/>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OpenCV</a:t>
            </a:r>
            <a:endParaRPr lang="en-US" sz="1400" dirty="0"/>
          </a:p>
        </p:txBody>
      </p:sp>
      <p:sp>
        <p:nvSpPr>
          <p:cNvPr id="32" name="Shape 27"/>
          <p:cNvSpPr/>
          <p:nvPr/>
        </p:nvSpPr>
        <p:spPr>
          <a:xfrm>
            <a:off x="7863840" y="4087368"/>
            <a:ext cx="1463040" cy="475488"/>
          </a:xfrm>
          <a:prstGeom prst="roundRect">
            <a:avLst>
              <a:gd name="adj" fmla="val 15385"/>
            </a:avLst>
          </a:prstGeom>
          <a:solidFill>
            <a:srgbClr val="FFFFFF"/>
          </a:solidFill>
          <a:ln w="9525">
            <a:solidFill>
              <a:srgbClr val="D5DCE6"/>
            </a:solidFill>
            <a:prstDash val="solid"/>
          </a:ln>
        </p:spPr>
      </p:sp>
      <p:sp>
        <p:nvSpPr>
          <p:cNvPr id="33" name="Text 28"/>
          <p:cNvSpPr txBox="1"/>
          <p:nvPr/>
        </p:nvSpPr>
        <p:spPr>
          <a:xfrm>
            <a:off x="7863840" y="4087368"/>
            <a:ext cx="1463040" cy="475488"/>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SQLite</a:t>
            </a:r>
            <a:endParaRPr lang="en-US" sz="1400" dirty="0"/>
          </a:p>
        </p:txBody>
      </p:sp>
      <p:sp>
        <p:nvSpPr>
          <p:cNvPr id="34" name="Shape 29"/>
          <p:cNvSpPr/>
          <p:nvPr/>
        </p:nvSpPr>
        <p:spPr>
          <a:xfrm>
            <a:off x="548640" y="4983480"/>
            <a:ext cx="11064240" cy="960120"/>
          </a:xfrm>
          <a:prstGeom prst="roundRect">
            <a:avLst>
              <a:gd name="adj" fmla="val 11429"/>
            </a:avLst>
          </a:prstGeom>
          <a:solidFill>
            <a:srgbClr val="F3F6FA"/>
          </a:solidFill>
          <a:ln w="9525">
            <a:solidFill>
              <a:srgbClr val="F3F6FA"/>
            </a:solidFill>
            <a:prstDash val="solid"/>
          </a:ln>
        </p:spPr>
      </p:sp>
      <p:sp>
        <p:nvSpPr>
          <p:cNvPr id="35" name="Shape 30"/>
          <p:cNvSpPr/>
          <p:nvPr/>
        </p:nvSpPr>
        <p:spPr>
          <a:xfrm>
            <a:off x="548640" y="4983480"/>
            <a:ext cx="3108960" cy="960120"/>
          </a:xfrm>
          <a:prstGeom prst="roundRect">
            <a:avLst>
              <a:gd name="adj" fmla="val 11429"/>
            </a:avLst>
          </a:prstGeom>
          <a:solidFill>
            <a:srgbClr val="1B3A6B"/>
          </a:solidFill>
          <a:ln w="9525">
            <a:solidFill>
              <a:srgbClr val="1B3A6B"/>
            </a:solidFill>
            <a:prstDash val="solid"/>
          </a:ln>
        </p:spPr>
      </p:sp>
      <p:sp>
        <p:nvSpPr>
          <p:cNvPr id="36" name="Shape 31"/>
          <p:cNvSpPr/>
          <p:nvPr/>
        </p:nvSpPr>
        <p:spPr>
          <a:xfrm>
            <a:off x="777240" y="5166360"/>
            <a:ext cx="594360" cy="594360"/>
          </a:xfrm>
          <a:prstGeom prst="ellipse">
            <a:avLst/>
          </a:prstGeom>
          <a:solidFill>
            <a:srgbClr val="FFFFFF"/>
          </a:solidFill>
          <a:ln w="6350">
            <a:solidFill>
              <a:srgbClr val="FFFFFF"/>
            </a:solidFill>
            <a:prstDash val="solid"/>
          </a:ln>
        </p:spPr>
      </p:sp>
      <p:pic>
        <p:nvPicPr>
          <p:cNvPr id="37" name="Image 3" descr="preencoded.png">    </p:cNvPr>
          <p:cNvPicPr>
            <a:picLocks noChangeAspect="1"/>
          </p:cNvPicPr>
          <p:nvPr/>
        </p:nvPicPr>
        <p:blipFill>
          <a:blip r:embed="rId4"/>
          <a:stretch>
            <a:fillRect/>
          </a:stretch>
        </p:blipFill>
        <p:spPr>
          <a:xfrm>
            <a:off x="925830" y="5314950"/>
            <a:ext cx="297180" cy="297180"/>
          </a:xfrm>
          <a:prstGeom prst="rect">
            <a:avLst/>
          </a:prstGeom>
        </p:spPr>
      </p:pic>
      <p:sp>
        <p:nvSpPr>
          <p:cNvPr id="38" name="Text 32"/>
          <p:cNvSpPr txBox="1"/>
          <p:nvPr/>
        </p:nvSpPr>
        <p:spPr>
          <a:xfrm>
            <a:off x="1554480" y="4983480"/>
            <a:ext cx="2011680" cy="9601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AI and Modeling</a:t>
            </a:r>
            <a:endParaRPr lang="en-US" sz="1800" dirty="0"/>
          </a:p>
        </p:txBody>
      </p:sp>
      <p:sp>
        <p:nvSpPr>
          <p:cNvPr id="39" name="Shape 33"/>
          <p:cNvSpPr/>
          <p:nvPr/>
        </p:nvSpPr>
        <p:spPr>
          <a:xfrm>
            <a:off x="3931920" y="5230368"/>
            <a:ext cx="1463040" cy="475488"/>
          </a:xfrm>
          <a:prstGeom prst="roundRect">
            <a:avLst>
              <a:gd name="adj" fmla="val 15385"/>
            </a:avLst>
          </a:prstGeom>
          <a:solidFill>
            <a:srgbClr val="FFFFFF"/>
          </a:solidFill>
          <a:ln w="9525">
            <a:solidFill>
              <a:srgbClr val="D5DCE6"/>
            </a:solidFill>
            <a:prstDash val="solid"/>
          </a:ln>
        </p:spPr>
      </p:sp>
      <p:sp>
        <p:nvSpPr>
          <p:cNvPr id="40" name="Text 34"/>
          <p:cNvSpPr txBox="1"/>
          <p:nvPr/>
        </p:nvSpPr>
        <p:spPr>
          <a:xfrm>
            <a:off x="3931920" y="5230368"/>
            <a:ext cx="1463040" cy="475488"/>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Python</a:t>
            </a:r>
            <a:endParaRPr lang="en-US" sz="1400" dirty="0"/>
          </a:p>
        </p:txBody>
      </p:sp>
      <p:sp>
        <p:nvSpPr>
          <p:cNvPr id="41" name="Shape 35"/>
          <p:cNvSpPr/>
          <p:nvPr/>
        </p:nvSpPr>
        <p:spPr>
          <a:xfrm>
            <a:off x="5577840" y="5230368"/>
            <a:ext cx="1463040" cy="475488"/>
          </a:xfrm>
          <a:prstGeom prst="roundRect">
            <a:avLst>
              <a:gd name="adj" fmla="val 15385"/>
            </a:avLst>
          </a:prstGeom>
          <a:solidFill>
            <a:srgbClr val="FFFFFF"/>
          </a:solidFill>
          <a:ln w="9525">
            <a:solidFill>
              <a:srgbClr val="D5DCE6"/>
            </a:solidFill>
            <a:prstDash val="solid"/>
          </a:ln>
        </p:spPr>
      </p:sp>
      <p:sp>
        <p:nvSpPr>
          <p:cNvPr id="42" name="Text 36"/>
          <p:cNvSpPr txBox="1"/>
          <p:nvPr/>
        </p:nvSpPr>
        <p:spPr>
          <a:xfrm>
            <a:off x="5577840" y="5230368"/>
            <a:ext cx="1463040" cy="475488"/>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PyTorch</a:t>
            </a:r>
            <a:endParaRPr lang="en-US" sz="1400" dirty="0"/>
          </a:p>
        </p:txBody>
      </p:sp>
      <p:sp>
        <p:nvSpPr>
          <p:cNvPr id="43" name="Shape 37"/>
          <p:cNvSpPr/>
          <p:nvPr/>
        </p:nvSpPr>
        <p:spPr>
          <a:xfrm>
            <a:off x="7223760" y="5230368"/>
            <a:ext cx="2459736" cy="475488"/>
          </a:xfrm>
          <a:prstGeom prst="roundRect">
            <a:avLst>
              <a:gd name="adj" fmla="val 15385"/>
            </a:avLst>
          </a:prstGeom>
          <a:solidFill>
            <a:srgbClr val="FFFFFF"/>
          </a:solidFill>
          <a:ln w="9525">
            <a:solidFill>
              <a:srgbClr val="D5DCE6"/>
            </a:solidFill>
            <a:prstDash val="solid"/>
          </a:ln>
        </p:spPr>
      </p:sp>
      <p:sp>
        <p:nvSpPr>
          <p:cNvPr id="44" name="Text 38"/>
          <p:cNvSpPr txBox="1"/>
          <p:nvPr/>
        </p:nvSpPr>
        <p:spPr>
          <a:xfrm>
            <a:off x="7223760" y="5230368"/>
            <a:ext cx="2459736" cy="475488"/>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Ultralytics YOLOv8</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B1F3A"/>
                </a:solidFill>
                <a:latin typeface="Cambria" pitchFamily="34" charset="0"/>
                <a:ea typeface="Cambria" pitchFamily="34" charset="-122"/>
                <a:cs typeface="Cambria" pitchFamily="34" charset="-120"/>
              </a:rPr>
              <a:t>Datasets and Evaluation Plan</a:t>
            </a:r>
            <a:endParaRPr lang="en-US" sz="3400" dirty="0"/>
          </a:p>
        </p:txBody>
      </p:sp>
      <p:sp>
        <p:nvSpPr>
          <p:cNvPr id="3" name="Text 1"/>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A6B82"/>
                </a:solidFill>
                <a:latin typeface="Calibri" pitchFamily="34" charset="0"/>
                <a:ea typeface="Calibri" pitchFamily="34" charset="-122"/>
                <a:cs typeface="Calibri" pitchFamily="34" charset="-120"/>
              </a:rPr>
              <a:t>SENTINEL  |  FYP-I Defense  |  FAST-NUCES</a:t>
            </a:r>
            <a:endParaRPr lang="en-US" sz="1000" dirty="0"/>
          </a:p>
        </p:txBody>
      </p:sp>
      <p:sp>
        <p:nvSpPr>
          <p:cNvPr id="4" name="Text 2"/>
          <p:cNvSpPr txBox="1"/>
          <p:nvPr/>
        </p:nvSpPr>
        <p:spPr>
          <a:xfrm>
            <a:off x="10698480" y="6400800"/>
            <a:ext cx="914400" cy="22860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12</a:t>
            </a:r>
            <a:endParaRPr lang="en-US" sz="1000" dirty="0"/>
          </a:p>
        </p:txBody>
      </p:sp>
      <p:sp>
        <p:nvSpPr>
          <p:cNvPr id="5" name="Shape 3"/>
          <p:cNvSpPr/>
          <p:nvPr/>
        </p:nvSpPr>
        <p:spPr>
          <a:xfrm>
            <a:off x="548640" y="1554480"/>
            <a:ext cx="5394960" cy="2103120"/>
          </a:xfrm>
          <a:prstGeom prst="roundRect">
            <a:avLst>
              <a:gd name="adj" fmla="val 5217"/>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822960" y="1783080"/>
            <a:ext cx="640080" cy="640080"/>
          </a:xfrm>
          <a:prstGeom prst="ellipse">
            <a:avLst/>
          </a:prstGeom>
          <a:solidFill>
            <a:srgbClr val="0B1F3A"/>
          </a:solidFill>
          <a:ln w="6350">
            <a:solidFill>
              <a:srgbClr val="0B1F3A"/>
            </a:solidFill>
            <a:prstDash val="solid"/>
          </a:ln>
        </p:spPr>
      </p:sp>
      <p:pic>
        <p:nvPicPr>
          <p:cNvPr id="7" name="Image 0" descr="preencoded.png">    </p:cNvPr>
          <p:cNvPicPr>
            <a:picLocks noChangeAspect="1"/>
          </p:cNvPicPr>
          <p:nvPr/>
        </p:nvPicPr>
        <p:blipFill>
          <a:blip r:embed="rId1"/>
          <a:stretch>
            <a:fillRect/>
          </a:stretch>
        </p:blipFill>
        <p:spPr>
          <a:xfrm>
            <a:off x="982980" y="1943100"/>
            <a:ext cx="320040" cy="320040"/>
          </a:xfrm>
          <a:prstGeom prst="rect">
            <a:avLst/>
          </a:prstGeom>
        </p:spPr>
      </p:pic>
      <p:sp>
        <p:nvSpPr>
          <p:cNvPr id="8" name="Text 5"/>
          <p:cNvSpPr txBox="1"/>
          <p:nvPr/>
        </p:nvSpPr>
        <p:spPr>
          <a:xfrm>
            <a:off x="1645920" y="1783080"/>
            <a:ext cx="4114800" cy="640080"/>
          </a:xfrm>
          <a:prstGeom prst="rect">
            <a:avLst/>
          </a:prstGeom>
          <a:noFill/>
          <a:ln/>
        </p:spPr>
        <p:txBody>
          <a:bodyPr wrap="square" lIns="0" tIns="0" rIns="0" bIns="0" rtlCol="0" anchor="ctr"/>
          <a:lstStyle/>
          <a:p>
            <a:pPr indent="0" marL="0">
              <a:buNone/>
            </a:pPr>
            <a:r>
              <a:rPr lang="en-US" sz="2200" b="1" dirty="0">
                <a:solidFill>
                  <a:srgbClr val="0B1F3A"/>
                </a:solidFill>
                <a:latin typeface="Cambria" pitchFamily="34" charset="0"/>
                <a:ea typeface="Cambria" pitchFamily="34" charset="-122"/>
                <a:cs typeface="Cambria" pitchFamily="34" charset="-120"/>
              </a:rPr>
              <a:t>UCF-Crime</a:t>
            </a:r>
            <a:endParaRPr lang="en-US" sz="2200" dirty="0"/>
          </a:p>
        </p:txBody>
      </p:sp>
      <p:sp>
        <p:nvSpPr>
          <p:cNvPr id="9" name="Text 6"/>
          <p:cNvSpPr txBox="1"/>
          <p:nvPr/>
        </p:nvSpPr>
        <p:spPr>
          <a:xfrm>
            <a:off x="822960" y="2560320"/>
            <a:ext cx="2651760" cy="548640"/>
          </a:xfrm>
          <a:prstGeom prst="rect">
            <a:avLst/>
          </a:prstGeom>
          <a:noFill/>
          <a:ln/>
        </p:spPr>
        <p:txBody>
          <a:bodyPr wrap="square" lIns="0" tIns="0" rIns="0" bIns="0" rtlCol="0" anchor="t"/>
          <a:lstStyle/>
          <a:p>
            <a:pPr indent="0" marL="0">
              <a:buNone/>
            </a:pPr>
            <a:r>
              <a:rPr lang="en-US" sz="3400" b="1" dirty="0">
                <a:solidFill>
                  <a:srgbClr val="0B1F3A"/>
                </a:solidFill>
                <a:latin typeface="Cambria" pitchFamily="34" charset="0"/>
                <a:ea typeface="Cambria" pitchFamily="34" charset="-122"/>
                <a:cs typeface="Cambria" pitchFamily="34" charset="-120"/>
              </a:rPr>
              <a:t>128 hours</a:t>
            </a:r>
            <a:endParaRPr lang="en-US" sz="3400" dirty="0"/>
          </a:p>
        </p:txBody>
      </p:sp>
      <p:sp>
        <p:nvSpPr>
          <p:cNvPr id="10" name="Text 7"/>
          <p:cNvSpPr txBox="1"/>
          <p:nvPr/>
        </p:nvSpPr>
        <p:spPr>
          <a:xfrm>
            <a:off x="822960" y="3108960"/>
            <a:ext cx="2651760" cy="365760"/>
          </a:xfrm>
          <a:prstGeom prst="rect">
            <a:avLst/>
          </a:prstGeom>
          <a:noFill/>
          <a:ln/>
        </p:spPr>
        <p:txBody>
          <a:bodyPr wrap="square" lIns="0" tIns="0" rIns="0" bIns="0" rtlCol="0" anchor="t"/>
          <a:lstStyle/>
          <a:p>
            <a:pPr indent="0" marL="0">
              <a:buNone/>
            </a:pPr>
            <a:r>
              <a:rPr lang="en-US" sz="1300" dirty="0">
                <a:solidFill>
                  <a:srgbClr val="1F2A3C"/>
                </a:solidFill>
                <a:latin typeface="Calibri" pitchFamily="34" charset="0"/>
                <a:ea typeface="Calibri" pitchFamily="34" charset="-122"/>
                <a:cs typeface="Calibri" pitchFamily="34" charset="-120"/>
              </a:rPr>
              <a:t>real-world surveillance video</a:t>
            </a:r>
            <a:endParaRPr lang="en-US" sz="1300" dirty="0"/>
          </a:p>
        </p:txBody>
      </p:sp>
      <p:sp>
        <p:nvSpPr>
          <p:cNvPr id="11" name="Text 8"/>
          <p:cNvSpPr txBox="1"/>
          <p:nvPr/>
        </p:nvSpPr>
        <p:spPr>
          <a:xfrm>
            <a:off x="3657600" y="2560320"/>
            <a:ext cx="2011680" cy="548640"/>
          </a:xfrm>
          <a:prstGeom prst="rect">
            <a:avLst/>
          </a:prstGeom>
          <a:noFill/>
          <a:ln/>
        </p:spPr>
        <p:txBody>
          <a:bodyPr wrap="square" lIns="0" tIns="0" rIns="0" bIns="0" rtlCol="0" anchor="t"/>
          <a:lstStyle/>
          <a:p>
            <a:pPr indent="0" marL="0">
              <a:buNone/>
            </a:pPr>
            <a:r>
              <a:rPr lang="en-US" sz="3400" b="1" dirty="0">
                <a:solidFill>
                  <a:srgbClr val="0B1F3A"/>
                </a:solidFill>
                <a:latin typeface="Cambria" pitchFamily="34" charset="0"/>
                <a:ea typeface="Cambria" pitchFamily="34" charset="-122"/>
                <a:cs typeface="Cambria" pitchFamily="34" charset="-120"/>
              </a:rPr>
              <a:t>13</a:t>
            </a:r>
            <a:endParaRPr lang="en-US" sz="3400" dirty="0"/>
          </a:p>
        </p:txBody>
      </p:sp>
      <p:sp>
        <p:nvSpPr>
          <p:cNvPr id="12" name="Text 9"/>
          <p:cNvSpPr txBox="1"/>
          <p:nvPr/>
        </p:nvSpPr>
        <p:spPr>
          <a:xfrm>
            <a:off x="3657600" y="3108960"/>
            <a:ext cx="2011680" cy="365760"/>
          </a:xfrm>
          <a:prstGeom prst="rect">
            <a:avLst/>
          </a:prstGeom>
          <a:noFill/>
          <a:ln/>
        </p:spPr>
        <p:txBody>
          <a:bodyPr wrap="square" lIns="0" tIns="0" rIns="0" bIns="0" rtlCol="0" anchor="t"/>
          <a:lstStyle/>
          <a:p>
            <a:pPr indent="0" marL="0">
              <a:buNone/>
            </a:pPr>
            <a:r>
              <a:rPr lang="en-US" sz="1300" dirty="0">
                <a:solidFill>
                  <a:srgbClr val="1F2A3C"/>
                </a:solidFill>
                <a:latin typeface="Calibri" pitchFamily="34" charset="0"/>
                <a:ea typeface="Calibri" pitchFamily="34" charset="-122"/>
                <a:cs typeface="Calibri" pitchFamily="34" charset="-120"/>
              </a:rPr>
              <a:t>anomaly classes</a:t>
            </a:r>
            <a:endParaRPr lang="en-US" sz="1300" dirty="0"/>
          </a:p>
        </p:txBody>
      </p:sp>
      <p:sp>
        <p:nvSpPr>
          <p:cNvPr id="13" name="Shape 10"/>
          <p:cNvSpPr/>
          <p:nvPr/>
        </p:nvSpPr>
        <p:spPr>
          <a:xfrm>
            <a:off x="6217920" y="1554480"/>
            <a:ext cx="5394960" cy="2103120"/>
          </a:xfrm>
          <a:prstGeom prst="roundRect">
            <a:avLst>
              <a:gd name="adj" fmla="val 5217"/>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14" name="Shape 11"/>
          <p:cNvSpPr/>
          <p:nvPr/>
        </p:nvSpPr>
        <p:spPr>
          <a:xfrm>
            <a:off x="6492240" y="1783080"/>
            <a:ext cx="640080" cy="640080"/>
          </a:xfrm>
          <a:prstGeom prst="ellipse">
            <a:avLst/>
          </a:prstGeom>
          <a:solidFill>
            <a:srgbClr val="0B1F3A"/>
          </a:solidFill>
          <a:ln w="6350">
            <a:solidFill>
              <a:srgbClr val="0B1F3A"/>
            </a:solidFill>
            <a:prstDash val="solid"/>
          </a:ln>
        </p:spPr>
      </p:sp>
      <p:pic>
        <p:nvPicPr>
          <p:cNvPr id="15" name="Image 1" descr="preencoded.png">    </p:cNvPr>
          <p:cNvPicPr>
            <a:picLocks noChangeAspect="1"/>
          </p:cNvPicPr>
          <p:nvPr/>
        </p:nvPicPr>
        <p:blipFill>
          <a:blip r:embed="rId2"/>
          <a:stretch>
            <a:fillRect/>
          </a:stretch>
        </p:blipFill>
        <p:spPr>
          <a:xfrm>
            <a:off x="6652260" y="1943100"/>
            <a:ext cx="320040" cy="320040"/>
          </a:xfrm>
          <a:prstGeom prst="rect">
            <a:avLst/>
          </a:prstGeom>
        </p:spPr>
      </p:pic>
      <p:sp>
        <p:nvSpPr>
          <p:cNvPr id="16" name="Text 12"/>
          <p:cNvSpPr txBox="1"/>
          <p:nvPr/>
        </p:nvSpPr>
        <p:spPr>
          <a:xfrm>
            <a:off x="7315200" y="1783080"/>
            <a:ext cx="4114800" cy="640080"/>
          </a:xfrm>
          <a:prstGeom prst="rect">
            <a:avLst/>
          </a:prstGeom>
          <a:noFill/>
          <a:ln/>
        </p:spPr>
        <p:txBody>
          <a:bodyPr wrap="square" lIns="0" tIns="0" rIns="0" bIns="0" rtlCol="0" anchor="ctr"/>
          <a:lstStyle/>
          <a:p>
            <a:pPr indent="0" marL="0">
              <a:buNone/>
            </a:pPr>
            <a:r>
              <a:rPr lang="en-US" sz="2200" b="1" dirty="0">
                <a:solidFill>
                  <a:srgbClr val="0B1F3A"/>
                </a:solidFill>
                <a:latin typeface="Cambria" pitchFamily="34" charset="0"/>
                <a:ea typeface="Cambria" pitchFamily="34" charset="-122"/>
                <a:cs typeface="Cambria" pitchFamily="34" charset="-120"/>
              </a:rPr>
              <a:t>RWF-2000</a:t>
            </a:r>
            <a:endParaRPr lang="en-US" sz="2200" dirty="0"/>
          </a:p>
        </p:txBody>
      </p:sp>
      <p:sp>
        <p:nvSpPr>
          <p:cNvPr id="17" name="Text 13"/>
          <p:cNvSpPr txBox="1"/>
          <p:nvPr/>
        </p:nvSpPr>
        <p:spPr>
          <a:xfrm>
            <a:off x="6492240" y="2560320"/>
            <a:ext cx="2194560" cy="548640"/>
          </a:xfrm>
          <a:prstGeom prst="rect">
            <a:avLst/>
          </a:prstGeom>
          <a:noFill/>
          <a:ln/>
        </p:spPr>
        <p:txBody>
          <a:bodyPr wrap="square" lIns="0" tIns="0" rIns="0" bIns="0" rtlCol="0" anchor="t"/>
          <a:lstStyle/>
          <a:p>
            <a:pPr indent="0" marL="0">
              <a:buNone/>
            </a:pPr>
            <a:r>
              <a:rPr lang="en-US" sz="3400" b="1" dirty="0">
                <a:solidFill>
                  <a:srgbClr val="0B1F3A"/>
                </a:solidFill>
                <a:latin typeface="Cambria" pitchFamily="34" charset="0"/>
                <a:ea typeface="Cambria" pitchFamily="34" charset="-122"/>
                <a:cs typeface="Cambria" pitchFamily="34" charset="-120"/>
              </a:rPr>
              <a:t>2,000</a:t>
            </a:r>
            <a:endParaRPr lang="en-US" sz="3400" dirty="0"/>
          </a:p>
        </p:txBody>
      </p:sp>
      <p:sp>
        <p:nvSpPr>
          <p:cNvPr id="18" name="Text 14"/>
          <p:cNvSpPr txBox="1"/>
          <p:nvPr/>
        </p:nvSpPr>
        <p:spPr>
          <a:xfrm>
            <a:off x="6492240" y="3108960"/>
            <a:ext cx="2194560" cy="365760"/>
          </a:xfrm>
          <a:prstGeom prst="rect">
            <a:avLst/>
          </a:prstGeom>
          <a:noFill/>
          <a:ln/>
        </p:spPr>
        <p:txBody>
          <a:bodyPr wrap="square" lIns="0" tIns="0" rIns="0" bIns="0" rtlCol="0" anchor="t"/>
          <a:lstStyle/>
          <a:p>
            <a:pPr indent="0" marL="0">
              <a:buNone/>
            </a:pPr>
            <a:r>
              <a:rPr lang="en-US" sz="1300" dirty="0">
                <a:solidFill>
                  <a:srgbClr val="1F2A3C"/>
                </a:solidFill>
                <a:latin typeface="Calibri" pitchFamily="34" charset="0"/>
                <a:ea typeface="Calibri" pitchFamily="34" charset="-122"/>
                <a:cs typeface="Calibri" pitchFamily="34" charset="-120"/>
              </a:rPr>
              <a:t>real-world CCTV fight clips</a:t>
            </a:r>
            <a:endParaRPr lang="en-US" sz="1300" dirty="0"/>
          </a:p>
        </p:txBody>
      </p:sp>
      <p:sp>
        <p:nvSpPr>
          <p:cNvPr id="19" name="Text 15"/>
          <p:cNvSpPr txBox="1"/>
          <p:nvPr/>
        </p:nvSpPr>
        <p:spPr>
          <a:xfrm>
            <a:off x="8869680" y="2606040"/>
            <a:ext cx="2560320" cy="822960"/>
          </a:xfrm>
          <a:prstGeom prst="rect">
            <a:avLst/>
          </a:prstGeom>
          <a:noFill/>
          <a:ln/>
        </p:spPr>
        <p:txBody>
          <a:bodyPr wrap="square" lIns="0" tIns="0" rIns="0" bIns="0" rtlCol="0" anchor="t"/>
          <a:lstStyle/>
          <a:p>
            <a:pPr indent="0" marL="0">
              <a:buNone/>
            </a:pPr>
            <a:r>
              <a:rPr lang="en-US" sz="1400" dirty="0">
                <a:solidFill>
                  <a:srgbClr val="1F2A3C"/>
                </a:solidFill>
                <a:latin typeface="Calibri" pitchFamily="34" charset="0"/>
                <a:ea typeface="Calibri" pitchFamily="34" charset="-122"/>
                <a:cs typeface="Calibri" pitchFamily="34" charset="-120"/>
              </a:rPr>
              <a:t>Supports the Fighting class</a:t>
            </a:r>
            <a:endParaRPr lang="en-US" sz="1400" dirty="0"/>
          </a:p>
        </p:txBody>
      </p:sp>
      <p:sp>
        <p:nvSpPr>
          <p:cNvPr id="20" name="Shape 16"/>
          <p:cNvSpPr/>
          <p:nvPr/>
        </p:nvSpPr>
        <p:spPr>
          <a:xfrm>
            <a:off x="548640" y="3931920"/>
            <a:ext cx="5394960" cy="2103120"/>
          </a:xfrm>
          <a:prstGeom prst="roundRect">
            <a:avLst>
              <a:gd name="adj" fmla="val 5217"/>
            </a:avLst>
          </a:prstGeom>
          <a:solidFill>
            <a:srgbClr val="FFFFFF"/>
          </a:solidFill>
          <a:ln w="12700">
            <a:solidFill>
              <a:srgbClr val="D5DCE6"/>
            </a:solidFill>
            <a:prstDash val="solid"/>
          </a:ln>
        </p:spPr>
      </p:sp>
      <p:sp>
        <p:nvSpPr>
          <p:cNvPr id="21" name="Text 17"/>
          <p:cNvSpPr txBox="1"/>
          <p:nvPr/>
        </p:nvSpPr>
        <p:spPr>
          <a:xfrm>
            <a:off x="822960" y="4114800"/>
            <a:ext cx="4846320" cy="365760"/>
          </a:xfrm>
          <a:prstGeom prst="rect">
            <a:avLst/>
          </a:prstGeom>
          <a:noFill/>
          <a:ln/>
        </p:spPr>
        <p:txBody>
          <a:bodyPr wrap="square" lIns="0" tIns="0" rIns="0" bIns="0" rtlCol="0" anchor="t"/>
          <a:lstStyle/>
          <a:p>
            <a:pPr indent="0" marL="0">
              <a:buNone/>
            </a:pPr>
            <a:r>
              <a:rPr lang="en-US" sz="1800" b="1" dirty="0">
                <a:solidFill>
                  <a:srgbClr val="0B1F3A"/>
                </a:solidFill>
                <a:latin typeface="Calibri" pitchFamily="34" charset="0"/>
                <a:ea typeface="Calibri" pitchFamily="34" charset="-122"/>
                <a:cs typeface="Calibri" pitchFamily="34" charset="-120"/>
              </a:rPr>
              <a:t>Accuracy metrics</a:t>
            </a:r>
            <a:endParaRPr lang="en-US" sz="1800" dirty="0"/>
          </a:p>
        </p:txBody>
      </p:sp>
      <p:sp>
        <p:nvSpPr>
          <p:cNvPr id="22" name="Shape 18"/>
          <p:cNvSpPr/>
          <p:nvPr/>
        </p:nvSpPr>
        <p:spPr>
          <a:xfrm>
            <a:off x="822960" y="4617720"/>
            <a:ext cx="1097280" cy="457200"/>
          </a:xfrm>
          <a:prstGeom prst="roundRect">
            <a:avLst>
              <a:gd name="adj" fmla="val 16000"/>
            </a:avLst>
          </a:prstGeom>
          <a:solidFill>
            <a:srgbClr val="0B1F3A"/>
          </a:solidFill>
          <a:ln w="9525">
            <a:solidFill>
              <a:srgbClr val="0B1F3A"/>
            </a:solidFill>
            <a:prstDash val="solid"/>
          </a:ln>
        </p:spPr>
      </p:sp>
      <p:sp>
        <p:nvSpPr>
          <p:cNvPr id="23" name="Text 19"/>
          <p:cNvSpPr txBox="1"/>
          <p:nvPr/>
        </p:nvSpPr>
        <p:spPr>
          <a:xfrm>
            <a:off x="822960" y="4617720"/>
            <a:ext cx="10972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Precision</a:t>
            </a:r>
            <a:endParaRPr lang="en-US" sz="1400" dirty="0"/>
          </a:p>
        </p:txBody>
      </p:sp>
      <p:sp>
        <p:nvSpPr>
          <p:cNvPr id="24" name="Shape 20"/>
          <p:cNvSpPr/>
          <p:nvPr/>
        </p:nvSpPr>
        <p:spPr>
          <a:xfrm>
            <a:off x="2011680" y="4617720"/>
            <a:ext cx="1097280" cy="457200"/>
          </a:xfrm>
          <a:prstGeom prst="roundRect">
            <a:avLst>
              <a:gd name="adj" fmla="val 16000"/>
            </a:avLst>
          </a:prstGeom>
          <a:solidFill>
            <a:srgbClr val="0B1F3A"/>
          </a:solidFill>
          <a:ln w="9525">
            <a:solidFill>
              <a:srgbClr val="0B1F3A"/>
            </a:solidFill>
            <a:prstDash val="solid"/>
          </a:ln>
        </p:spPr>
      </p:sp>
      <p:sp>
        <p:nvSpPr>
          <p:cNvPr id="25" name="Text 21"/>
          <p:cNvSpPr txBox="1"/>
          <p:nvPr/>
        </p:nvSpPr>
        <p:spPr>
          <a:xfrm>
            <a:off x="2011680" y="4617720"/>
            <a:ext cx="10972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Recall</a:t>
            </a:r>
            <a:endParaRPr lang="en-US" sz="1400" dirty="0"/>
          </a:p>
        </p:txBody>
      </p:sp>
      <p:sp>
        <p:nvSpPr>
          <p:cNvPr id="26" name="Shape 22"/>
          <p:cNvSpPr/>
          <p:nvPr/>
        </p:nvSpPr>
        <p:spPr>
          <a:xfrm>
            <a:off x="3200400" y="4617720"/>
            <a:ext cx="1097280" cy="457200"/>
          </a:xfrm>
          <a:prstGeom prst="roundRect">
            <a:avLst>
              <a:gd name="adj" fmla="val 16000"/>
            </a:avLst>
          </a:prstGeom>
          <a:solidFill>
            <a:srgbClr val="0B1F3A"/>
          </a:solidFill>
          <a:ln w="9525">
            <a:solidFill>
              <a:srgbClr val="0B1F3A"/>
            </a:solidFill>
            <a:prstDash val="solid"/>
          </a:ln>
        </p:spPr>
      </p:sp>
      <p:sp>
        <p:nvSpPr>
          <p:cNvPr id="27" name="Text 23"/>
          <p:cNvSpPr txBox="1"/>
          <p:nvPr/>
        </p:nvSpPr>
        <p:spPr>
          <a:xfrm>
            <a:off x="3200400" y="4617720"/>
            <a:ext cx="10972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F1</a:t>
            </a:r>
            <a:endParaRPr lang="en-US" sz="1400" dirty="0"/>
          </a:p>
        </p:txBody>
      </p:sp>
      <p:sp>
        <p:nvSpPr>
          <p:cNvPr id="28" name="Shape 24"/>
          <p:cNvSpPr/>
          <p:nvPr/>
        </p:nvSpPr>
        <p:spPr>
          <a:xfrm>
            <a:off x="4389120" y="4617720"/>
            <a:ext cx="1097280" cy="457200"/>
          </a:xfrm>
          <a:prstGeom prst="roundRect">
            <a:avLst>
              <a:gd name="adj" fmla="val 16000"/>
            </a:avLst>
          </a:prstGeom>
          <a:solidFill>
            <a:srgbClr val="0B1F3A"/>
          </a:solidFill>
          <a:ln w="9525">
            <a:solidFill>
              <a:srgbClr val="0B1F3A"/>
            </a:solidFill>
            <a:prstDash val="solid"/>
          </a:ln>
        </p:spPr>
      </p:sp>
      <p:sp>
        <p:nvSpPr>
          <p:cNvPr id="29" name="Text 25"/>
          <p:cNvSpPr txBox="1"/>
          <p:nvPr/>
        </p:nvSpPr>
        <p:spPr>
          <a:xfrm>
            <a:off x="4389120" y="4617720"/>
            <a:ext cx="10972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mAP@50</a:t>
            </a:r>
            <a:endParaRPr lang="en-US" sz="1400" dirty="0"/>
          </a:p>
        </p:txBody>
      </p:sp>
      <p:sp>
        <p:nvSpPr>
          <p:cNvPr id="30" name="Text 26"/>
          <p:cNvSpPr txBox="1"/>
          <p:nvPr/>
        </p:nvSpPr>
        <p:spPr>
          <a:xfrm>
            <a:off x="822960" y="5257800"/>
            <a:ext cx="4846320" cy="640080"/>
          </a:xfrm>
          <a:prstGeom prst="rect">
            <a:avLst/>
          </a:prstGeom>
          <a:noFill/>
          <a:ln/>
        </p:spPr>
        <p:txBody>
          <a:bodyPr wrap="square" lIns="0" tIns="0" rIns="0" bIns="0" rtlCol="0" anchor="t"/>
          <a:lstStyle/>
          <a:p>
            <a:pPr indent="0" marL="0">
              <a:buNone/>
            </a:pPr>
            <a:r>
              <a:rPr lang="en-US" sz="1300" dirty="0">
                <a:solidFill>
                  <a:srgbClr val="1F2A3C"/>
                </a:solidFill>
                <a:latin typeface="Calibri" pitchFamily="34" charset="0"/>
                <a:ea typeface="Calibri" pitchFamily="34" charset="-122"/>
                <a:cs typeface="Calibri" pitchFamily="34" charset="-120"/>
              </a:rPr>
              <a:t>Per-class precision and recall matter most, since crime footage is rare.</a:t>
            </a:r>
            <a:endParaRPr lang="en-US" sz="1300" dirty="0"/>
          </a:p>
        </p:txBody>
      </p:sp>
      <p:sp>
        <p:nvSpPr>
          <p:cNvPr id="31" name="Shape 27"/>
          <p:cNvSpPr/>
          <p:nvPr/>
        </p:nvSpPr>
        <p:spPr>
          <a:xfrm>
            <a:off x="6217920" y="3931920"/>
            <a:ext cx="5394960" cy="2103120"/>
          </a:xfrm>
          <a:prstGeom prst="roundRect">
            <a:avLst>
              <a:gd name="adj" fmla="val 5217"/>
            </a:avLst>
          </a:prstGeom>
          <a:solidFill>
            <a:srgbClr val="0B1F3A"/>
          </a:solidFill>
          <a:ln w="9525">
            <a:solidFill>
              <a:srgbClr val="0B1F3A"/>
            </a:solidFill>
            <a:prstDash val="solid"/>
          </a:ln>
        </p:spPr>
      </p:sp>
      <p:sp>
        <p:nvSpPr>
          <p:cNvPr id="32" name="Text 28"/>
          <p:cNvSpPr txBox="1"/>
          <p:nvPr/>
        </p:nvSpPr>
        <p:spPr>
          <a:xfrm>
            <a:off x="6492240" y="4114800"/>
            <a:ext cx="484632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Speed targets</a:t>
            </a:r>
            <a:endParaRPr lang="en-US" sz="1800" dirty="0"/>
          </a:p>
        </p:txBody>
      </p:sp>
      <p:sp>
        <p:nvSpPr>
          <p:cNvPr id="33" name="Text 29"/>
          <p:cNvSpPr txBox="1"/>
          <p:nvPr/>
        </p:nvSpPr>
        <p:spPr>
          <a:xfrm>
            <a:off x="6492240" y="4617720"/>
            <a:ext cx="2468880" cy="640080"/>
          </a:xfrm>
          <a:prstGeom prst="rect">
            <a:avLst/>
          </a:prstGeom>
          <a:noFill/>
          <a:ln/>
        </p:spPr>
        <p:txBody>
          <a:bodyPr wrap="square" lIns="0" tIns="0" rIns="0" bIns="0" rtlCol="0" anchor="t"/>
          <a:lstStyle/>
          <a:p>
            <a:pPr indent="0" marL="0">
              <a:buNone/>
            </a:pPr>
            <a:r>
              <a:rPr lang="en-US" sz="3400" b="1" dirty="0">
                <a:solidFill>
                  <a:srgbClr val="C9A227"/>
                </a:solidFill>
                <a:latin typeface="Cambria" pitchFamily="34" charset="0"/>
                <a:ea typeface="Cambria" pitchFamily="34" charset="-122"/>
                <a:cs typeface="Cambria" pitchFamily="34" charset="-120"/>
              </a:rPr>
              <a:t>≥ 25 FPS</a:t>
            </a:r>
            <a:endParaRPr lang="en-US" sz="3400" dirty="0"/>
          </a:p>
        </p:txBody>
      </p:sp>
      <p:sp>
        <p:nvSpPr>
          <p:cNvPr id="34" name="Text 30"/>
          <p:cNvSpPr txBox="1"/>
          <p:nvPr/>
        </p:nvSpPr>
        <p:spPr>
          <a:xfrm>
            <a:off x="6492240" y="5303520"/>
            <a:ext cx="2468880" cy="457200"/>
          </a:xfrm>
          <a:prstGeom prst="rect">
            <a:avLst/>
          </a:prstGeom>
          <a:noFill/>
          <a:ln/>
        </p:spPr>
        <p:txBody>
          <a:bodyPr wrap="square" lIns="0" tIns="0" rIns="0" bIns="0" rtlCol="0" anchor="t"/>
          <a:lstStyle/>
          <a:p>
            <a:pPr indent="0" marL="0">
              <a:buNone/>
            </a:pPr>
            <a:r>
              <a:rPr lang="en-US" sz="1300" dirty="0">
                <a:solidFill>
                  <a:srgbClr val="C9D6EA"/>
                </a:solidFill>
                <a:latin typeface="Calibri" pitchFamily="34" charset="0"/>
                <a:ea typeface="Calibri" pitchFamily="34" charset="-122"/>
                <a:cs typeface="Calibri" pitchFamily="34" charset="-120"/>
              </a:rPr>
              <a:t>sustained on an RTX 3060</a:t>
            </a:r>
            <a:endParaRPr lang="en-US" sz="1300" dirty="0"/>
          </a:p>
        </p:txBody>
      </p:sp>
      <p:sp>
        <p:nvSpPr>
          <p:cNvPr id="35" name="Text 31"/>
          <p:cNvSpPr txBox="1"/>
          <p:nvPr/>
        </p:nvSpPr>
        <p:spPr>
          <a:xfrm>
            <a:off x="9052560" y="4617720"/>
            <a:ext cx="2377440" cy="640080"/>
          </a:xfrm>
          <a:prstGeom prst="rect">
            <a:avLst/>
          </a:prstGeom>
          <a:noFill/>
          <a:ln/>
        </p:spPr>
        <p:txBody>
          <a:bodyPr wrap="square" lIns="0" tIns="0" rIns="0" bIns="0" rtlCol="0" anchor="t"/>
          <a:lstStyle/>
          <a:p>
            <a:pPr indent="0" marL="0">
              <a:buNone/>
            </a:pPr>
            <a:r>
              <a:rPr lang="en-US" sz="3400" b="1" dirty="0">
                <a:solidFill>
                  <a:srgbClr val="C9A227"/>
                </a:solidFill>
                <a:latin typeface="Cambria" pitchFamily="34" charset="0"/>
                <a:ea typeface="Cambria" pitchFamily="34" charset="-122"/>
                <a:cs typeface="Cambria" pitchFamily="34" charset="-120"/>
              </a:rPr>
              <a:t>&lt; 1 s</a:t>
            </a:r>
            <a:endParaRPr lang="en-US" sz="3400" dirty="0"/>
          </a:p>
        </p:txBody>
      </p:sp>
      <p:sp>
        <p:nvSpPr>
          <p:cNvPr id="36" name="Text 32"/>
          <p:cNvSpPr txBox="1"/>
          <p:nvPr/>
        </p:nvSpPr>
        <p:spPr>
          <a:xfrm>
            <a:off x="9052560" y="5303520"/>
            <a:ext cx="2377440" cy="457200"/>
          </a:xfrm>
          <a:prstGeom prst="rect">
            <a:avLst/>
          </a:prstGeom>
          <a:noFill/>
          <a:ln/>
        </p:spPr>
        <p:txBody>
          <a:bodyPr wrap="square" lIns="0" tIns="0" rIns="0" bIns="0" rtlCol="0" anchor="t"/>
          <a:lstStyle/>
          <a:p>
            <a:pPr indent="0" marL="0">
              <a:buNone/>
            </a:pPr>
            <a:r>
              <a:rPr lang="en-US" sz="1300" dirty="0">
                <a:solidFill>
                  <a:srgbClr val="C9D6EA"/>
                </a:solidFill>
                <a:latin typeface="Calibri" pitchFamily="34" charset="0"/>
                <a:ea typeface="Calibri" pitchFamily="34" charset="-122"/>
                <a:cs typeface="Calibri" pitchFamily="34" charset="-120"/>
              </a:rPr>
              <a:t>alert latency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B1F3A"/>
                </a:solidFill>
                <a:latin typeface="Cambria" pitchFamily="34" charset="0"/>
                <a:ea typeface="Cambria" pitchFamily="34" charset="-122"/>
                <a:cs typeface="Cambria" pitchFamily="34" charset="-120"/>
              </a:rPr>
              <a:t>Examples: Where SENTINEL Helps</a:t>
            </a:r>
            <a:endParaRPr lang="en-US" sz="3400" dirty="0"/>
          </a:p>
        </p:txBody>
      </p:sp>
      <p:sp>
        <p:nvSpPr>
          <p:cNvPr id="3" name="Text 1"/>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A6B82"/>
                </a:solidFill>
                <a:latin typeface="Calibri" pitchFamily="34" charset="0"/>
                <a:ea typeface="Calibri" pitchFamily="34" charset="-122"/>
                <a:cs typeface="Calibri" pitchFamily="34" charset="-120"/>
              </a:rPr>
              <a:t>SENTINEL  |  FYP-I Defense  |  FAST-NUCES</a:t>
            </a:r>
            <a:endParaRPr lang="en-US" sz="1000" dirty="0"/>
          </a:p>
        </p:txBody>
      </p:sp>
      <p:sp>
        <p:nvSpPr>
          <p:cNvPr id="4" name="Text 2"/>
          <p:cNvSpPr txBox="1"/>
          <p:nvPr/>
        </p:nvSpPr>
        <p:spPr>
          <a:xfrm>
            <a:off x="10698480" y="6400800"/>
            <a:ext cx="914400" cy="22860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548640" y="1554480"/>
            <a:ext cx="3566160" cy="2103120"/>
          </a:xfrm>
          <a:prstGeom prst="roundRect">
            <a:avLst>
              <a:gd name="adj" fmla="val 5217"/>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822960" y="1828800"/>
            <a:ext cx="731520" cy="731520"/>
          </a:xfrm>
          <a:prstGeom prst="ellipse">
            <a:avLst/>
          </a:prstGeom>
          <a:solidFill>
            <a:srgbClr val="0B1F3A"/>
          </a:solidFill>
          <a:ln w="6350">
            <a:solidFill>
              <a:srgbClr val="0B1F3A"/>
            </a:solidFill>
            <a:prstDash val="solid"/>
          </a:ln>
        </p:spPr>
      </p:sp>
      <p:pic>
        <p:nvPicPr>
          <p:cNvPr id="7" name="Image 0" descr="preencoded.png">    </p:cNvPr>
          <p:cNvPicPr>
            <a:picLocks noChangeAspect="1"/>
          </p:cNvPicPr>
          <p:nvPr/>
        </p:nvPicPr>
        <p:blipFill>
          <a:blip r:embed="rId1"/>
          <a:stretch>
            <a:fillRect/>
          </a:stretch>
        </p:blipFill>
        <p:spPr>
          <a:xfrm>
            <a:off x="1005840" y="2011680"/>
            <a:ext cx="365760" cy="365760"/>
          </a:xfrm>
          <a:prstGeom prst="rect">
            <a:avLst/>
          </a:prstGeom>
        </p:spPr>
      </p:pic>
      <p:sp>
        <p:nvSpPr>
          <p:cNvPr id="8" name="Text 5"/>
          <p:cNvSpPr txBox="1"/>
          <p:nvPr/>
        </p:nvSpPr>
        <p:spPr>
          <a:xfrm>
            <a:off x="1737360" y="1828800"/>
            <a:ext cx="2194560" cy="73152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School or campus entrance</a:t>
            </a:r>
            <a:endParaRPr lang="en-US" sz="1600" dirty="0"/>
          </a:p>
        </p:txBody>
      </p:sp>
      <p:sp>
        <p:nvSpPr>
          <p:cNvPr id="9" name="Text 6"/>
          <p:cNvSpPr txBox="1"/>
          <p:nvPr/>
        </p:nvSpPr>
        <p:spPr>
          <a:xfrm>
            <a:off x="822960" y="2788920"/>
            <a:ext cx="3017520" cy="731520"/>
          </a:xfrm>
          <a:prstGeom prst="rect">
            <a:avLst/>
          </a:prstGeom>
          <a:noFill/>
          <a:ln/>
        </p:spPr>
        <p:txBody>
          <a:bodyPr wrap="square" lIns="0" tIns="0" rIns="0" bIns="0" rtlCol="0" anchor="t"/>
          <a:lstStyle/>
          <a:p>
            <a:pPr indent="0" marL="0">
              <a:buNone/>
            </a:pPr>
            <a:r>
              <a:rPr lang="en-US" sz="1400" dirty="0">
                <a:solidFill>
                  <a:srgbClr val="1F2A3C"/>
                </a:solidFill>
                <a:latin typeface="Calibri" pitchFamily="34" charset="0"/>
                <a:ea typeface="Calibri" pitchFamily="34" charset="-122"/>
                <a:cs typeface="Calibri" pitchFamily="34" charset="-120"/>
              </a:rPr>
              <a:t>Gun detected; alert with snapshot sent to security.</a:t>
            </a:r>
            <a:endParaRPr lang="en-US" sz="1400" dirty="0"/>
          </a:p>
        </p:txBody>
      </p:sp>
      <p:sp>
        <p:nvSpPr>
          <p:cNvPr id="10" name="Shape 7"/>
          <p:cNvSpPr/>
          <p:nvPr/>
        </p:nvSpPr>
        <p:spPr>
          <a:xfrm>
            <a:off x="4297680" y="1554480"/>
            <a:ext cx="3566160" cy="2103120"/>
          </a:xfrm>
          <a:prstGeom prst="roundRect">
            <a:avLst>
              <a:gd name="adj" fmla="val 5217"/>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4572000" y="1828800"/>
            <a:ext cx="731520" cy="731520"/>
          </a:xfrm>
          <a:prstGeom prst="ellipse">
            <a:avLst/>
          </a:prstGeom>
          <a:solidFill>
            <a:srgbClr val="0B1F3A"/>
          </a:solidFill>
          <a:ln w="6350">
            <a:solidFill>
              <a:srgbClr val="0B1F3A"/>
            </a:solidFill>
            <a:prstDash val="solid"/>
          </a:ln>
        </p:spPr>
      </p:sp>
      <p:pic>
        <p:nvPicPr>
          <p:cNvPr id="12" name="Image 1" descr="preencoded.png">    </p:cNvPr>
          <p:cNvPicPr>
            <a:picLocks noChangeAspect="1"/>
          </p:cNvPicPr>
          <p:nvPr/>
        </p:nvPicPr>
        <p:blipFill>
          <a:blip r:embed="rId2"/>
          <a:stretch>
            <a:fillRect/>
          </a:stretch>
        </p:blipFill>
        <p:spPr>
          <a:xfrm>
            <a:off x="4754880" y="2011680"/>
            <a:ext cx="365760" cy="365760"/>
          </a:xfrm>
          <a:prstGeom prst="rect">
            <a:avLst/>
          </a:prstGeom>
        </p:spPr>
      </p:pic>
      <p:sp>
        <p:nvSpPr>
          <p:cNvPr id="13" name="Text 9"/>
          <p:cNvSpPr txBox="1"/>
          <p:nvPr/>
        </p:nvSpPr>
        <p:spPr>
          <a:xfrm>
            <a:off x="5486400" y="1828800"/>
            <a:ext cx="2194560" cy="73152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Shopping mall or food court</a:t>
            </a:r>
            <a:endParaRPr lang="en-US" sz="1600" dirty="0"/>
          </a:p>
        </p:txBody>
      </p:sp>
      <p:sp>
        <p:nvSpPr>
          <p:cNvPr id="14" name="Text 10"/>
          <p:cNvSpPr txBox="1"/>
          <p:nvPr/>
        </p:nvSpPr>
        <p:spPr>
          <a:xfrm>
            <a:off x="4572000" y="2788920"/>
            <a:ext cx="3017520" cy="731520"/>
          </a:xfrm>
          <a:prstGeom prst="rect">
            <a:avLst/>
          </a:prstGeom>
          <a:noFill/>
          <a:ln/>
        </p:spPr>
        <p:txBody>
          <a:bodyPr wrap="square" lIns="0" tIns="0" rIns="0" bIns="0" rtlCol="0" anchor="t"/>
          <a:lstStyle/>
          <a:p>
            <a:pPr indent="0" marL="0">
              <a:buNone/>
            </a:pPr>
            <a:r>
              <a:rPr lang="en-US" sz="1400" dirty="0">
                <a:solidFill>
                  <a:srgbClr val="1F2A3C"/>
                </a:solidFill>
                <a:latin typeface="Calibri" pitchFamily="34" charset="0"/>
                <a:ea typeface="Calibri" pitchFamily="34" charset="-122"/>
                <a:cs typeface="Calibri" pitchFamily="34" charset="-120"/>
              </a:rPr>
              <a:t>Fighting recognized from pose sequences.</a:t>
            </a:r>
            <a:endParaRPr lang="en-US" sz="1400" dirty="0"/>
          </a:p>
        </p:txBody>
      </p:sp>
      <p:sp>
        <p:nvSpPr>
          <p:cNvPr id="15" name="Shape 11"/>
          <p:cNvSpPr/>
          <p:nvPr/>
        </p:nvSpPr>
        <p:spPr>
          <a:xfrm>
            <a:off x="548640" y="3840480"/>
            <a:ext cx="3566160" cy="2103120"/>
          </a:xfrm>
          <a:prstGeom prst="roundRect">
            <a:avLst>
              <a:gd name="adj" fmla="val 5217"/>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16" name="Shape 12"/>
          <p:cNvSpPr/>
          <p:nvPr/>
        </p:nvSpPr>
        <p:spPr>
          <a:xfrm>
            <a:off x="822960" y="4114800"/>
            <a:ext cx="731520" cy="731520"/>
          </a:xfrm>
          <a:prstGeom prst="ellipse">
            <a:avLst/>
          </a:prstGeom>
          <a:solidFill>
            <a:srgbClr val="0B1F3A"/>
          </a:solidFill>
          <a:ln w="6350">
            <a:solidFill>
              <a:srgbClr val="0B1F3A"/>
            </a:solidFill>
            <a:prstDash val="solid"/>
          </a:ln>
        </p:spPr>
      </p:sp>
      <p:pic>
        <p:nvPicPr>
          <p:cNvPr id="17" name="Image 2" descr="preencoded.png">    </p:cNvPr>
          <p:cNvPicPr>
            <a:picLocks noChangeAspect="1"/>
          </p:cNvPicPr>
          <p:nvPr/>
        </p:nvPicPr>
        <p:blipFill>
          <a:blip r:embed="rId3"/>
          <a:stretch>
            <a:fillRect/>
          </a:stretch>
        </p:blipFill>
        <p:spPr>
          <a:xfrm>
            <a:off x="1005840" y="4297680"/>
            <a:ext cx="365760" cy="365760"/>
          </a:xfrm>
          <a:prstGeom prst="rect">
            <a:avLst/>
          </a:prstGeom>
        </p:spPr>
      </p:pic>
      <p:sp>
        <p:nvSpPr>
          <p:cNvPr id="18" name="Text 13"/>
          <p:cNvSpPr txBox="1"/>
          <p:nvPr/>
        </p:nvSpPr>
        <p:spPr>
          <a:xfrm>
            <a:off x="1737360" y="4114800"/>
            <a:ext cx="2194560" cy="73152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Retail store or ATM</a:t>
            </a:r>
            <a:endParaRPr lang="en-US" sz="1600" dirty="0"/>
          </a:p>
        </p:txBody>
      </p:sp>
      <p:sp>
        <p:nvSpPr>
          <p:cNvPr id="19" name="Text 14"/>
          <p:cNvSpPr txBox="1"/>
          <p:nvPr/>
        </p:nvSpPr>
        <p:spPr>
          <a:xfrm>
            <a:off x="822960" y="5074920"/>
            <a:ext cx="3017520" cy="731520"/>
          </a:xfrm>
          <a:prstGeom prst="rect">
            <a:avLst/>
          </a:prstGeom>
          <a:noFill/>
          <a:ln/>
        </p:spPr>
        <p:txBody>
          <a:bodyPr wrap="square" lIns="0" tIns="0" rIns="0" bIns="0" rtlCol="0" anchor="t"/>
          <a:lstStyle/>
          <a:p>
            <a:pPr indent="0" marL="0">
              <a:buNone/>
            </a:pPr>
            <a:r>
              <a:rPr lang="en-US" sz="1400" dirty="0">
                <a:solidFill>
                  <a:srgbClr val="1F2A3C"/>
                </a:solidFill>
                <a:latin typeface="Calibri" pitchFamily="34" charset="0"/>
                <a:ea typeface="Calibri" pitchFamily="34" charset="-122"/>
                <a:cs typeface="Calibri" pitchFamily="34" charset="-120"/>
              </a:rPr>
              <a:t>Robbery behavior flagged for immediate review.</a:t>
            </a:r>
            <a:endParaRPr lang="en-US" sz="1400" dirty="0"/>
          </a:p>
        </p:txBody>
      </p:sp>
      <p:sp>
        <p:nvSpPr>
          <p:cNvPr id="20" name="Shape 15"/>
          <p:cNvSpPr/>
          <p:nvPr/>
        </p:nvSpPr>
        <p:spPr>
          <a:xfrm>
            <a:off x="4297680" y="3840480"/>
            <a:ext cx="3566160" cy="2103120"/>
          </a:xfrm>
          <a:prstGeom prst="roundRect">
            <a:avLst>
              <a:gd name="adj" fmla="val 5217"/>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21" name="Shape 16"/>
          <p:cNvSpPr/>
          <p:nvPr/>
        </p:nvSpPr>
        <p:spPr>
          <a:xfrm>
            <a:off x="4572000" y="4114800"/>
            <a:ext cx="731520" cy="731520"/>
          </a:xfrm>
          <a:prstGeom prst="ellipse">
            <a:avLst/>
          </a:prstGeom>
          <a:solidFill>
            <a:srgbClr val="0B1F3A"/>
          </a:solidFill>
          <a:ln w="6350">
            <a:solidFill>
              <a:srgbClr val="0B1F3A"/>
            </a:solidFill>
            <a:prstDash val="solid"/>
          </a:ln>
        </p:spPr>
      </p:sp>
      <p:pic>
        <p:nvPicPr>
          <p:cNvPr id="22" name="Image 3" descr="preencoded.png">    </p:cNvPr>
          <p:cNvPicPr>
            <a:picLocks noChangeAspect="1"/>
          </p:cNvPicPr>
          <p:nvPr/>
        </p:nvPicPr>
        <p:blipFill>
          <a:blip r:embed="rId4"/>
          <a:stretch>
            <a:fillRect/>
          </a:stretch>
        </p:blipFill>
        <p:spPr>
          <a:xfrm>
            <a:off x="4754880" y="4297680"/>
            <a:ext cx="365760" cy="365760"/>
          </a:xfrm>
          <a:prstGeom prst="rect">
            <a:avLst/>
          </a:prstGeom>
        </p:spPr>
      </p:pic>
      <p:sp>
        <p:nvSpPr>
          <p:cNvPr id="23" name="Text 17"/>
          <p:cNvSpPr txBox="1"/>
          <p:nvPr/>
        </p:nvSpPr>
        <p:spPr>
          <a:xfrm>
            <a:off x="5486400" y="4114800"/>
            <a:ext cx="2194560" cy="731520"/>
          </a:xfrm>
          <a:prstGeom prst="rect">
            <a:avLst/>
          </a:prstGeom>
          <a:noFill/>
          <a:ln/>
        </p:spPr>
        <p:txBody>
          <a:bodyPr wrap="square" lIns="0" tIns="0" rIns="0" bIns="0" rtlCol="0" anchor="ctr"/>
          <a:lstStyle/>
          <a:p>
            <a:pPr indent="0" marL="0">
              <a:buNone/>
            </a:pPr>
            <a:r>
              <a:rPr lang="en-US" sz="1600" b="1" dirty="0">
                <a:solidFill>
                  <a:srgbClr val="0B1F3A"/>
                </a:solidFill>
                <a:latin typeface="Calibri" pitchFamily="34" charset="0"/>
                <a:ea typeface="Calibri" pitchFamily="34" charset="-122"/>
                <a:cs typeface="Calibri" pitchFamily="34" charset="-120"/>
              </a:rPr>
              <a:t>Transit station or parking lot</a:t>
            </a:r>
            <a:endParaRPr lang="en-US" sz="1600" dirty="0"/>
          </a:p>
        </p:txBody>
      </p:sp>
      <p:sp>
        <p:nvSpPr>
          <p:cNvPr id="24" name="Text 18"/>
          <p:cNvSpPr txBox="1"/>
          <p:nvPr/>
        </p:nvSpPr>
        <p:spPr>
          <a:xfrm>
            <a:off x="4572000" y="5074920"/>
            <a:ext cx="3017520" cy="731520"/>
          </a:xfrm>
          <a:prstGeom prst="rect">
            <a:avLst/>
          </a:prstGeom>
          <a:noFill/>
          <a:ln/>
        </p:spPr>
        <p:txBody>
          <a:bodyPr wrap="square" lIns="0" tIns="0" rIns="0" bIns="0" rtlCol="0" anchor="t"/>
          <a:lstStyle/>
          <a:p>
            <a:pPr indent="0" marL="0">
              <a:buNone/>
            </a:pPr>
            <a:r>
              <a:rPr lang="en-US" sz="1400" dirty="0">
                <a:solidFill>
                  <a:srgbClr val="1F2A3C"/>
                </a:solidFill>
                <a:latin typeface="Calibri" pitchFamily="34" charset="0"/>
                <a:ea typeface="Calibri" pitchFamily="34" charset="-122"/>
                <a:cs typeface="Calibri" pitchFamily="34" charset="-120"/>
              </a:rPr>
              <a:t>Knife detected in a crowded scene.</a:t>
            </a:r>
            <a:endParaRPr lang="en-US" sz="1400" dirty="0"/>
          </a:p>
        </p:txBody>
      </p:sp>
      <p:sp>
        <p:nvSpPr>
          <p:cNvPr id="25" name="Shape 19"/>
          <p:cNvSpPr/>
          <p:nvPr/>
        </p:nvSpPr>
        <p:spPr>
          <a:xfrm>
            <a:off x="8092440" y="1554480"/>
            <a:ext cx="3520440" cy="4389120"/>
          </a:xfrm>
          <a:prstGeom prst="roundRect">
            <a:avLst>
              <a:gd name="adj" fmla="val 3117"/>
            </a:avLst>
          </a:prstGeom>
          <a:solidFill>
            <a:srgbClr val="0B1F3A"/>
          </a:solidFill>
          <a:ln w="9525">
            <a:solidFill>
              <a:srgbClr val="0B1F3A"/>
            </a:solidFill>
            <a:prstDash val="solid"/>
          </a:ln>
        </p:spPr>
      </p:sp>
      <p:sp>
        <p:nvSpPr>
          <p:cNvPr id="26" name="Shape 20"/>
          <p:cNvSpPr/>
          <p:nvPr/>
        </p:nvSpPr>
        <p:spPr>
          <a:xfrm>
            <a:off x="8321040" y="1783080"/>
            <a:ext cx="1371600" cy="365760"/>
          </a:xfrm>
          <a:prstGeom prst="roundRect">
            <a:avLst>
              <a:gd name="adj" fmla="val 20000"/>
            </a:avLst>
          </a:prstGeom>
          <a:solidFill>
            <a:srgbClr val="E5484D"/>
          </a:solidFill>
          <a:ln w="6350">
            <a:solidFill>
              <a:srgbClr val="E5484D"/>
            </a:solidFill>
            <a:prstDash val="solid"/>
          </a:ln>
        </p:spPr>
      </p:sp>
      <p:sp>
        <p:nvSpPr>
          <p:cNvPr id="27" name="Text 21"/>
          <p:cNvSpPr txBox="1"/>
          <p:nvPr/>
        </p:nvSpPr>
        <p:spPr>
          <a:xfrm>
            <a:off x="8321040" y="1783080"/>
            <a:ext cx="13716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LIVE ALERT</a:t>
            </a:r>
            <a:endParaRPr lang="en-US" sz="1200" dirty="0"/>
          </a:p>
        </p:txBody>
      </p:sp>
      <p:sp>
        <p:nvSpPr>
          <p:cNvPr id="28" name="Shape 22"/>
          <p:cNvSpPr/>
          <p:nvPr/>
        </p:nvSpPr>
        <p:spPr>
          <a:xfrm>
            <a:off x="8321040" y="2377440"/>
            <a:ext cx="3063240" cy="1645920"/>
          </a:xfrm>
          <a:prstGeom prst="rect">
            <a:avLst/>
          </a:prstGeom>
          <a:solidFill>
            <a:srgbClr val="10284A"/>
          </a:solidFill>
          <a:ln w="12700">
            <a:solidFill>
              <a:srgbClr val="2E4A78"/>
            </a:solidFill>
            <a:prstDash val="solid"/>
          </a:ln>
        </p:spPr>
      </p:sp>
      <p:sp>
        <p:nvSpPr>
          <p:cNvPr id="29" name="Shape 23"/>
          <p:cNvSpPr/>
          <p:nvPr/>
        </p:nvSpPr>
        <p:spPr>
          <a:xfrm>
            <a:off x="8339328" y="3429000"/>
            <a:ext cx="3026664" cy="576072"/>
          </a:xfrm>
          <a:prstGeom prst="rect">
            <a:avLst/>
          </a:prstGeom>
          <a:solidFill>
            <a:srgbClr val="0D2140"/>
          </a:solidFill>
          <a:ln w="6350">
            <a:solidFill>
              <a:srgbClr val="0D2140"/>
            </a:solidFill>
            <a:prstDash val="solid"/>
          </a:ln>
        </p:spPr>
      </p:sp>
      <p:sp>
        <p:nvSpPr>
          <p:cNvPr id="30" name="Shape 24"/>
          <p:cNvSpPr/>
          <p:nvPr/>
        </p:nvSpPr>
        <p:spPr>
          <a:xfrm>
            <a:off x="9423349" y="2606040"/>
            <a:ext cx="172822" cy="172822"/>
          </a:xfrm>
          <a:prstGeom prst="ellipse">
            <a:avLst/>
          </a:prstGeom>
          <a:solidFill>
            <a:srgbClr val="4A6FA5"/>
          </a:solidFill>
          <a:ln w="6350">
            <a:solidFill>
              <a:srgbClr val="4A6FA5"/>
            </a:solidFill>
            <a:prstDash val="solid"/>
          </a:ln>
        </p:spPr>
      </p:sp>
      <p:sp>
        <p:nvSpPr>
          <p:cNvPr id="31" name="Shape 25"/>
          <p:cNvSpPr/>
          <p:nvPr/>
        </p:nvSpPr>
        <p:spPr>
          <a:xfrm>
            <a:off x="9345168" y="2803550"/>
            <a:ext cx="329184" cy="658368"/>
          </a:xfrm>
          <a:prstGeom prst="roundRect">
            <a:avLst>
              <a:gd name="adj" fmla="val 41667"/>
            </a:avLst>
          </a:prstGeom>
          <a:solidFill>
            <a:srgbClr val="4A6FA5"/>
          </a:solidFill>
          <a:ln w="6350">
            <a:solidFill>
              <a:srgbClr val="4A6FA5"/>
            </a:solidFill>
            <a:prstDash val="solid"/>
          </a:ln>
        </p:spPr>
      </p:sp>
      <p:sp>
        <p:nvSpPr>
          <p:cNvPr id="32" name="Shape 26"/>
          <p:cNvSpPr/>
          <p:nvPr/>
        </p:nvSpPr>
        <p:spPr>
          <a:xfrm>
            <a:off x="9738360" y="3154680"/>
            <a:ext cx="228600" cy="73152"/>
          </a:xfrm>
          <a:prstGeom prst="rect">
            <a:avLst/>
          </a:prstGeom>
          <a:solidFill>
            <a:srgbClr val="E8EEF7"/>
          </a:solidFill>
          <a:ln w="9525">
            <a:solidFill>
              <a:srgbClr val="E8EEF7"/>
            </a:solidFill>
            <a:prstDash val="solid"/>
          </a:ln>
        </p:spPr>
      </p:sp>
      <p:sp>
        <p:nvSpPr>
          <p:cNvPr id="33" name="Shape 27"/>
          <p:cNvSpPr/>
          <p:nvPr/>
        </p:nvSpPr>
        <p:spPr>
          <a:xfrm>
            <a:off x="9646920" y="3017520"/>
            <a:ext cx="457200" cy="365760"/>
          </a:xfrm>
          <a:prstGeom prst="rect">
            <a:avLst/>
          </a:prstGeom>
          <a:solidFill>
            <a:srgbClr val="FFFFFF">
              <a:alpha val="0"/>
            </a:srgbClr>
          </a:solidFill>
          <a:ln w="22225">
            <a:solidFill>
              <a:srgbClr val="E5484D"/>
            </a:solidFill>
            <a:prstDash val="solid"/>
          </a:ln>
        </p:spPr>
      </p:sp>
      <p:sp>
        <p:nvSpPr>
          <p:cNvPr id="34" name="Shape 28"/>
          <p:cNvSpPr/>
          <p:nvPr/>
        </p:nvSpPr>
        <p:spPr>
          <a:xfrm>
            <a:off x="9646920" y="2770632"/>
            <a:ext cx="731520" cy="246888"/>
          </a:xfrm>
          <a:prstGeom prst="rect">
            <a:avLst/>
          </a:prstGeom>
          <a:solidFill>
            <a:srgbClr val="E5484D"/>
          </a:solidFill>
          <a:ln w="6350">
            <a:solidFill>
              <a:srgbClr val="E5484D"/>
            </a:solidFill>
            <a:prstDash val="solid"/>
          </a:ln>
        </p:spPr>
      </p:sp>
      <p:sp>
        <p:nvSpPr>
          <p:cNvPr id="35" name="Text 29"/>
          <p:cNvSpPr txBox="1"/>
          <p:nvPr/>
        </p:nvSpPr>
        <p:spPr>
          <a:xfrm>
            <a:off x="9646920" y="2770632"/>
            <a:ext cx="73152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Gun 0.91</a:t>
            </a:r>
            <a:endParaRPr lang="en-US" sz="1100" dirty="0"/>
          </a:p>
        </p:txBody>
      </p:sp>
      <p:sp>
        <p:nvSpPr>
          <p:cNvPr id="36" name="Text 30"/>
          <p:cNvSpPr txBox="1"/>
          <p:nvPr/>
        </p:nvSpPr>
        <p:spPr>
          <a:xfrm>
            <a:off x="8321040" y="4206240"/>
            <a:ext cx="1371600" cy="274320"/>
          </a:xfrm>
          <a:prstGeom prst="rect">
            <a:avLst/>
          </a:prstGeom>
          <a:noFill/>
          <a:ln/>
        </p:spPr>
        <p:txBody>
          <a:bodyPr wrap="square" lIns="0" tIns="0" rIns="0" bIns="0" rtlCol="0" anchor="t"/>
          <a:lstStyle/>
          <a:p>
            <a:pPr indent="0" marL="0">
              <a:buNone/>
            </a:pPr>
            <a:r>
              <a:rPr lang="en-US" sz="1300" dirty="0">
                <a:solidFill>
                  <a:srgbClr val="C9D6EA"/>
                </a:solidFill>
                <a:latin typeface="Calibri" pitchFamily="34" charset="0"/>
                <a:ea typeface="Calibri" pitchFamily="34" charset="-122"/>
                <a:cs typeface="Calibri" pitchFamily="34" charset="-120"/>
              </a:rPr>
              <a:t>Threat</a:t>
            </a:r>
            <a:endParaRPr lang="en-US" sz="1300" dirty="0"/>
          </a:p>
        </p:txBody>
      </p:sp>
      <p:sp>
        <p:nvSpPr>
          <p:cNvPr id="37" name="Text 31"/>
          <p:cNvSpPr txBox="1"/>
          <p:nvPr/>
        </p:nvSpPr>
        <p:spPr>
          <a:xfrm>
            <a:off x="9692640" y="4206240"/>
            <a:ext cx="173736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Gun</a:t>
            </a:r>
            <a:endParaRPr lang="en-US" sz="1300" dirty="0"/>
          </a:p>
        </p:txBody>
      </p:sp>
      <p:sp>
        <p:nvSpPr>
          <p:cNvPr id="38" name="Text 32"/>
          <p:cNvSpPr txBox="1"/>
          <p:nvPr/>
        </p:nvSpPr>
        <p:spPr>
          <a:xfrm>
            <a:off x="8321040" y="4498848"/>
            <a:ext cx="1371600" cy="274320"/>
          </a:xfrm>
          <a:prstGeom prst="rect">
            <a:avLst/>
          </a:prstGeom>
          <a:noFill/>
          <a:ln/>
        </p:spPr>
        <p:txBody>
          <a:bodyPr wrap="square" lIns="0" tIns="0" rIns="0" bIns="0" rtlCol="0" anchor="t"/>
          <a:lstStyle/>
          <a:p>
            <a:pPr indent="0" marL="0">
              <a:buNone/>
            </a:pPr>
            <a:r>
              <a:rPr lang="en-US" sz="1300" dirty="0">
                <a:solidFill>
                  <a:srgbClr val="C9D6EA"/>
                </a:solidFill>
                <a:latin typeface="Calibri" pitchFamily="34" charset="0"/>
                <a:ea typeface="Calibri" pitchFamily="34" charset="-122"/>
                <a:cs typeface="Calibri" pitchFamily="34" charset="-120"/>
              </a:rPr>
              <a:t>Confidence</a:t>
            </a:r>
            <a:endParaRPr lang="en-US" sz="1300" dirty="0"/>
          </a:p>
        </p:txBody>
      </p:sp>
      <p:sp>
        <p:nvSpPr>
          <p:cNvPr id="39" name="Text 33"/>
          <p:cNvSpPr txBox="1"/>
          <p:nvPr/>
        </p:nvSpPr>
        <p:spPr>
          <a:xfrm>
            <a:off x="9692640" y="4498848"/>
            <a:ext cx="173736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0.91</a:t>
            </a:r>
            <a:endParaRPr lang="en-US" sz="1300" dirty="0"/>
          </a:p>
        </p:txBody>
      </p:sp>
      <p:sp>
        <p:nvSpPr>
          <p:cNvPr id="40" name="Text 34"/>
          <p:cNvSpPr txBox="1"/>
          <p:nvPr/>
        </p:nvSpPr>
        <p:spPr>
          <a:xfrm>
            <a:off x="8321040" y="4791456"/>
            <a:ext cx="1371600" cy="274320"/>
          </a:xfrm>
          <a:prstGeom prst="rect">
            <a:avLst/>
          </a:prstGeom>
          <a:noFill/>
          <a:ln/>
        </p:spPr>
        <p:txBody>
          <a:bodyPr wrap="square" lIns="0" tIns="0" rIns="0" bIns="0" rtlCol="0" anchor="t"/>
          <a:lstStyle/>
          <a:p>
            <a:pPr indent="0" marL="0">
              <a:buNone/>
            </a:pPr>
            <a:r>
              <a:rPr lang="en-US" sz="1300" dirty="0">
                <a:solidFill>
                  <a:srgbClr val="C9D6EA"/>
                </a:solidFill>
                <a:latin typeface="Calibri" pitchFamily="34" charset="0"/>
                <a:ea typeface="Calibri" pitchFamily="34" charset="-122"/>
                <a:cs typeface="Calibri" pitchFamily="34" charset="-120"/>
              </a:rPr>
              <a:t>Camera</a:t>
            </a:r>
            <a:endParaRPr lang="en-US" sz="1300" dirty="0"/>
          </a:p>
        </p:txBody>
      </p:sp>
      <p:sp>
        <p:nvSpPr>
          <p:cNvPr id="41" name="Text 35"/>
          <p:cNvSpPr txBox="1"/>
          <p:nvPr/>
        </p:nvSpPr>
        <p:spPr>
          <a:xfrm>
            <a:off x="9692640" y="4791456"/>
            <a:ext cx="173736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Entrance 01</a:t>
            </a:r>
            <a:endParaRPr lang="en-US" sz="1300" dirty="0"/>
          </a:p>
        </p:txBody>
      </p:sp>
      <p:sp>
        <p:nvSpPr>
          <p:cNvPr id="42" name="Text 36"/>
          <p:cNvSpPr txBox="1"/>
          <p:nvPr/>
        </p:nvSpPr>
        <p:spPr>
          <a:xfrm>
            <a:off x="8321040" y="5084064"/>
            <a:ext cx="1371600" cy="274320"/>
          </a:xfrm>
          <a:prstGeom prst="rect">
            <a:avLst/>
          </a:prstGeom>
          <a:noFill/>
          <a:ln/>
        </p:spPr>
        <p:txBody>
          <a:bodyPr wrap="square" lIns="0" tIns="0" rIns="0" bIns="0" rtlCol="0" anchor="t"/>
          <a:lstStyle/>
          <a:p>
            <a:pPr indent="0" marL="0">
              <a:buNone/>
            </a:pPr>
            <a:r>
              <a:rPr lang="en-US" sz="1300" dirty="0">
                <a:solidFill>
                  <a:srgbClr val="C9D6EA"/>
                </a:solidFill>
                <a:latin typeface="Calibri" pitchFamily="34" charset="0"/>
                <a:ea typeface="Calibri" pitchFamily="34" charset="-122"/>
                <a:cs typeface="Calibri" pitchFamily="34" charset="-120"/>
              </a:rPr>
              <a:t>Time</a:t>
            </a:r>
            <a:endParaRPr lang="en-US" sz="1300" dirty="0"/>
          </a:p>
        </p:txBody>
      </p:sp>
      <p:sp>
        <p:nvSpPr>
          <p:cNvPr id="43" name="Text 37"/>
          <p:cNvSpPr txBox="1"/>
          <p:nvPr/>
        </p:nvSpPr>
        <p:spPr>
          <a:xfrm>
            <a:off x="9692640" y="5084064"/>
            <a:ext cx="173736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14:32:07</a:t>
            </a:r>
            <a:endParaRPr lang="en-US" sz="1300" dirty="0"/>
          </a:p>
        </p:txBody>
      </p:sp>
      <p:sp>
        <p:nvSpPr>
          <p:cNvPr id="44" name="Text 38"/>
          <p:cNvSpPr txBox="1"/>
          <p:nvPr/>
        </p:nvSpPr>
        <p:spPr>
          <a:xfrm>
            <a:off x="8321040" y="5486400"/>
            <a:ext cx="3063240" cy="274320"/>
          </a:xfrm>
          <a:prstGeom prst="rect">
            <a:avLst/>
          </a:prstGeom>
          <a:noFill/>
          <a:ln/>
        </p:spPr>
        <p:txBody>
          <a:bodyPr wrap="square" lIns="0" tIns="0" rIns="0" bIns="0" rtlCol="0" anchor="t"/>
          <a:lstStyle/>
          <a:p>
            <a:pPr indent="0" marL="0">
              <a:buNone/>
            </a:pPr>
            <a:r>
              <a:rPr lang="en-US" sz="1100" i="1" dirty="0">
                <a:solidFill>
                  <a:srgbClr val="C9D6EA"/>
                </a:solidFill>
                <a:latin typeface="Calibri" pitchFamily="34" charset="0"/>
                <a:ea typeface="Calibri" pitchFamily="34" charset="-122"/>
                <a:cs typeface="Calibri" pitchFamily="34" charset="-120"/>
              </a:rPr>
              <a:t>Illustrative dashboard alert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B1F3A"/>
                </a:solidFill>
                <a:latin typeface="Cambria" pitchFamily="34" charset="0"/>
                <a:ea typeface="Cambria" pitchFamily="34" charset="-122"/>
                <a:cs typeface="Cambria" pitchFamily="34" charset="-120"/>
              </a:rPr>
              <a:t>Benefits</a:t>
            </a:r>
            <a:endParaRPr lang="en-US" sz="3400" dirty="0"/>
          </a:p>
        </p:txBody>
      </p:sp>
      <p:sp>
        <p:nvSpPr>
          <p:cNvPr id="3" name="Text 1"/>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A6B82"/>
                </a:solidFill>
                <a:latin typeface="Calibri" pitchFamily="34" charset="0"/>
                <a:ea typeface="Calibri" pitchFamily="34" charset="-122"/>
                <a:cs typeface="Calibri" pitchFamily="34" charset="-120"/>
              </a:rPr>
              <a:t>SENTINEL  |  FYP-I Defense  |  FAST-NUCES</a:t>
            </a:r>
            <a:endParaRPr lang="en-US" sz="1000" dirty="0"/>
          </a:p>
        </p:txBody>
      </p:sp>
      <p:sp>
        <p:nvSpPr>
          <p:cNvPr id="4" name="Text 2"/>
          <p:cNvSpPr txBox="1"/>
          <p:nvPr/>
        </p:nvSpPr>
        <p:spPr>
          <a:xfrm>
            <a:off x="10698480" y="6400800"/>
            <a:ext cx="914400" cy="22860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14</a:t>
            </a:r>
            <a:endParaRPr lang="en-US" sz="1000" dirty="0"/>
          </a:p>
        </p:txBody>
      </p:sp>
      <p:sp>
        <p:nvSpPr>
          <p:cNvPr id="5" name="Shape 3"/>
          <p:cNvSpPr/>
          <p:nvPr/>
        </p:nvSpPr>
        <p:spPr>
          <a:xfrm>
            <a:off x="548640" y="1554480"/>
            <a:ext cx="3566160" cy="2057400"/>
          </a:xfrm>
          <a:prstGeom prst="roundRect">
            <a:avLst>
              <a:gd name="adj" fmla="val 5333"/>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822960" y="1828800"/>
            <a:ext cx="731520" cy="731520"/>
          </a:xfrm>
          <a:prstGeom prst="ellipse">
            <a:avLst/>
          </a:prstGeom>
          <a:solidFill>
            <a:srgbClr val="0B1F3A"/>
          </a:solidFill>
          <a:ln w="6350">
            <a:solidFill>
              <a:srgbClr val="0B1F3A"/>
            </a:solidFill>
            <a:prstDash val="solid"/>
          </a:ln>
        </p:spPr>
      </p:sp>
      <p:pic>
        <p:nvPicPr>
          <p:cNvPr id="7" name="Image 0" descr="preencoded.png">    </p:cNvPr>
          <p:cNvPicPr>
            <a:picLocks noChangeAspect="1"/>
          </p:cNvPicPr>
          <p:nvPr/>
        </p:nvPicPr>
        <p:blipFill>
          <a:blip r:embed="rId1"/>
          <a:stretch>
            <a:fillRect/>
          </a:stretch>
        </p:blipFill>
        <p:spPr>
          <a:xfrm>
            <a:off x="1005840" y="2011680"/>
            <a:ext cx="365760" cy="365760"/>
          </a:xfrm>
          <a:prstGeom prst="rect">
            <a:avLst/>
          </a:prstGeom>
        </p:spPr>
      </p:pic>
      <p:sp>
        <p:nvSpPr>
          <p:cNvPr id="8" name="Text 5"/>
          <p:cNvSpPr txBox="1"/>
          <p:nvPr/>
        </p:nvSpPr>
        <p:spPr>
          <a:xfrm>
            <a:off x="822960" y="2651760"/>
            <a:ext cx="3108960" cy="365760"/>
          </a:xfrm>
          <a:prstGeom prst="rect">
            <a:avLst/>
          </a:prstGeom>
          <a:noFill/>
          <a:ln/>
        </p:spPr>
        <p:txBody>
          <a:bodyPr wrap="square" lIns="0" tIns="0" rIns="0" bIns="0" rtlCol="0" anchor="t"/>
          <a:lstStyle/>
          <a:p>
            <a:pPr indent="0" marL="0">
              <a:buNone/>
            </a:pPr>
            <a:r>
              <a:rPr lang="en-US" sz="1800" b="1" dirty="0">
                <a:solidFill>
                  <a:srgbClr val="0B1F3A"/>
                </a:solidFill>
                <a:latin typeface="Calibri" pitchFamily="34" charset="0"/>
                <a:ea typeface="Calibri" pitchFamily="34" charset="-122"/>
                <a:cs typeface="Calibri" pitchFamily="34" charset="-120"/>
              </a:rPr>
              <a:t>Always watching</a:t>
            </a:r>
            <a:endParaRPr lang="en-US" sz="1800" dirty="0"/>
          </a:p>
        </p:txBody>
      </p:sp>
      <p:sp>
        <p:nvSpPr>
          <p:cNvPr id="9" name="Text 6"/>
          <p:cNvSpPr txBox="1"/>
          <p:nvPr/>
        </p:nvSpPr>
        <p:spPr>
          <a:xfrm>
            <a:off x="822960" y="3035808"/>
            <a:ext cx="3108960" cy="502920"/>
          </a:xfrm>
          <a:prstGeom prst="rect">
            <a:avLst/>
          </a:prstGeom>
          <a:noFill/>
          <a:ln/>
        </p:spPr>
        <p:txBody>
          <a:bodyPr wrap="square" lIns="0" tIns="0" rIns="0" bIns="0" rtlCol="0" anchor="t"/>
          <a:lstStyle/>
          <a:p>
            <a:pPr indent="0" marL="0">
              <a:buNone/>
            </a:pPr>
            <a:r>
              <a:rPr lang="en-US" sz="1400" dirty="0">
                <a:solidFill>
                  <a:srgbClr val="1F2A3C"/>
                </a:solidFill>
                <a:latin typeface="Calibri" pitchFamily="34" charset="0"/>
                <a:ea typeface="Calibri" pitchFamily="34" charset="-122"/>
                <a:cs typeface="Calibri" pitchFamily="34" charset="-120"/>
              </a:rPr>
              <a:t>Works 24/7 without fatigue.</a:t>
            </a:r>
            <a:endParaRPr lang="en-US" sz="1400" dirty="0"/>
          </a:p>
        </p:txBody>
      </p:sp>
      <p:sp>
        <p:nvSpPr>
          <p:cNvPr id="10" name="Shape 7"/>
          <p:cNvSpPr/>
          <p:nvPr/>
        </p:nvSpPr>
        <p:spPr>
          <a:xfrm>
            <a:off x="4297680" y="1554480"/>
            <a:ext cx="3566160" cy="2057400"/>
          </a:xfrm>
          <a:prstGeom prst="roundRect">
            <a:avLst>
              <a:gd name="adj" fmla="val 5333"/>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4572000" y="1828800"/>
            <a:ext cx="731520" cy="731520"/>
          </a:xfrm>
          <a:prstGeom prst="ellipse">
            <a:avLst/>
          </a:prstGeom>
          <a:solidFill>
            <a:srgbClr val="0B1F3A"/>
          </a:solidFill>
          <a:ln w="6350">
            <a:solidFill>
              <a:srgbClr val="0B1F3A"/>
            </a:solidFill>
            <a:prstDash val="solid"/>
          </a:ln>
        </p:spPr>
      </p:sp>
      <p:pic>
        <p:nvPicPr>
          <p:cNvPr id="12" name="Image 1" descr="preencoded.png">    </p:cNvPr>
          <p:cNvPicPr>
            <a:picLocks noChangeAspect="1"/>
          </p:cNvPicPr>
          <p:nvPr/>
        </p:nvPicPr>
        <p:blipFill>
          <a:blip r:embed="rId2"/>
          <a:stretch>
            <a:fillRect/>
          </a:stretch>
        </p:blipFill>
        <p:spPr>
          <a:xfrm>
            <a:off x="4754880" y="2011680"/>
            <a:ext cx="365760" cy="365760"/>
          </a:xfrm>
          <a:prstGeom prst="rect">
            <a:avLst/>
          </a:prstGeom>
        </p:spPr>
      </p:pic>
      <p:sp>
        <p:nvSpPr>
          <p:cNvPr id="13" name="Text 9"/>
          <p:cNvSpPr txBox="1"/>
          <p:nvPr/>
        </p:nvSpPr>
        <p:spPr>
          <a:xfrm>
            <a:off x="4572000" y="2651760"/>
            <a:ext cx="3108960" cy="365760"/>
          </a:xfrm>
          <a:prstGeom prst="rect">
            <a:avLst/>
          </a:prstGeom>
          <a:noFill/>
          <a:ln/>
        </p:spPr>
        <p:txBody>
          <a:bodyPr wrap="square" lIns="0" tIns="0" rIns="0" bIns="0" rtlCol="0" anchor="t"/>
          <a:lstStyle/>
          <a:p>
            <a:pPr indent="0" marL="0">
              <a:buNone/>
            </a:pPr>
            <a:r>
              <a:rPr lang="en-US" sz="1800" b="1" dirty="0">
                <a:solidFill>
                  <a:srgbClr val="0B1F3A"/>
                </a:solidFill>
                <a:latin typeface="Calibri" pitchFamily="34" charset="0"/>
                <a:ea typeface="Calibri" pitchFamily="34" charset="-122"/>
                <a:cs typeface="Calibri" pitchFamily="34" charset="-120"/>
              </a:rPr>
              <a:t>Faster response</a:t>
            </a:r>
            <a:endParaRPr lang="en-US" sz="1800" dirty="0"/>
          </a:p>
        </p:txBody>
      </p:sp>
      <p:sp>
        <p:nvSpPr>
          <p:cNvPr id="14" name="Text 10"/>
          <p:cNvSpPr txBox="1"/>
          <p:nvPr/>
        </p:nvSpPr>
        <p:spPr>
          <a:xfrm>
            <a:off x="4572000" y="3035808"/>
            <a:ext cx="3108960" cy="502920"/>
          </a:xfrm>
          <a:prstGeom prst="rect">
            <a:avLst/>
          </a:prstGeom>
          <a:noFill/>
          <a:ln/>
        </p:spPr>
        <p:txBody>
          <a:bodyPr wrap="square" lIns="0" tIns="0" rIns="0" bIns="0" rtlCol="0" anchor="t"/>
          <a:lstStyle/>
          <a:p>
            <a:pPr indent="0" marL="0">
              <a:buNone/>
            </a:pPr>
            <a:r>
              <a:rPr lang="en-US" sz="1400" dirty="0">
                <a:solidFill>
                  <a:srgbClr val="1F2A3C"/>
                </a:solidFill>
                <a:latin typeface="Calibri" pitchFamily="34" charset="0"/>
                <a:ea typeface="Calibri" pitchFamily="34" charset="-122"/>
                <a:cs typeface="Calibri" pitchFamily="34" charset="-120"/>
              </a:rPr>
              <a:t>Instant dashboard and notification alerts.</a:t>
            </a:r>
            <a:endParaRPr lang="en-US" sz="1400" dirty="0"/>
          </a:p>
        </p:txBody>
      </p:sp>
      <p:sp>
        <p:nvSpPr>
          <p:cNvPr id="15" name="Shape 11"/>
          <p:cNvSpPr/>
          <p:nvPr/>
        </p:nvSpPr>
        <p:spPr>
          <a:xfrm>
            <a:off x="8046720" y="1554480"/>
            <a:ext cx="3566160" cy="2057400"/>
          </a:xfrm>
          <a:prstGeom prst="roundRect">
            <a:avLst>
              <a:gd name="adj" fmla="val 5333"/>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16" name="Shape 12"/>
          <p:cNvSpPr/>
          <p:nvPr/>
        </p:nvSpPr>
        <p:spPr>
          <a:xfrm>
            <a:off x="8321040" y="1828800"/>
            <a:ext cx="731520" cy="731520"/>
          </a:xfrm>
          <a:prstGeom prst="ellipse">
            <a:avLst/>
          </a:prstGeom>
          <a:solidFill>
            <a:srgbClr val="0B1F3A"/>
          </a:solidFill>
          <a:ln w="6350">
            <a:solidFill>
              <a:srgbClr val="0B1F3A"/>
            </a:solidFill>
            <a:prstDash val="solid"/>
          </a:ln>
        </p:spPr>
      </p:sp>
      <p:pic>
        <p:nvPicPr>
          <p:cNvPr id="17" name="Image 2" descr="preencoded.png">    </p:cNvPr>
          <p:cNvPicPr>
            <a:picLocks noChangeAspect="1"/>
          </p:cNvPicPr>
          <p:nvPr/>
        </p:nvPicPr>
        <p:blipFill>
          <a:blip r:embed="rId3"/>
          <a:stretch>
            <a:fillRect/>
          </a:stretch>
        </p:blipFill>
        <p:spPr>
          <a:xfrm>
            <a:off x="8503920" y="2011680"/>
            <a:ext cx="365760" cy="365760"/>
          </a:xfrm>
          <a:prstGeom prst="rect">
            <a:avLst/>
          </a:prstGeom>
        </p:spPr>
      </p:pic>
      <p:sp>
        <p:nvSpPr>
          <p:cNvPr id="18" name="Text 13"/>
          <p:cNvSpPr txBox="1"/>
          <p:nvPr/>
        </p:nvSpPr>
        <p:spPr>
          <a:xfrm>
            <a:off x="8321040" y="2651760"/>
            <a:ext cx="3108960" cy="365760"/>
          </a:xfrm>
          <a:prstGeom prst="rect">
            <a:avLst/>
          </a:prstGeom>
          <a:noFill/>
          <a:ln/>
        </p:spPr>
        <p:txBody>
          <a:bodyPr wrap="square" lIns="0" tIns="0" rIns="0" bIns="0" rtlCol="0" anchor="t"/>
          <a:lstStyle/>
          <a:p>
            <a:pPr indent="0" marL="0">
              <a:buNone/>
            </a:pPr>
            <a:r>
              <a:rPr lang="en-US" sz="1800" b="1" dirty="0">
                <a:solidFill>
                  <a:srgbClr val="0B1F3A"/>
                </a:solidFill>
                <a:latin typeface="Calibri" pitchFamily="34" charset="0"/>
                <a:ea typeface="Calibri" pitchFamily="34" charset="-122"/>
                <a:cs typeface="Calibri" pitchFamily="34" charset="-120"/>
              </a:rPr>
              <a:t>Fewer false alarms</a:t>
            </a:r>
            <a:endParaRPr lang="en-US" sz="1800" dirty="0"/>
          </a:p>
        </p:txBody>
      </p:sp>
      <p:sp>
        <p:nvSpPr>
          <p:cNvPr id="19" name="Text 14"/>
          <p:cNvSpPr txBox="1"/>
          <p:nvPr/>
        </p:nvSpPr>
        <p:spPr>
          <a:xfrm>
            <a:off x="8321040" y="3035808"/>
            <a:ext cx="3108960" cy="502920"/>
          </a:xfrm>
          <a:prstGeom prst="rect">
            <a:avLst/>
          </a:prstGeom>
          <a:noFill/>
          <a:ln/>
        </p:spPr>
        <p:txBody>
          <a:bodyPr wrap="square" lIns="0" tIns="0" rIns="0" bIns="0" rtlCol="0" anchor="t"/>
          <a:lstStyle/>
          <a:p>
            <a:pPr indent="0" marL="0">
              <a:buNone/>
            </a:pPr>
            <a:r>
              <a:rPr lang="en-US" sz="1400" dirty="0">
                <a:solidFill>
                  <a:srgbClr val="1F2A3C"/>
                </a:solidFill>
                <a:latin typeface="Calibri" pitchFamily="34" charset="0"/>
                <a:ea typeface="Calibri" pitchFamily="34" charset="-122"/>
                <a:cs typeface="Calibri" pitchFamily="34" charset="-120"/>
              </a:rPr>
              <a:t>Temporal filtering suppresses one-frame glitches.</a:t>
            </a:r>
            <a:endParaRPr lang="en-US" sz="1400" dirty="0"/>
          </a:p>
        </p:txBody>
      </p:sp>
      <p:sp>
        <p:nvSpPr>
          <p:cNvPr id="20" name="Shape 15"/>
          <p:cNvSpPr/>
          <p:nvPr/>
        </p:nvSpPr>
        <p:spPr>
          <a:xfrm>
            <a:off x="548640" y="3794760"/>
            <a:ext cx="3566160" cy="2057400"/>
          </a:xfrm>
          <a:prstGeom prst="roundRect">
            <a:avLst>
              <a:gd name="adj" fmla="val 5333"/>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21" name="Shape 16"/>
          <p:cNvSpPr/>
          <p:nvPr/>
        </p:nvSpPr>
        <p:spPr>
          <a:xfrm>
            <a:off x="822960" y="4069080"/>
            <a:ext cx="731520" cy="731520"/>
          </a:xfrm>
          <a:prstGeom prst="ellipse">
            <a:avLst/>
          </a:prstGeom>
          <a:solidFill>
            <a:srgbClr val="0B1F3A"/>
          </a:solidFill>
          <a:ln w="6350">
            <a:solidFill>
              <a:srgbClr val="0B1F3A"/>
            </a:solidFill>
            <a:prstDash val="solid"/>
          </a:ln>
        </p:spPr>
      </p:sp>
      <p:pic>
        <p:nvPicPr>
          <p:cNvPr id="22" name="Image 3" descr="preencoded.png">    </p:cNvPr>
          <p:cNvPicPr>
            <a:picLocks noChangeAspect="1"/>
          </p:cNvPicPr>
          <p:nvPr/>
        </p:nvPicPr>
        <p:blipFill>
          <a:blip r:embed="rId4"/>
          <a:stretch>
            <a:fillRect/>
          </a:stretch>
        </p:blipFill>
        <p:spPr>
          <a:xfrm>
            <a:off x="1005840" y="4251960"/>
            <a:ext cx="365760" cy="365760"/>
          </a:xfrm>
          <a:prstGeom prst="rect">
            <a:avLst/>
          </a:prstGeom>
        </p:spPr>
      </p:pic>
      <p:sp>
        <p:nvSpPr>
          <p:cNvPr id="23" name="Text 17"/>
          <p:cNvSpPr txBox="1"/>
          <p:nvPr/>
        </p:nvSpPr>
        <p:spPr>
          <a:xfrm>
            <a:off x="822960" y="4892040"/>
            <a:ext cx="3108960" cy="365760"/>
          </a:xfrm>
          <a:prstGeom prst="rect">
            <a:avLst/>
          </a:prstGeom>
          <a:noFill/>
          <a:ln/>
        </p:spPr>
        <p:txBody>
          <a:bodyPr wrap="square" lIns="0" tIns="0" rIns="0" bIns="0" rtlCol="0" anchor="t"/>
          <a:lstStyle/>
          <a:p>
            <a:pPr indent="0" marL="0">
              <a:buNone/>
            </a:pPr>
            <a:r>
              <a:rPr lang="en-US" sz="1800" b="1" dirty="0">
                <a:solidFill>
                  <a:srgbClr val="0B1F3A"/>
                </a:solidFill>
                <a:latin typeface="Calibri" pitchFamily="34" charset="0"/>
                <a:ea typeface="Calibri" pitchFamily="34" charset="-122"/>
                <a:cs typeface="Calibri" pitchFamily="34" charset="-120"/>
              </a:rPr>
              <a:t>Low cost</a:t>
            </a:r>
            <a:endParaRPr lang="en-US" sz="1800" dirty="0"/>
          </a:p>
        </p:txBody>
      </p:sp>
      <p:sp>
        <p:nvSpPr>
          <p:cNvPr id="24" name="Text 18"/>
          <p:cNvSpPr txBox="1"/>
          <p:nvPr/>
        </p:nvSpPr>
        <p:spPr>
          <a:xfrm>
            <a:off x="822960" y="5276088"/>
            <a:ext cx="3108960" cy="502920"/>
          </a:xfrm>
          <a:prstGeom prst="rect">
            <a:avLst/>
          </a:prstGeom>
          <a:noFill/>
          <a:ln/>
        </p:spPr>
        <p:txBody>
          <a:bodyPr wrap="square" lIns="0" tIns="0" rIns="0" bIns="0" rtlCol="0" anchor="t"/>
          <a:lstStyle/>
          <a:p>
            <a:pPr indent="0" marL="0">
              <a:buNone/>
            </a:pPr>
            <a:r>
              <a:rPr lang="en-US" sz="1400" dirty="0">
                <a:solidFill>
                  <a:srgbClr val="1F2A3C"/>
                </a:solidFill>
                <a:latin typeface="Calibri" pitchFamily="34" charset="0"/>
                <a:ea typeface="Calibri" pitchFamily="34" charset="-122"/>
                <a:cs typeface="Calibri" pitchFamily="34" charset="-120"/>
              </a:rPr>
              <a:t>Runs on consumer GPUs and reuses existing cameras.</a:t>
            </a:r>
            <a:endParaRPr lang="en-US" sz="1400" dirty="0"/>
          </a:p>
        </p:txBody>
      </p:sp>
      <p:sp>
        <p:nvSpPr>
          <p:cNvPr id="25" name="Shape 19"/>
          <p:cNvSpPr/>
          <p:nvPr/>
        </p:nvSpPr>
        <p:spPr>
          <a:xfrm>
            <a:off x="4297680" y="3794760"/>
            <a:ext cx="3566160" cy="2057400"/>
          </a:xfrm>
          <a:prstGeom prst="roundRect">
            <a:avLst>
              <a:gd name="adj" fmla="val 5333"/>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26" name="Shape 20"/>
          <p:cNvSpPr/>
          <p:nvPr/>
        </p:nvSpPr>
        <p:spPr>
          <a:xfrm>
            <a:off x="4572000" y="4069080"/>
            <a:ext cx="731520" cy="731520"/>
          </a:xfrm>
          <a:prstGeom prst="ellipse">
            <a:avLst/>
          </a:prstGeom>
          <a:solidFill>
            <a:srgbClr val="0B1F3A"/>
          </a:solidFill>
          <a:ln w="6350">
            <a:solidFill>
              <a:srgbClr val="0B1F3A"/>
            </a:solidFill>
            <a:prstDash val="solid"/>
          </a:ln>
        </p:spPr>
      </p:sp>
      <p:pic>
        <p:nvPicPr>
          <p:cNvPr id="27" name="Image 4" descr="preencoded.png">    </p:cNvPr>
          <p:cNvPicPr>
            <a:picLocks noChangeAspect="1"/>
          </p:cNvPicPr>
          <p:nvPr/>
        </p:nvPicPr>
        <p:blipFill>
          <a:blip r:embed="rId5"/>
          <a:stretch>
            <a:fillRect/>
          </a:stretch>
        </p:blipFill>
        <p:spPr>
          <a:xfrm>
            <a:off x="4754880" y="4251960"/>
            <a:ext cx="365760" cy="365760"/>
          </a:xfrm>
          <a:prstGeom prst="rect">
            <a:avLst/>
          </a:prstGeom>
        </p:spPr>
      </p:pic>
      <p:sp>
        <p:nvSpPr>
          <p:cNvPr id="28" name="Text 21"/>
          <p:cNvSpPr txBox="1"/>
          <p:nvPr/>
        </p:nvSpPr>
        <p:spPr>
          <a:xfrm>
            <a:off x="4572000" y="4892040"/>
            <a:ext cx="3108960" cy="365760"/>
          </a:xfrm>
          <a:prstGeom prst="rect">
            <a:avLst/>
          </a:prstGeom>
          <a:noFill/>
          <a:ln/>
        </p:spPr>
        <p:txBody>
          <a:bodyPr wrap="square" lIns="0" tIns="0" rIns="0" bIns="0" rtlCol="0" anchor="t"/>
          <a:lstStyle/>
          <a:p>
            <a:pPr indent="0" marL="0">
              <a:buNone/>
            </a:pPr>
            <a:r>
              <a:rPr lang="en-US" sz="1800" b="1" dirty="0">
                <a:solidFill>
                  <a:srgbClr val="0B1F3A"/>
                </a:solidFill>
                <a:latin typeface="Calibri" pitchFamily="34" charset="0"/>
                <a:ea typeface="Calibri" pitchFamily="34" charset="-122"/>
                <a:cs typeface="Calibri" pitchFamily="34" charset="-120"/>
              </a:rPr>
              <a:t>Visual evidence</a:t>
            </a:r>
            <a:endParaRPr lang="en-US" sz="1800" dirty="0"/>
          </a:p>
        </p:txBody>
      </p:sp>
      <p:sp>
        <p:nvSpPr>
          <p:cNvPr id="29" name="Text 22"/>
          <p:cNvSpPr txBox="1"/>
          <p:nvPr/>
        </p:nvSpPr>
        <p:spPr>
          <a:xfrm>
            <a:off x="4572000" y="5276088"/>
            <a:ext cx="3108960" cy="502920"/>
          </a:xfrm>
          <a:prstGeom prst="rect">
            <a:avLst/>
          </a:prstGeom>
          <a:noFill/>
          <a:ln/>
        </p:spPr>
        <p:txBody>
          <a:bodyPr wrap="square" lIns="0" tIns="0" rIns="0" bIns="0" rtlCol="0" anchor="t"/>
          <a:lstStyle/>
          <a:p>
            <a:pPr indent="0" marL="0">
              <a:buNone/>
            </a:pPr>
            <a:r>
              <a:rPr lang="en-US" sz="1400" dirty="0">
                <a:solidFill>
                  <a:srgbClr val="1F2A3C"/>
                </a:solidFill>
                <a:latin typeface="Calibri" pitchFamily="34" charset="0"/>
                <a:ea typeface="Calibri" pitchFamily="34" charset="-122"/>
                <a:cs typeface="Calibri" pitchFamily="34" charset="-120"/>
              </a:rPr>
              <a:t>A snapshot is saved with every incident for investigations.</a:t>
            </a:r>
            <a:endParaRPr lang="en-US" sz="1400" dirty="0"/>
          </a:p>
        </p:txBody>
      </p:sp>
      <p:sp>
        <p:nvSpPr>
          <p:cNvPr id="30" name="Shape 23"/>
          <p:cNvSpPr/>
          <p:nvPr/>
        </p:nvSpPr>
        <p:spPr>
          <a:xfrm>
            <a:off x="8046720" y="3794760"/>
            <a:ext cx="3566160" cy="2057400"/>
          </a:xfrm>
          <a:prstGeom prst="roundRect">
            <a:avLst>
              <a:gd name="adj" fmla="val 5333"/>
            </a:avLst>
          </a:prstGeom>
          <a:solidFill>
            <a:srgbClr val="F3F6FA"/>
          </a:solidFill>
          <a:ln w="9525">
            <a:solidFill>
              <a:srgbClr val="F3F6FA"/>
            </a:solidFill>
            <a:prstDash val="solid"/>
          </a:ln>
          <a:effectLst>
            <a:outerShdw sx="100000" sy="100000" kx="0" ky="0" algn="bl" rotWithShape="0" blurRad="101600" dist="25400" dir="5400000">
              <a:srgbClr val="000000">
                <a:alpha val="12000"/>
              </a:srgbClr>
            </a:outerShdw>
          </a:effectLst>
        </p:spPr>
      </p:sp>
      <p:sp>
        <p:nvSpPr>
          <p:cNvPr id="31" name="Shape 24"/>
          <p:cNvSpPr/>
          <p:nvPr/>
        </p:nvSpPr>
        <p:spPr>
          <a:xfrm>
            <a:off x="8321040" y="4069080"/>
            <a:ext cx="731520" cy="731520"/>
          </a:xfrm>
          <a:prstGeom prst="ellipse">
            <a:avLst/>
          </a:prstGeom>
          <a:solidFill>
            <a:srgbClr val="0B1F3A"/>
          </a:solidFill>
          <a:ln w="6350">
            <a:solidFill>
              <a:srgbClr val="0B1F3A"/>
            </a:solidFill>
            <a:prstDash val="solid"/>
          </a:ln>
        </p:spPr>
      </p:sp>
      <p:pic>
        <p:nvPicPr>
          <p:cNvPr id="32" name="Image 5" descr="preencoded.png">    </p:cNvPr>
          <p:cNvPicPr>
            <a:picLocks noChangeAspect="1"/>
          </p:cNvPicPr>
          <p:nvPr/>
        </p:nvPicPr>
        <p:blipFill>
          <a:blip r:embed="rId6"/>
          <a:stretch>
            <a:fillRect/>
          </a:stretch>
        </p:blipFill>
        <p:spPr>
          <a:xfrm>
            <a:off x="8503920" y="4251960"/>
            <a:ext cx="365760" cy="365760"/>
          </a:xfrm>
          <a:prstGeom prst="rect">
            <a:avLst/>
          </a:prstGeom>
        </p:spPr>
      </p:pic>
      <p:sp>
        <p:nvSpPr>
          <p:cNvPr id="33" name="Text 25"/>
          <p:cNvSpPr txBox="1"/>
          <p:nvPr/>
        </p:nvSpPr>
        <p:spPr>
          <a:xfrm>
            <a:off x="8321040" y="4892040"/>
            <a:ext cx="3108960" cy="365760"/>
          </a:xfrm>
          <a:prstGeom prst="rect">
            <a:avLst/>
          </a:prstGeom>
          <a:noFill/>
          <a:ln/>
        </p:spPr>
        <p:txBody>
          <a:bodyPr wrap="square" lIns="0" tIns="0" rIns="0" bIns="0" rtlCol="0" anchor="t"/>
          <a:lstStyle/>
          <a:p>
            <a:pPr indent="0" marL="0">
              <a:buNone/>
            </a:pPr>
            <a:r>
              <a:rPr lang="en-US" sz="1800" b="1" dirty="0">
                <a:solidFill>
                  <a:srgbClr val="0B1F3A"/>
                </a:solidFill>
                <a:latin typeface="Calibri" pitchFamily="34" charset="0"/>
                <a:ea typeface="Calibri" pitchFamily="34" charset="-122"/>
                <a:cs typeface="Calibri" pitchFamily="34" charset="-120"/>
              </a:rPr>
              <a:t>Humans stay in control</a:t>
            </a:r>
            <a:endParaRPr lang="en-US" sz="1800" dirty="0"/>
          </a:p>
        </p:txBody>
      </p:sp>
      <p:sp>
        <p:nvSpPr>
          <p:cNvPr id="34" name="Text 26"/>
          <p:cNvSpPr txBox="1"/>
          <p:nvPr/>
        </p:nvSpPr>
        <p:spPr>
          <a:xfrm>
            <a:off x="8321040" y="5276088"/>
            <a:ext cx="3108960" cy="502920"/>
          </a:xfrm>
          <a:prstGeom prst="rect">
            <a:avLst/>
          </a:prstGeom>
          <a:noFill/>
          <a:ln/>
        </p:spPr>
        <p:txBody>
          <a:bodyPr wrap="square" lIns="0" tIns="0" rIns="0" bIns="0" rtlCol="0" anchor="t"/>
          <a:lstStyle/>
          <a:p>
            <a:pPr indent="0" marL="0">
              <a:buNone/>
            </a:pPr>
            <a:r>
              <a:rPr lang="en-US" sz="1400" dirty="0">
                <a:solidFill>
                  <a:srgbClr val="1F2A3C"/>
                </a:solidFill>
                <a:latin typeface="Calibri" pitchFamily="34" charset="0"/>
                <a:ea typeface="Calibri" pitchFamily="34" charset="-122"/>
                <a:cs typeface="Calibri" pitchFamily="34" charset="-120"/>
              </a:rPr>
              <a:t>Supports operators; people make the final call.</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B1F3A"/>
                </a:solidFill>
                <a:latin typeface="Cambria" pitchFamily="34" charset="0"/>
                <a:ea typeface="Cambria" pitchFamily="34" charset="-122"/>
                <a:cs typeface="Cambria" pitchFamily="34" charset="-120"/>
              </a:rPr>
              <a:t>Limitations and Risks</a:t>
            </a:r>
            <a:endParaRPr lang="en-US" sz="3400" dirty="0"/>
          </a:p>
        </p:txBody>
      </p:sp>
      <p:sp>
        <p:nvSpPr>
          <p:cNvPr id="3" name="Text 1"/>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A6B82"/>
                </a:solidFill>
                <a:latin typeface="Calibri" pitchFamily="34" charset="0"/>
                <a:ea typeface="Calibri" pitchFamily="34" charset="-122"/>
                <a:cs typeface="Calibri" pitchFamily="34" charset="-120"/>
              </a:rPr>
              <a:t>SENTINEL  |  FYP-I Defense  |  FAST-NUCES</a:t>
            </a:r>
            <a:endParaRPr lang="en-US" sz="1000" dirty="0"/>
          </a:p>
        </p:txBody>
      </p:sp>
      <p:sp>
        <p:nvSpPr>
          <p:cNvPr id="4" name="Text 2"/>
          <p:cNvSpPr txBox="1"/>
          <p:nvPr/>
        </p:nvSpPr>
        <p:spPr>
          <a:xfrm>
            <a:off x="10698480" y="6400800"/>
            <a:ext cx="914400" cy="22860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15</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6035040"/>
                <a:gridCol w="5029200"/>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Limitation</a:t>
                      </a:r>
                      <a:endParaRPr lang="en-US" sz="15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0B1F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Mitigation</a:t>
                      </a:r>
                      <a:endParaRPr lang="en-US" sz="15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0B1F3A"/>
                    </a:solidFill>
                  </a:tcPr>
                </a:tc>
              </a:tr>
              <a:tr h="621792">
                <a:tc>
                  <a:txBody>
                    <a:bodyPr/>
                    <a:lstStyle/>
                    <a:p>
                      <a:pPr indent="0" marL="0">
                        <a:buNone/>
                      </a:pPr>
                      <a:r>
                        <a:rPr lang="en-US" sz="1400" dirty="0">
                          <a:solidFill>
                            <a:srgbClr val="1F2A3C"/>
                          </a:solidFill>
                          <a:latin typeface="Calibri" pitchFamily="34" charset="0"/>
                          <a:ea typeface="Calibri" pitchFamily="34" charset="-122"/>
                          <a:cs typeface="Calibri" pitchFamily="34" charset="-120"/>
                        </a:rPr>
                        <a:t>Pose accuracy drops under occlusion and low resolution</a:t>
                      </a:r>
                      <a:endParaRPr lang="en-US" sz="14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Use the larger YOLOv8m or YOLOv8l pose variant</a:t>
                      </a:r>
                      <a:endParaRPr lang="en-US" sz="14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621792">
                <a:tc>
                  <a:txBody>
                    <a:bodyPr/>
                    <a:lstStyle/>
                    <a:p>
                      <a:pPr indent="0" marL="0">
                        <a:buNone/>
                      </a:pPr>
                      <a:r>
                        <a:rPr lang="en-US" sz="1400" dirty="0">
                          <a:solidFill>
                            <a:srgbClr val="1F2A3C"/>
                          </a:solidFill>
                          <a:latin typeface="Calibri" pitchFamily="34" charset="0"/>
                          <a:ea typeface="Calibri" pitchFamily="34" charset="-122"/>
                          <a:cs typeface="Calibri" pitchFamily="34" charset="-120"/>
                        </a:rPr>
                        <a:t>Small or distant weapons are hard to detect</a:t>
                      </a:r>
                      <a:endParaRPr lang="en-US" sz="14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Fine-tuning with data augmentation</a:t>
                      </a:r>
                      <a:endParaRPr lang="en-US" sz="14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3F6FA"/>
                    </a:solidFill>
                  </a:tcPr>
                </a:tc>
              </a:tr>
              <a:tr h="621792">
                <a:tc>
                  <a:txBody>
                    <a:bodyPr/>
                    <a:lstStyle/>
                    <a:p>
                      <a:pPr indent="0" marL="0">
                        <a:buNone/>
                      </a:pPr>
                      <a:r>
                        <a:rPr lang="en-US" sz="1400" dirty="0">
                          <a:solidFill>
                            <a:srgbClr val="1F2A3C"/>
                          </a:solidFill>
                          <a:latin typeface="Calibri" pitchFamily="34" charset="0"/>
                          <a:ea typeface="Calibri" pitchFamily="34" charset="-122"/>
                          <a:cs typeface="Calibri" pitchFamily="34" charset="-120"/>
                        </a:rPr>
                        <a:t>Class imbalance, since crime footage is rare</a:t>
                      </a:r>
                      <a:endParaRPr lang="en-US" sz="14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Augmentation and F1-focused evaluation</a:t>
                      </a:r>
                      <a:endParaRPr lang="en-US" sz="14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r h="621792">
                <a:tc>
                  <a:txBody>
                    <a:bodyPr/>
                    <a:lstStyle/>
                    <a:p>
                      <a:pPr indent="0" marL="0">
                        <a:buNone/>
                      </a:pPr>
                      <a:r>
                        <a:rPr lang="en-US" sz="1400" dirty="0">
                          <a:solidFill>
                            <a:srgbClr val="1F2A3C"/>
                          </a:solidFill>
                          <a:latin typeface="Calibri" pitchFamily="34" charset="0"/>
                          <a:ea typeface="Calibri" pitchFamily="34" charset="-122"/>
                          <a:cs typeface="Calibri" pitchFamily="34" charset="-120"/>
                        </a:rPr>
                        <a:t>FPS may drop in crowded scenes</a:t>
                      </a:r>
                      <a:endParaRPr lang="en-US" sz="14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Lightweight pose extraction and async processing</a:t>
                      </a:r>
                      <a:endParaRPr lang="en-US" sz="14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3F6FA"/>
                    </a:solidFill>
                  </a:tcPr>
                </a:tc>
              </a:tr>
              <a:tr h="621792">
                <a:tc>
                  <a:txBody>
                    <a:bodyPr/>
                    <a:lstStyle/>
                    <a:p>
                      <a:pPr indent="0" marL="0">
                        <a:buNone/>
                      </a:pPr>
                      <a:r>
                        <a:rPr lang="en-US" sz="1400" dirty="0">
                          <a:solidFill>
                            <a:srgbClr val="1F2A3C"/>
                          </a:solidFill>
                          <a:latin typeface="Calibri" pitchFamily="34" charset="0"/>
                          <a:ea typeface="Calibri" pitchFamily="34" charset="-122"/>
                          <a:cs typeface="Calibri" pitchFamily="34" charset="-120"/>
                        </a:rPr>
                        <a:t>Concealed weapons, face recognition and multi-camera tracking</a:t>
                      </a:r>
                      <a:endParaRPr lang="en-US" sz="14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b="1" dirty="0">
                          <a:solidFill>
                            <a:srgbClr val="0B1F3A"/>
                          </a:solidFill>
                          <a:latin typeface="Calibri" pitchFamily="34" charset="0"/>
                          <a:ea typeface="Calibri" pitchFamily="34" charset="-122"/>
                          <a:cs typeface="Calibri" pitchFamily="34" charset="-120"/>
                        </a:rPr>
                        <a:t>Out of scope by design</a:t>
                      </a:r>
                      <a:endParaRPr lang="en-US" sz="1400" dirty="0">
                        <a:latin typeface="Calibri" charset="0"/>
                        <a:ea typeface="Calibri" charset="0"/>
                        <a:cs typeface="Calibri" charset="0"/>
                      </a:endParaRPr>
                    </a:p>
                  </a:txBody>
                  <a:tcPr marL="137160" marR="137160" marT="0" marB="0" anchor="ctr">
                    <a:lnL w="12700" cap="flat" cmpd="sng" algn="ctr">
                      <a:solidFill>
                        <a:srgbClr val="D5DCE6"/>
                      </a:solidFill>
                      <a:prstDash val="solid"/>
                      <a:round/>
                      <a:headEnd type="none" w="med" len="med"/>
                      <a:tailEnd type="none" w="med" len="med"/>
                    </a:lnL>
                    <a:lnR w="12700" cap="flat" cmpd="sng" algn="ctr">
                      <a:solidFill>
                        <a:srgbClr val="D5DCE6"/>
                      </a:solidFill>
                      <a:prstDash val="solid"/>
                      <a:round/>
                      <a:headEnd type="none" w="med" len="med"/>
                      <a:tailEnd type="none" w="med" len="med"/>
                    </a:lnR>
                    <a:lnT w="12700" cap="flat" cmpd="sng" algn="ctr">
                      <a:solidFill>
                        <a:srgbClr val="D5DCE6"/>
                      </a:solidFill>
                      <a:prstDash val="solid"/>
                      <a:round/>
                      <a:headEnd type="none" w="med" len="med"/>
                      <a:tailEnd type="none" w="med" len="med"/>
                    </a:lnT>
                    <a:lnB w="12700" cap="flat" cmpd="sng" algn="ctr">
                      <a:solidFill>
                        <a:srgbClr val="D5DCE6"/>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440680"/>
            <a:ext cx="11064240" cy="731520"/>
          </a:xfrm>
          <a:prstGeom prst="roundRect">
            <a:avLst>
              <a:gd name="adj" fmla="val 15000"/>
            </a:avLst>
          </a:prstGeom>
          <a:solidFill>
            <a:srgbClr val="0B1F3A"/>
          </a:solidFill>
          <a:ln w="9525">
            <a:solidFill>
              <a:srgbClr val="0B1F3A"/>
            </a:solidFill>
            <a:prstDash val="solid"/>
          </a:ln>
        </p:spPr>
      </p:sp>
      <p:sp>
        <p:nvSpPr>
          <p:cNvPr id="7" name="Text 4"/>
          <p:cNvSpPr txBox="1"/>
          <p:nvPr/>
        </p:nvSpPr>
        <p:spPr>
          <a:xfrm>
            <a:off x="822960" y="5440680"/>
            <a:ext cx="10515600" cy="7315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SENTINEL assists human operators; it does not replace human judgment.</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B1F3A"/>
                </a:solidFill>
                <a:latin typeface="Cambria" pitchFamily="34" charset="0"/>
                <a:ea typeface="Cambria" pitchFamily="34" charset="-122"/>
                <a:cs typeface="Cambria" pitchFamily="34" charset="-120"/>
              </a:rPr>
              <a:t>Scope and Project Roadmap</a:t>
            </a:r>
            <a:endParaRPr lang="en-US" sz="3400" dirty="0"/>
          </a:p>
        </p:txBody>
      </p:sp>
      <p:sp>
        <p:nvSpPr>
          <p:cNvPr id="3" name="Text 1"/>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A6B82"/>
                </a:solidFill>
                <a:latin typeface="Calibri" pitchFamily="34" charset="0"/>
                <a:ea typeface="Calibri" pitchFamily="34" charset="-122"/>
                <a:cs typeface="Calibri" pitchFamily="34" charset="-120"/>
              </a:rPr>
              <a:t>SENTINEL  |  FYP-I Defense  |  FAST-NUCES</a:t>
            </a:r>
            <a:endParaRPr lang="en-US" sz="1000" dirty="0"/>
          </a:p>
        </p:txBody>
      </p:sp>
      <p:sp>
        <p:nvSpPr>
          <p:cNvPr id="4" name="Text 2"/>
          <p:cNvSpPr txBox="1"/>
          <p:nvPr/>
        </p:nvSpPr>
        <p:spPr>
          <a:xfrm>
            <a:off x="10698480" y="6400800"/>
            <a:ext cx="914400" cy="22860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16</a:t>
            </a:r>
            <a:endParaRPr lang="en-US" sz="1000" dirty="0"/>
          </a:p>
        </p:txBody>
      </p:sp>
      <p:sp>
        <p:nvSpPr>
          <p:cNvPr id="5" name="Shape 3"/>
          <p:cNvSpPr/>
          <p:nvPr/>
        </p:nvSpPr>
        <p:spPr>
          <a:xfrm>
            <a:off x="548640" y="1417320"/>
            <a:ext cx="6400800" cy="2377440"/>
          </a:xfrm>
          <a:prstGeom prst="roundRect">
            <a:avLst>
              <a:gd name="adj" fmla="val 4615"/>
            </a:avLst>
          </a:prstGeom>
          <a:solidFill>
            <a:srgbClr val="F3F6FA"/>
          </a:solidFill>
          <a:ln w="9525">
            <a:solidFill>
              <a:srgbClr val="F3F6FA"/>
            </a:solidFill>
            <a:prstDash val="solid"/>
          </a:ln>
        </p:spPr>
      </p:sp>
      <p:pic>
        <p:nvPicPr>
          <p:cNvPr id="6" name="Image 0" descr="preencoded.png">    </p:cNvPr>
          <p:cNvPicPr>
            <a:picLocks noChangeAspect="1"/>
          </p:cNvPicPr>
          <p:nvPr/>
        </p:nvPicPr>
        <p:blipFill>
          <a:blip r:embed="rId1"/>
          <a:stretch>
            <a:fillRect/>
          </a:stretch>
        </p:blipFill>
        <p:spPr>
          <a:xfrm>
            <a:off x="822960" y="1627632"/>
            <a:ext cx="365760" cy="365760"/>
          </a:xfrm>
          <a:prstGeom prst="rect">
            <a:avLst/>
          </a:prstGeom>
        </p:spPr>
      </p:pic>
      <p:sp>
        <p:nvSpPr>
          <p:cNvPr id="7" name="Text 4"/>
          <p:cNvSpPr txBox="1"/>
          <p:nvPr/>
        </p:nvSpPr>
        <p:spPr>
          <a:xfrm>
            <a:off x="1325880" y="1600200"/>
            <a:ext cx="2743200" cy="41148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In scope</a:t>
            </a:r>
            <a:endParaRPr lang="en-US" sz="1900" dirty="0"/>
          </a:p>
        </p:txBody>
      </p:sp>
      <p:sp>
        <p:nvSpPr>
          <p:cNvPr id="8" name="Text 5"/>
          <p:cNvSpPr txBox="1"/>
          <p:nvPr/>
        </p:nvSpPr>
        <p:spPr>
          <a:xfrm>
            <a:off x="822960" y="2148840"/>
            <a:ext cx="585216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1F2A3C"/>
                </a:solidFill>
                <a:latin typeface="Calibri" pitchFamily="34" charset="0"/>
                <a:ea typeface="Calibri" pitchFamily="34" charset="-122"/>
                <a:cs typeface="Calibri" pitchFamily="34" charset="-120"/>
              </a:rPr>
              <a:t>Single-stream video ingestion</a:t>
            </a:r>
            <a:endParaRPr lang="en-US" sz="1500" dirty="0"/>
          </a:p>
          <a:p>
            <a:pPr marL="342900" indent="-342900">
              <a:spcAft>
                <a:spcPts val="400"/>
              </a:spcAft>
              <a:buSzPct val="100000"/>
              <a:buChar char="•"/>
            </a:pPr>
            <a:r>
              <a:rPr lang="en-US" sz="1500" dirty="0">
                <a:solidFill>
                  <a:srgbClr val="1F2A3C"/>
                </a:solidFill>
                <a:latin typeface="Calibri" pitchFamily="34" charset="0"/>
                <a:ea typeface="Calibri" pitchFamily="34" charset="-122"/>
                <a:cs typeface="Calibri" pitchFamily="34" charset="-120"/>
              </a:rPr>
              <a:t>Weapon detection (Gun, Knife)</a:t>
            </a:r>
            <a:endParaRPr lang="en-US" sz="1500" dirty="0"/>
          </a:p>
          <a:p>
            <a:pPr marL="342900" indent="-342900">
              <a:spcAft>
                <a:spcPts val="400"/>
              </a:spcAft>
              <a:buSzPct val="100000"/>
              <a:buChar char="•"/>
            </a:pPr>
            <a:r>
              <a:rPr lang="en-US" sz="1500" dirty="0">
                <a:solidFill>
                  <a:srgbClr val="1F2A3C"/>
                </a:solidFill>
                <a:latin typeface="Calibri" pitchFamily="34" charset="0"/>
                <a:ea typeface="Calibri" pitchFamily="34" charset="-122"/>
                <a:cs typeface="Calibri" pitchFamily="34" charset="-120"/>
              </a:rPr>
              <a:t>Behavior classification</a:t>
            </a:r>
            <a:endParaRPr lang="en-US" sz="1500" dirty="0"/>
          </a:p>
          <a:p>
            <a:pPr marL="342900" indent="-342900">
              <a:spcAft>
                <a:spcPts val="400"/>
              </a:spcAft>
              <a:buSzPct val="100000"/>
              <a:buChar char="•"/>
            </a:pPr>
            <a:r>
              <a:rPr lang="en-US" sz="1500" dirty="0">
                <a:solidFill>
                  <a:srgbClr val="1F2A3C"/>
                </a:solidFill>
                <a:latin typeface="Calibri" pitchFamily="34" charset="0"/>
                <a:ea typeface="Calibri" pitchFamily="34" charset="-122"/>
                <a:cs typeface="Calibri" pitchFamily="34" charset="-120"/>
              </a:rPr>
              <a:t>Temporal consistency buffer</a:t>
            </a:r>
            <a:endParaRPr lang="en-US" sz="1500" dirty="0"/>
          </a:p>
          <a:p>
            <a:pPr marL="342900" indent="-342900">
              <a:spcAft>
                <a:spcPts val="400"/>
              </a:spcAft>
              <a:buSzPct val="100000"/>
              <a:buChar char="•"/>
            </a:pPr>
            <a:r>
              <a:rPr lang="en-US" sz="1500" dirty="0">
                <a:solidFill>
                  <a:srgbClr val="1F2A3C"/>
                </a:solidFill>
                <a:latin typeface="Calibri" pitchFamily="34" charset="0"/>
                <a:ea typeface="Calibri" pitchFamily="34" charset="-122"/>
                <a:cs typeface="Calibri" pitchFamily="34" charset="-120"/>
              </a:rPr>
              <a:t>Live dashboard and alerts</a:t>
            </a:r>
            <a:endParaRPr lang="en-US" sz="1500" dirty="0"/>
          </a:p>
        </p:txBody>
      </p:sp>
      <p:sp>
        <p:nvSpPr>
          <p:cNvPr id="9" name="Shape 6"/>
          <p:cNvSpPr/>
          <p:nvPr/>
        </p:nvSpPr>
        <p:spPr>
          <a:xfrm>
            <a:off x="7132320" y="1417320"/>
            <a:ext cx="4480560" cy="2377440"/>
          </a:xfrm>
          <a:prstGeom prst="roundRect">
            <a:avLst>
              <a:gd name="adj" fmla="val 4615"/>
            </a:avLst>
          </a:prstGeom>
          <a:solidFill>
            <a:srgbClr val="F3F6FA"/>
          </a:solidFill>
          <a:ln w="9525">
            <a:solidFill>
              <a:srgbClr val="F3F6FA"/>
            </a:solidFill>
            <a:prstDash val="solid"/>
          </a:ln>
        </p:spPr>
      </p:sp>
      <p:pic>
        <p:nvPicPr>
          <p:cNvPr id="10" name="Image 1" descr="preencoded.png">    </p:cNvPr>
          <p:cNvPicPr>
            <a:picLocks noChangeAspect="1"/>
          </p:cNvPicPr>
          <p:nvPr/>
        </p:nvPicPr>
        <p:blipFill>
          <a:blip r:embed="rId2"/>
          <a:stretch>
            <a:fillRect/>
          </a:stretch>
        </p:blipFill>
        <p:spPr>
          <a:xfrm>
            <a:off x="7406640" y="1627632"/>
            <a:ext cx="365760" cy="365760"/>
          </a:xfrm>
          <a:prstGeom prst="rect">
            <a:avLst/>
          </a:prstGeom>
        </p:spPr>
      </p:pic>
      <p:sp>
        <p:nvSpPr>
          <p:cNvPr id="11" name="Text 7"/>
          <p:cNvSpPr txBox="1"/>
          <p:nvPr/>
        </p:nvSpPr>
        <p:spPr>
          <a:xfrm>
            <a:off x="7909560" y="1600200"/>
            <a:ext cx="2743200" cy="411480"/>
          </a:xfrm>
          <a:prstGeom prst="rect">
            <a:avLst/>
          </a:prstGeom>
          <a:noFill/>
          <a:ln/>
        </p:spPr>
        <p:txBody>
          <a:bodyPr wrap="square" lIns="0" tIns="0" rIns="0" bIns="0" rtlCol="0" anchor="ctr"/>
          <a:lstStyle/>
          <a:p>
            <a:pPr indent="0" marL="0">
              <a:buNone/>
            </a:pPr>
            <a:r>
              <a:rPr lang="en-US" sz="1900" b="1" dirty="0">
                <a:solidFill>
                  <a:srgbClr val="0B1F3A"/>
                </a:solidFill>
                <a:latin typeface="Calibri" pitchFamily="34" charset="0"/>
                <a:ea typeface="Calibri" pitchFamily="34" charset="-122"/>
                <a:cs typeface="Calibri" pitchFamily="34" charset="-120"/>
              </a:rPr>
              <a:t>Out of scope</a:t>
            </a:r>
            <a:endParaRPr lang="en-US" sz="1900" dirty="0"/>
          </a:p>
        </p:txBody>
      </p:sp>
      <p:sp>
        <p:nvSpPr>
          <p:cNvPr id="12" name="Text 8"/>
          <p:cNvSpPr txBox="1"/>
          <p:nvPr/>
        </p:nvSpPr>
        <p:spPr>
          <a:xfrm>
            <a:off x="7406640" y="2148840"/>
            <a:ext cx="402336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1F2A3C"/>
                </a:solidFill>
                <a:latin typeface="Calibri" pitchFamily="34" charset="0"/>
                <a:ea typeface="Calibri" pitchFamily="34" charset="-122"/>
                <a:cs typeface="Calibri" pitchFamily="34" charset="-120"/>
              </a:rPr>
              <a:t>Multi-camera re-identification</a:t>
            </a:r>
            <a:endParaRPr lang="en-US" sz="1500" dirty="0"/>
          </a:p>
          <a:p>
            <a:pPr marL="342900" indent="-342900">
              <a:spcAft>
                <a:spcPts val="400"/>
              </a:spcAft>
              <a:buSzPct val="100000"/>
              <a:buChar char="•"/>
            </a:pPr>
            <a:r>
              <a:rPr lang="en-US" sz="1500" dirty="0">
                <a:solidFill>
                  <a:srgbClr val="1F2A3C"/>
                </a:solidFill>
                <a:latin typeface="Calibri" pitchFamily="34" charset="0"/>
                <a:ea typeface="Calibri" pitchFamily="34" charset="-122"/>
                <a:cs typeface="Calibri" pitchFamily="34" charset="-120"/>
              </a:rPr>
              <a:t>Face recognition</a:t>
            </a:r>
            <a:endParaRPr lang="en-US" sz="1500" dirty="0"/>
          </a:p>
          <a:p>
            <a:pPr marL="342900" indent="-342900">
              <a:spcAft>
                <a:spcPts val="400"/>
              </a:spcAft>
              <a:buSzPct val="100000"/>
              <a:buChar char="•"/>
            </a:pPr>
            <a:r>
              <a:rPr lang="en-US" sz="1500" dirty="0">
                <a:solidFill>
                  <a:srgbClr val="1F2A3C"/>
                </a:solidFill>
                <a:latin typeface="Calibri" pitchFamily="34" charset="0"/>
                <a:ea typeface="Calibri" pitchFamily="34" charset="-122"/>
                <a:cs typeface="Calibri" pitchFamily="34" charset="-120"/>
              </a:rPr>
              <a:t>Concealed weapon detection</a:t>
            </a:r>
            <a:endParaRPr lang="en-US" sz="1500" dirty="0"/>
          </a:p>
        </p:txBody>
      </p:sp>
      <p:sp>
        <p:nvSpPr>
          <p:cNvPr id="13" name="Text 9"/>
          <p:cNvSpPr txBox="1"/>
          <p:nvPr/>
        </p:nvSpPr>
        <p:spPr>
          <a:xfrm>
            <a:off x="548640" y="4023360"/>
            <a:ext cx="3657600" cy="274320"/>
          </a:xfrm>
          <a:prstGeom prst="rect">
            <a:avLst/>
          </a:prstGeom>
          <a:noFill/>
          <a:ln/>
        </p:spPr>
        <p:txBody>
          <a:bodyPr wrap="square" lIns="0" tIns="0" rIns="0" bIns="0" rtlCol="0" anchor="t"/>
          <a:lstStyle/>
          <a:p>
            <a:pPr indent="0" marL="0">
              <a:buNone/>
            </a:pPr>
            <a:r>
              <a:rPr lang="en-US" sz="1200" b="1" spc="300" kern="0" dirty="0">
                <a:solidFill>
                  <a:srgbClr val="5A6B82"/>
                </a:solidFill>
                <a:latin typeface="Calibri" pitchFamily="34" charset="0"/>
                <a:ea typeface="Calibri" pitchFamily="34" charset="-122"/>
                <a:cs typeface="Calibri" pitchFamily="34" charset="-120"/>
              </a:rPr>
              <a:t>ROADMAP</a:t>
            </a:r>
            <a:endParaRPr lang="en-US" sz="1200" dirty="0"/>
          </a:p>
        </p:txBody>
      </p:sp>
      <p:sp>
        <p:nvSpPr>
          <p:cNvPr id="14" name="Shape 10"/>
          <p:cNvSpPr/>
          <p:nvPr/>
        </p:nvSpPr>
        <p:spPr>
          <a:xfrm>
            <a:off x="1828800" y="4617720"/>
            <a:ext cx="8229600" cy="0"/>
          </a:xfrm>
          <a:prstGeom prst="line">
            <a:avLst/>
          </a:prstGeom>
          <a:noFill/>
          <a:ln w="38100">
            <a:solidFill>
              <a:srgbClr val="B8C4D6"/>
            </a:solidFill>
            <a:prstDash val="solid"/>
          </a:ln>
        </p:spPr>
      </p:sp>
      <p:sp>
        <p:nvSpPr>
          <p:cNvPr id="15" name="Shape 11"/>
          <p:cNvSpPr/>
          <p:nvPr/>
        </p:nvSpPr>
        <p:spPr>
          <a:xfrm>
            <a:off x="1554480" y="4343400"/>
            <a:ext cx="548640" cy="548640"/>
          </a:xfrm>
          <a:prstGeom prst="ellipse">
            <a:avLst/>
          </a:prstGeom>
          <a:solidFill>
            <a:srgbClr val="C9A227"/>
          </a:solidFill>
          <a:ln w="28575">
            <a:solidFill>
              <a:srgbClr val="C9A227"/>
            </a:solidFill>
            <a:prstDash val="solid"/>
          </a:ln>
        </p:spPr>
      </p:sp>
      <p:pic>
        <p:nvPicPr>
          <p:cNvPr id="16" name="Image 2" descr="preencoded.png">    </p:cNvPr>
          <p:cNvPicPr>
            <a:picLocks noChangeAspect="1"/>
          </p:cNvPicPr>
          <p:nvPr/>
        </p:nvPicPr>
        <p:blipFill>
          <a:blip r:embed="rId3"/>
          <a:stretch>
            <a:fillRect/>
          </a:stretch>
        </p:blipFill>
        <p:spPr>
          <a:xfrm>
            <a:off x="1691640" y="4480560"/>
            <a:ext cx="274320" cy="274320"/>
          </a:xfrm>
          <a:prstGeom prst="rect">
            <a:avLst/>
          </a:prstGeom>
        </p:spPr>
      </p:pic>
      <p:sp>
        <p:nvSpPr>
          <p:cNvPr id="17" name="Text 12"/>
          <p:cNvSpPr txBox="1"/>
          <p:nvPr/>
        </p:nvSpPr>
        <p:spPr>
          <a:xfrm>
            <a:off x="548640" y="5074920"/>
            <a:ext cx="2560320" cy="274320"/>
          </a:xfrm>
          <a:prstGeom prst="rect">
            <a:avLst/>
          </a:prstGeom>
          <a:noFill/>
          <a:ln/>
        </p:spPr>
        <p:txBody>
          <a:bodyPr wrap="square" lIns="0" tIns="0" rIns="0" bIns="0" rtlCol="0" anchor="t"/>
          <a:lstStyle/>
          <a:p>
            <a:pPr algn="ctr" indent="0" marL="0">
              <a:buNone/>
            </a:pPr>
            <a:r>
              <a:rPr lang="en-US" sz="1500" b="1" dirty="0">
                <a:solidFill>
                  <a:srgbClr val="0B1F3A"/>
                </a:solidFill>
                <a:latin typeface="Calibri" pitchFamily="34" charset="0"/>
                <a:ea typeface="Calibri" pitchFamily="34" charset="-122"/>
                <a:cs typeface="Calibri" pitchFamily="34" charset="-120"/>
              </a:rPr>
              <a:t>Aug - Oct 2026</a:t>
            </a:r>
            <a:endParaRPr lang="en-US" sz="1500" dirty="0"/>
          </a:p>
        </p:txBody>
      </p:sp>
      <p:sp>
        <p:nvSpPr>
          <p:cNvPr id="18" name="Text 13"/>
          <p:cNvSpPr txBox="1"/>
          <p:nvPr/>
        </p:nvSpPr>
        <p:spPr>
          <a:xfrm>
            <a:off x="548640" y="5376672"/>
            <a:ext cx="2560320" cy="502920"/>
          </a:xfrm>
          <a:prstGeom prst="rect">
            <a:avLst/>
          </a:prstGeom>
          <a:noFill/>
          <a:ln/>
        </p:spPr>
        <p:txBody>
          <a:bodyPr wrap="square" lIns="0" tIns="0" rIns="0" bIns="0" rtlCol="0" anchor="t"/>
          <a:lstStyle/>
          <a:p>
            <a:pPr algn="ctr" indent="0" marL="0">
              <a:buNone/>
            </a:pPr>
            <a:r>
              <a:rPr lang="en-US" sz="1300" dirty="0">
                <a:solidFill>
                  <a:srgbClr val="1F2A3C"/>
                </a:solidFill>
                <a:latin typeface="Calibri" pitchFamily="34" charset="0"/>
                <a:ea typeface="Calibri" pitchFamily="34" charset="-122"/>
                <a:cs typeface="Calibri" pitchFamily="34" charset="-120"/>
              </a:rPr>
              <a:t>Research and dataset prep</a:t>
            </a:r>
            <a:endParaRPr lang="en-US" sz="1300" dirty="0"/>
          </a:p>
        </p:txBody>
      </p:sp>
      <p:sp>
        <p:nvSpPr>
          <p:cNvPr id="19" name="Text 14"/>
          <p:cNvSpPr txBox="1"/>
          <p:nvPr/>
        </p:nvSpPr>
        <p:spPr>
          <a:xfrm>
            <a:off x="548640" y="5943600"/>
            <a:ext cx="2560320" cy="274320"/>
          </a:xfrm>
          <a:prstGeom prst="rect">
            <a:avLst/>
          </a:prstGeom>
          <a:noFill/>
          <a:ln/>
        </p:spPr>
        <p:txBody>
          <a:bodyPr wrap="square" lIns="0" tIns="0" rIns="0" bIns="0" rtlCol="0" anchor="t"/>
          <a:lstStyle/>
          <a:p>
            <a:pPr algn="ctr" indent="0" marL="0">
              <a:buNone/>
            </a:pPr>
            <a:r>
              <a:rPr lang="en-US" sz="1200" b="1" dirty="0">
                <a:solidFill>
                  <a:srgbClr val="1F7A4D"/>
                </a:solidFill>
                <a:latin typeface="Calibri" pitchFamily="34" charset="0"/>
                <a:ea typeface="Calibri" pitchFamily="34" charset="-122"/>
                <a:cs typeface="Calibri" pitchFamily="34" charset="-120"/>
              </a:rPr>
              <a:t>Completed</a:t>
            </a:r>
            <a:endParaRPr lang="en-US" sz="1200" dirty="0"/>
          </a:p>
        </p:txBody>
      </p:sp>
      <p:sp>
        <p:nvSpPr>
          <p:cNvPr id="20" name="Shape 15"/>
          <p:cNvSpPr/>
          <p:nvPr/>
        </p:nvSpPr>
        <p:spPr>
          <a:xfrm>
            <a:off x="4297680" y="4343400"/>
            <a:ext cx="548640" cy="548640"/>
          </a:xfrm>
          <a:prstGeom prst="ellipse">
            <a:avLst/>
          </a:prstGeom>
          <a:solidFill>
            <a:srgbClr val="FFFFFF"/>
          </a:solidFill>
          <a:ln w="28575">
            <a:solidFill>
              <a:srgbClr val="0B1F3A"/>
            </a:solidFill>
            <a:prstDash val="solid"/>
          </a:ln>
        </p:spPr>
      </p:sp>
      <p:sp>
        <p:nvSpPr>
          <p:cNvPr id="21" name="Text 16"/>
          <p:cNvSpPr txBox="1"/>
          <p:nvPr/>
        </p:nvSpPr>
        <p:spPr>
          <a:xfrm>
            <a:off x="4297680" y="4343400"/>
            <a:ext cx="548640" cy="5486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3</a:t>
            </a:r>
            <a:endParaRPr lang="en-US" sz="1300" dirty="0"/>
          </a:p>
        </p:txBody>
      </p:sp>
      <p:sp>
        <p:nvSpPr>
          <p:cNvPr id="22" name="Text 17"/>
          <p:cNvSpPr txBox="1"/>
          <p:nvPr/>
        </p:nvSpPr>
        <p:spPr>
          <a:xfrm>
            <a:off x="3291840" y="5074920"/>
            <a:ext cx="2560320" cy="274320"/>
          </a:xfrm>
          <a:prstGeom prst="rect">
            <a:avLst/>
          </a:prstGeom>
          <a:noFill/>
          <a:ln/>
        </p:spPr>
        <p:txBody>
          <a:bodyPr wrap="square" lIns="0" tIns="0" rIns="0" bIns="0" rtlCol="0" anchor="t"/>
          <a:lstStyle/>
          <a:p>
            <a:pPr algn="ctr" indent="0" marL="0">
              <a:buNone/>
            </a:pPr>
            <a:r>
              <a:rPr lang="en-US" sz="1500" b="1" dirty="0">
                <a:solidFill>
                  <a:srgbClr val="0B1F3A"/>
                </a:solidFill>
                <a:latin typeface="Calibri" pitchFamily="34" charset="0"/>
                <a:ea typeface="Calibri" pitchFamily="34" charset="-122"/>
                <a:cs typeface="Calibri" pitchFamily="34" charset="-120"/>
              </a:rPr>
              <a:t>Nov 2026 - Jan 2027</a:t>
            </a:r>
            <a:endParaRPr lang="en-US" sz="1500" dirty="0"/>
          </a:p>
        </p:txBody>
      </p:sp>
      <p:sp>
        <p:nvSpPr>
          <p:cNvPr id="23" name="Text 18"/>
          <p:cNvSpPr txBox="1"/>
          <p:nvPr/>
        </p:nvSpPr>
        <p:spPr>
          <a:xfrm>
            <a:off x="3291840" y="5376672"/>
            <a:ext cx="2560320" cy="502920"/>
          </a:xfrm>
          <a:prstGeom prst="rect">
            <a:avLst/>
          </a:prstGeom>
          <a:noFill/>
          <a:ln/>
        </p:spPr>
        <p:txBody>
          <a:bodyPr wrap="square" lIns="0" tIns="0" rIns="0" bIns="0" rtlCol="0" anchor="t"/>
          <a:lstStyle/>
          <a:p>
            <a:pPr algn="ctr" indent="0" marL="0">
              <a:buNone/>
            </a:pPr>
            <a:r>
              <a:rPr lang="en-US" sz="1300" dirty="0">
                <a:solidFill>
                  <a:srgbClr val="1F2A3C"/>
                </a:solidFill>
                <a:latin typeface="Calibri" pitchFamily="34" charset="0"/>
                <a:ea typeface="Calibri" pitchFamily="34" charset="-122"/>
                <a:cs typeface="Calibri" pitchFamily="34" charset="-120"/>
              </a:rPr>
              <a:t>Model training and fine-tuning</a:t>
            </a:r>
            <a:endParaRPr lang="en-US" sz="1300" dirty="0"/>
          </a:p>
        </p:txBody>
      </p:sp>
      <p:sp>
        <p:nvSpPr>
          <p:cNvPr id="24" name="Shape 19"/>
          <p:cNvSpPr/>
          <p:nvPr/>
        </p:nvSpPr>
        <p:spPr>
          <a:xfrm>
            <a:off x="7040880" y="4343400"/>
            <a:ext cx="548640" cy="548640"/>
          </a:xfrm>
          <a:prstGeom prst="ellipse">
            <a:avLst/>
          </a:prstGeom>
          <a:solidFill>
            <a:srgbClr val="FFFFFF"/>
          </a:solidFill>
          <a:ln w="28575">
            <a:solidFill>
              <a:srgbClr val="0B1F3A"/>
            </a:solidFill>
            <a:prstDash val="solid"/>
          </a:ln>
        </p:spPr>
      </p:sp>
      <p:sp>
        <p:nvSpPr>
          <p:cNvPr id="25" name="Text 20"/>
          <p:cNvSpPr txBox="1"/>
          <p:nvPr/>
        </p:nvSpPr>
        <p:spPr>
          <a:xfrm>
            <a:off x="7040880" y="4343400"/>
            <a:ext cx="548640" cy="5486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4-5</a:t>
            </a:r>
            <a:endParaRPr lang="en-US" sz="1300" dirty="0"/>
          </a:p>
        </p:txBody>
      </p:sp>
      <p:sp>
        <p:nvSpPr>
          <p:cNvPr id="26" name="Text 21"/>
          <p:cNvSpPr txBox="1"/>
          <p:nvPr/>
        </p:nvSpPr>
        <p:spPr>
          <a:xfrm>
            <a:off x="6035040" y="5074920"/>
            <a:ext cx="2560320" cy="274320"/>
          </a:xfrm>
          <a:prstGeom prst="rect">
            <a:avLst/>
          </a:prstGeom>
          <a:noFill/>
          <a:ln/>
        </p:spPr>
        <p:txBody>
          <a:bodyPr wrap="square" lIns="0" tIns="0" rIns="0" bIns="0" rtlCol="0" anchor="t"/>
          <a:lstStyle/>
          <a:p>
            <a:pPr algn="ctr" indent="0" marL="0">
              <a:buNone/>
            </a:pPr>
            <a:r>
              <a:rPr lang="en-US" sz="1500" b="1" dirty="0">
                <a:solidFill>
                  <a:srgbClr val="0B1F3A"/>
                </a:solidFill>
                <a:latin typeface="Calibri" pitchFamily="34" charset="0"/>
                <a:ea typeface="Calibri" pitchFamily="34" charset="-122"/>
                <a:cs typeface="Calibri" pitchFamily="34" charset="-120"/>
              </a:rPr>
              <a:t>Feb - Apr 2027</a:t>
            </a:r>
            <a:endParaRPr lang="en-US" sz="1500" dirty="0"/>
          </a:p>
        </p:txBody>
      </p:sp>
      <p:sp>
        <p:nvSpPr>
          <p:cNvPr id="27" name="Text 22"/>
          <p:cNvSpPr txBox="1"/>
          <p:nvPr/>
        </p:nvSpPr>
        <p:spPr>
          <a:xfrm>
            <a:off x="6035040" y="5376672"/>
            <a:ext cx="2560320" cy="502920"/>
          </a:xfrm>
          <a:prstGeom prst="rect">
            <a:avLst/>
          </a:prstGeom>
          <a:noFill/>
          <a:ln/>
        </p:spPr>
        <p:txBody>
          <a:bodyPr wrap="square" lIns="0" tIns="0" rIns="0" bIns="0" rtlCol="0" anchor="t"/>
          <a:lstStyle/>
          <a:p>
            <a:pPr algn="ctr" indent="0" marL="0">
              <a:buNone/>
            </a:pPr>
            <a:r>
              <a:rPr lang="en-US" sz="1300" dirty="0">
                <a:solidFill>
                  <a:srgbClr val="1F2A3C"/>
                </a:solidFill>
                <a:latin typeface="Calibri" pitchFamily="34" charset="0"/>
                <a:ea typeface="Calibri" pitchFamily="34" charset="-122"/>
                <a:cs typeface="Calibri" pitchFamily="34" charset="-120"/>
              </a:rPr>
              <a:t>Integration and testing</a:t>
            </a:r>
            <a:endParaRPr lang="en-US" sz="1300" dirty="0"/>
          </a:p>
        </p:txBody>
      </p:sp>
      <p:sp>
        <p:nvSpPr>
          <p:cNvPr id="28" name="Shape 23"/>
          <p:cNvSpPr/>
          <p:nvPr/>
        </p:nvSpPr>
        <p:spPr>
          <a:xfrm>
            <a:off x="9784080" y="4343400"/>
            <a:ext cx="548640" cy="548640"/>
          </a:xfrm>
          <a:prstGeom prst="ellipse">
            <a:avLst/>
          </a:prstGeom>
          <a:solidFill>
            <a:srgbClr val="FFFFFF"/>
          </a:solidFill>
          <a:ln w="28575">
            <a:solidFill>
              <a:srgbClr val="0B1F3A"/>
            </a:solidFill>
            <a:prstDash val="solid"/>
          </a:ln>
        </p:spPr>
      </p:sp>
      <p:sp>
        <p:nvSpPr>
          <p:cNvPr id="29" name="Text 24"/>
          <p:cNvSpPr txBox="1"/>
          <p:nvPr/>
        </p:nvSpPr>
        <p:spPr>
          <a:xfrm>
            <a:off x="9784080" y="4343400"/>
            <a:ext cx="548640" cy="5486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6</a:t>
            </a:r>
            <a:endParaRPr lang="en-US" sz="1300" dirty="0"/>
          </a:p>
        </p:txBody>
      </p:sp>
      <p:sp>
        <p:nvSpPr>
          <p:cNvPr id="30" name="Text 25"/>
          <p:cNvSpPr txBox="1"/>
          <p:nvPr/>
        </p:nvSpPr>
        <p:spPr>
          <a:xfrm>
            <a:off x="8778240" y="5074920"/>
            <a:ext cx="2560320" cy="274320"/>
          </a:xfrm>
          <a:prstGeom prst="rect">
            <a:avLst/>
          </a:prstGeom>
          <a:noFill/>
          <a:ln/>
        </p:spPr>
        <p:txBody>
          <a:bodyPr wrap="square" lIns="0" tIns="0" rIns="0" bIns="0" rtlCol="0" anchor="t"/>
          <a:lstStyle/>
          <a:p>
            <a:pPr algn="ctr" indent="0" marL="0">
              <a:buNone/>
            </a:pPr>
            <a:r>
              <a:rPr lang="en-US" sz="1500" b="1" dirty="0">
                <a:solidFill>
                  <a:srgbClr val="0B1F3A"/>
                </a:solidFill>
                <a:latin typeface="Calibri" pitchFamily="34" charset="0"/>
                <a:ea typeface="Calibri" pitchFamily="34" charset="-122"/>
                <a:cs typeface="Calibri" pitchFamily="34" charset="-120"/>
              </a:rPr>
              <a:t>May - Jun 2027</a:t>
            </a:r>
            <a:endParaRPr lang="en-US" sz="1500" dirty="0"/>
          </a:p>
        </p:txBody>
      </p:sp>
      <p:sp>
        <p:nvSpPr>
          <p:cNvPr id="31" name="Text 26"/>
          <p:cNvSpPr txBox="1"/>
          <p:nvPr/>
        </p:nvSpPr>
        <p:spPr>
          <a:xfrm>
            <a:off x="8778240" y="5376672"/>
            <a:ext cx="2560320" cy="502920"/>
          </a:xfrm>
          <a:prstGeom prst="rect">
            <a:avLst/>
          </a:prstGeom>
          <a:noFill/>
          <a:ln/>
        </p:spPr>
        <p:txBody>
          <a:bodyPr wrap="square" lIns="0" tIns="0" rIns="0" bIns="0" rtlCol="0" anchor="t"/>
          <a:lstStyle/>
          <a:p>
            <a:pPr algn="ctr" indent="0" marL="0">
              <a:buNone/>
            </a:pPr>
            <a:r>
              <a:rPr lang="en-US" sz="1300" dirty="0">
                <a:solidFill>
                  <a:srgbClr val="1F2A3C"/>
                </a:solidFill>
                <a:latin typeface="Calibri" pitchFamily="34" charset="0"/>
                <a:ea typeface="Calibri" pitchFamily="34" charset="-122"/>
                <a:cs typeface="Calibri" pitchFamily="34" charset="-120"/>
              </a:rPr>
              <a:t>Final documentation and defense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731520" y="548640"/>
            <a:ext cx="731520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Conclusion and Q&amp;A</a:t>
            </a:r>
            <a:endParaRPr lang="en-US" sz="3800" dirty="0"/>
          </a:p>
        </p:txBody>
      </p:sp>
      <p:sp>
        <p:nvSpPr>
          <p:cNvPr id="3" name="Shape 1"/>
          <p:cNvSpPr/>
          <p:nvPr/>
        </p:nvSpPr>
        <p:spPr>
          <a:xfrm>
            <a:off x="731520" y="1737360"/>
            <a:ext cx="777240" cy="777240"/>
          </a:xfrm>
          <a:prstGeom prst="ellipse">
            <a:avLst/>
          </a:prstGeom>
          <a:solidFill>
            <a:srgbClr val="1B3A6B"/>
          </a:solidFill>
          <a:ln w="6350">
            <a:solidFill>
              <a:srgbClr val="1B3A6B"/>
            </a:solidFill>
            <a:prstDash val="solid"/>
          </a:ln>
        </p:spPr>
      </p:sp>
      <p:pic>
        <p:nvPicPr>
          <p:cNvPr id="4" name="Image 0" descr="preencoded.png">    </p:cNvPr>
          <p:cNvPicPr>
            <a:picLocks noChangeAspect="1"/>
          </p:cNvPicPr>
          <p:nvPr/>
        </p:nvPicPr>
        <p:blipFill>
          <a:blip r:embed="rId1"/>
          <a:stretch>
            <a:fillRect/>
          </a:stretch>
        </p:blipFill>
        <p:spPr>
          <a:xfrm>
            <a:off x="925830" y="1931670"/>
            <a:ext cx="388620" cy="388620"/>
          </a:xfrm>
          <a:prstGeom prst="rect">
            <a:avLst/>
          </a:prstGeom>
        </p:spPr>
      </p:pic>
      <p:sp>
        <p:nvSpPr>
          <p:cNvPr id="5" name="Text 2"/>
          <p:cNvSpPr txBox="1"/>
          <p:nvPr/>
        </p:nvSpPr>
        <p:spPr>
          <a:xfrm>
            <a:off x="1783080" y="1691640"/>
            <a:ext cx="5212080" cy="86868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From passive recording to proactive prevention.</a:t>
            </a:r>
            <a:endParaRPr lang="en-US" sz="1800" dirty="0"/>
          </a:p>
        </p:txBody>
      </p:sp>
      <p:sp>
        <p:nvSpPr>
          <p:cNvPr id="6" name="Shape 3"/>
          <p:cNvSpPr/>
          <p:nvPr/>
        </p:nvSpPr>
        <p:spPr>
          <a:xfrm>
            <a:off x="731520" y="3108960"/>
            <a:ext cx="777240" cy="777240"/>
          </a:xfrm>
          <a:prstGeom prst="ellipse">
            <a:avLst/>
          </a:prstGeom>
          <a:solidFill>
            <a:srgbClr val="1B3A6B"/>
          </a:solidFill>
          <a:ln w="6350">
            <a:solidFill>
              <a:srgbClr val="1B3A6B"/>
            </a:solidFill>
            <a:prstDash val="solid"/>
          </a:ln>
        </p:spPr>
      </p:sp>
      <p:pic>
        <p:nvPicPr>
          <p:cNvPr id="7" name="Image 1" descr="preencoded.png">    </p:cNvPr>
          <p:cNvPicPr>
            <a:picLocks noChangeAspect="1"/>
          </p:cNvPicPr>
          <p:nvPr/>
        </p:nvPicPr>
        <p:blipFill>
          <a:blip r:embed="rId2"/>
          <a:stretch>
            <a:fillRect/>
          </a:stretch>
        </p:blipFill>
        <p:spPr>
          <a:xfrm>
            <a:off x="925830" y="3303270"/>
            <a:ext cx="388620" cy="388620"/>
          </a:xfrm>
          <a:prstGeom prst="rect">
            <a:avLst/>
          </a:prstGeom>
        </p:spPr>
      </p:pic>
      <p:sp>
        <p:nvSpPr>
          <p:cNvPr id="8" name="Text 4"/>
          <p:cNvSpPr txBox="1"/>
          <p:nvPr/>
        </p:nvSpPr>
        <p:spPr>
          <a:xfrm>
            <a:off x="1783080" y="3063240"/>
            <a:ext cx="5212080" cy="86868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One real-time pipeline unifying weapon detection, pose-based behavior recognition and false-alarm suppression.</a:t>
            </a:r>
            <a:endParaRPr lang="en-US" sz="1800" dirty="0"/>
          </a:p>
        </p:txBody>
      </p:sp>
      <p:sp>
        <p:nvSpPr>
          <p:cNvPr id="9" name="Shape 5"/>
          <p:cNvSpPr/>
          <p:nvPr/>
        </p:nvSpPr>
        <p:spPr>
          <a:xfrm>
            <a:off x="731520" y="4480560"/>
            <a:ext cx="777240" cy="777240"/>
          </a:xfrm>
          <a:prstGeom prst="ellipse">
            <a:avLst/>
          </a:prstGeom>
          <a:solidFill>
            <a:srgbClr val="1B3A6B"/>
          </a:solidFill>
          <a:ln w="6350">
            <a:solidFill>
              <a:srgbClr val="1B3A6B"/>
            </a:solidFill>
            <a:prstDash val="solid"/>
          </a:ln>
        </p:spPr>
      </p:sp>
      <p:pic>
        <p:nvPicPr>
          <p:cNvPr id="10" name="Image 2" descr="preencoded.png">    </p:cNvPr>
          <p:cNvPicPr>
            <a:picLocks noChangeAspect="1"/>
          </p:cNvPicPr>
          <p:nvPr/>
        </p:nvPicPr>
        <p:blipFill>
          <a:blip r:embed="rId3"/>
          <a:stretch>
            <a:fillRect/>
          </a:stretch>
        </p:blipFill>
        <p:spPr>
          <a:xfrm>
            <a:off x="925830" y="4674870"/>
            <a:ext cx="388620" cy="388620"/>
          </a:xfrm>
          <a:prstGeom prst="rect">
            <a:avLst/>
          </a:prstGeom>
        </p:spPr>
      </p:pic>
      <p:sp>
        <p:nvSpPr>
          <p:cNvPr id="11" name="Text 6"/>
          <p:cNvSpPr txBox="1"/>
          <p:nvPr/>
        </p:nvSpPr>
        <p:spPr>
          <a:xfrm>
            <a:off x="1783080" y="4434840"/>
            <a:ext cx="5212080" cy="86868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Next step: dataset curation and model training.</a:t>
            </a:r>
            <a:endParaRPr lang="en-US" sz="1800" dirty="0"/>
          </a:p>
        </p:txBody>
      </p:sp>
      <p:sp>
        <p:nvSpPr>
          <p:cNvPr id="12" name="Shape 7"/>
          <p:cNvSpPr/>
          <p:nvPr/>
        </p:nvSpPr>
        <p:spPr>
          <a:xfrm>
            <a:off x="7589520" y="1463040"/>
            <a:ext cx="4023360" cy="4206240"/>
          </a:xfrm>
          <a:prstGeom prst="roundRect">
            <a:avLst>
              <a:gd name="adj" fmla="val 2727"/>
            </a:avLst>
          </a:prstGeom>
          <a:solidFill>
            <a:srgbClr val="1B3A6B"/>
          </a:solidFill>
          <a:ln w="9525">
            <a:solidFill>
              <a:srgbClr val="1B3A6B"/>
            </a:solidFill>
            <a:prstDash val="solid"/>
          </a:ln>
        </p:spPr>
      </p:sp>
      <p:sp>
        <p:nvSpPr>
          <p:cNvPr id="13" name="Shape 8"/>
          <p:cNvSpPr/>
          <p:nvPr/>
        </p:nvSpPr>
        <p:spPr>
          <a:xfrm>
            <a:off x="8823960" y="1828800"/>
            <a:ext cx="1554480" cy="1554480"/>
          </a:xfrm>
          <a:prstGeom prst="ellipse">
            <a:avLst/>
          </a:prstGeom>
          <a:solidFill>
            <a:srgbClr val="0B1F3A"/>
          </a:solidFill>
          <a:ln w="28575">
            <a:solidFill>
              <a:srgbClr val="C9A227"/>
            </a:solidFill>
            <a:prstDash val="solid"/>
          </a:ln>
        </p:spPr>
      </p:sp>
      <p:pic>
        <p:nvPicPr>
          <p:cNvPr id="14" name="Image 3" descr="preencoded.png">    </p:cNvPr>
          <p:cNvPicPr>
            <a:picLocks noChangeAspect="1"/>
          </p:cNvPicPr>
          <p:nvPr/>
        </p:nvPicPr>
        <p:blipFill>
          <a:blip r:embed="rId4"/>
          <a:stretch>
            <a:fillRect/>
          </a:stretch>
        </p:blipFill>
        <p:spPr>
          <a:xfrm>
            <a:off x="9281160" y="2286000"/>
            <a:ext cx="640080" cy="640080"/>
          </a:xfrm>
          <a:prstGeom prst="rect">
            <a:avLst/>
          </a:prstGeom>
        </p:spPr>
      </p:pic>
      <p:sp>
        <p:nvSpPr>
          <p:cNvPr id="15" name="Text 9"/>
          <p:cNvSpPr txBox="1"/>
          <p:nvPr/>
        </p:nvSpPr>
        <p:spPr>
          <a:xfrm>
            <a:off x="7589520" y="3657600"/>
            <a:ext cx="4023360" cy="73152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Thank You</a:t>
            </a:r>
            <a:endParaRPr lang="en-US" sz="3800" dirty="0"/>
          </a:p>
        </p:txBody>
      </p:sp>
      <p:sp>
        <p:nvSpPr>
          <p:cNvPr id="16" name="Text 10"/>
          <p:cNvSpPr txBox="1"/>
          <p:nvPr/>
        </p:nvSpPr>
        <p:spPr>
          <a:xfrm>
            <a:off x="7772400" y="4526280"/>
            <a:ext cx="3657600" cy="731520"/>
          </a:xfrm>
          <a:prstGeom prst="rect">
            <a:avLst/>
          </a:prstGeom>
          <a:noFill/>
          <a:ln/>
        </p:spPr>
        <p:txBody>
          <a:bodyPr wrap="square" lIns="0" tIns="0" rIns="0" bIns="0" rtlCol="0" anchor="t"/>
          <a:lstStyle/>
          <a:p>
            <a:pPr algn="ctr" indent="0" marL="0">
              <a:buNone/>
            </a:pPr>
            <a:r>
              <a:rPr lang="en-US" sz="1600" dirty="0">
                <a:solidFill>
                  <a:srgbClr val="C9D6EA"/>
                </a:solidFill>
                <a:latin typeface="Calibri" pitchFamily="34" charset="0"/>
                <a:ea typeface="Calibri" pitchFamily="34" charset="-122"/>
                <a:cs typeface="Calibri" pitchFamily="34" charset="-120"/>
              </a:rPr>
              <a:t>Questions and feedback are welcome</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B1F3A"/>
                </a:solidFill>
                <a:latin typeface="Cambria" pitchFamily="34" charset="0"/>
                <a:ea typeface="Cambria" pitchFamily="34" charset="-122"/>
                <a:cs typeface="Cambria" pitchFamily="34" charset="-120"/>
              </a:rPr>
              <a:t>References</a:t>
            </a:r>
            <a:endParaRPr lang="en-US" sz="3400" dirty="0"/>
          </a:p>
        </p:txBody>
      </p:sp>
      <p:sp>
        <p:nvSpPr>
          <p:cNvPr id="3" name="Text 1"/>
          <p:cNvSpPr txBox="1"/>
          <p:nvPr/>
        </p:nvSpPr>
        <p:spPr>
          <a:xfrm>
            <a:off x="548640" y="6400800"/>
            <a:ext cx="5486400" cy="228600"/>
          </a:xfrm>
          <a:prstGeom prst="rect">
            <a:avLst/>
          </a:prstGeom>
          <a:noFill/>
          <a:ln/>
        </p:spPr>
        <p:txBody>
          <a:bodyPr wrap="square" lIns="0" tIns="0" rIns="0" bIns="0" rtlCol="0" anchor="t"/>
          <a:lstStyle/>
          <a:p>
            <a:pPr indent="0" marL="0">
              <a:buNone/>
            </a:pPr>
            <a:r>
              <a:rPr lang="en-US" sz="1000" dirty="0">
                <a:solidFill>
                  <a:srgbClr val="5A6B82"/>
                </a:solidFill>
                <a:latin typeface="Calibri" pitchFamily="34" charset="0"/>
                <a:ea typeface="Calibri" pitchFamily="34" charset="-122"/>
                <a:cs typeface="Calibri" pitchFamily="34" charset="-120"/>
              </a:rPr>
              <a:t>SENTINEL  |  FYP-I Defense  |  FAST-NUCES</a:t>
            </a:r>
            <a:endParaRPr lang="en-US" sz="1000" dirty="0"/>
          </a:p>
        </p:txBody>
      </p:sp>
      <p:sp>
        <p:nvSpPr>
          <p:cNvPr id="4" name="Text 2"/>
          <p:cNvSpPr txBox="1"/>
          <p:nvPr/>
        </p:nvSpPr>
        <p:spPr>
          <a:xfrm>
            <a:off x="10698480" y="6400800"/>
            <a:ext cx="914400" cy="228600"/>
          </a:xfrm>
          <a:prstGeom prst="rect">
            <a:avLst/>
          </a:prstGeom>
          <a:noFill/>
          <a:ln/>
        </p:spPr>
        <p:txBody>
          <a:bodyPr wrap="square" lIns="0" tIns="0" rIns="0" bIns="0" rtlCol="0" anchor="t"/>
          <a:lstStyle/>
          <a:p>
            <a:pPr algn="r" indent="0" marL="0">
              <a:buNone/>
            </a:pPr>
            <a:r>
              <a:rPr lang="en-US" sz="1000" dirty="0">
                <a:solidFill>
                  <a:srgbClr val="5A6B82"/>
                </a:solidFill>
                <a:latin typeface="Calibri" pitchFamily="34" charset="0"/>
                <a:ea typeface="Calibri" pitchFamily="34" charset="-122"/>
                <a:cs typeface="Calibri" pitchFamily="34" charset="-120"/>
              </a:rPr>
              <a:t>18</a:t>
            </a:r>
            <a:endParaRPr lang="en-US" sz="1000" dirty="0"/>
          </a:p>
        </p:txBody>
      </p:sp>
      <p:sp>
        <p:nvSpPr>
          <p:cNvPr id="5" name="Text 3"/>
          <p:cNvSpPr txBox="1"/>
          <p:nvPr/>
        </p:nvSpPr>
        <p:spPr>
          <a:xfrm>
            <a:off x="548640" y="1554480"/>
            <a:ext cx="11064240" cy="4480560"/>
          </a:xfrm>
          <a:prstGeom prst="rect">
            <a:avLst/>
          </a:prstGeom>
          <a:noFill/>
          <a:ln/>
        </p:spPr>
        <p:txBody>
          <a:bodyPr wrap="square" lIns="0" tIns="0" rIns="0" bIns="0" rtlCol="0" anchor="t"/>
          <a:lstStyle/>
          <a:p>
            <a:pPr indent="0" marL="0">
              <a:spcAft>
                <a:spcPts val="2200"/>
              </a:spcAft>
              <a:buNone/>
            </a:pPr>
            <a:r>
              <a:rPr lang="en-US" sz="1600" dirty="0">
                <a:solidFill>
                  <a:srgbClr val="1F2A3C"/>
                </a:solidFill>
                <a:latin typeface="Calibri" pitchFamily="34" charset="0"/>
                <a:ea typeface="Calibri" pitchFamily="34" charset="-122"/>
                <a:cs typeface="Calibri" pitchFamily="34" charset="-120"/>
              </a:rPr>
              <a:t>[1]  Redmon, J., Divvala, S., Girshick, R., Farhadi, A. (2016). You Only Look Once: Unified, Real-Time Object Detection. CVPR.</a:t>
            </a:r>
            <a:endParaRPr lang="en-US" sz="1600" dirty="0"/>
          </a:p>
          <a:p>
            <a:pPr indent="0" marL="0">
              <a:spcAft>
                <a:spcPts val="2200"/>
              </a:spcAft>
              <a:buNone/>
            </a:pPr>
            <a:r>
              <a:rPr lang="en-US" sz="1600" dirty="0">
                <a:solidFill>
                  <a:srgbClr val="1F2A3C"/>
                </a:solidFill>
                <a:latin typeface="Calibri" pitchFamily="34" charset="0"/>
                <a:ea typeface="Calibri" pitchFamily="34" charset="-122"/>
                <a:cs typeface="Calibri" pitchFamily="34" charset="-120"/>
              </a:rPr>
              <a:t>[2]  Jocher, G., Chaurasia, A., Qiu, J. (2023). Ultralytics YOLOv8. github.com/ultralytics/ultralytics.</a:t>
            </a:r>
            <a:endParaRPr lang="en-US" sz="1600" dirty="0"/>
          </a:p>
          <a:p>
            <a:pPr indent="0" marL="0">
              <a:spcAft>
                <a:spcPts val="2200"/>
              </a:spcAft>
              <a:buNone/>
            </a:pPr>
            <a:r>
              <a:rPr lang="en-US" sz="1600" dirty="0">
                <a:solidFill>
                  <a:srgbClr val="1F2A3C"/>
                </a:solidFill>
                <a:latin typeface="Calibri" pitchFamily="34" charset="0"/>
                <a:ea typeface="Calibri" pitchFamily="34" charset="-122"/>
                <a:cs typeface="Calibri" pitchFamily="34" charset="-120"/>
              </a:rPr>
              <a:t>[3]  Hochreiter, S., Schmidhuber, J. (1997). Long Short-Term Memory. Neural Computation, 9(8).</a:t>
            </a:r>
            <a:endParaRPr lang="en-US" sz="1600" dirty="0"/>
          </a:p>
          <a:p>
            <a:pPr indent="0" marL="0">
              <a:spcAft>
                <a:spcPts val="2200"/>
              </a:spcAft>
              <a:buNone/>
            </a:pPr>
            <a:r>
              <a:rPr lang="en-US" sz="1600" dirty="0">
                <a:solidFill>
                  <a:srgbClr val="1F2A3C"/>
                </a:solidFill>
                <a:latin typeface="Calibri" pitchFamily="34" charset="0"/>
                <a:ea typeface="Calibri" pitchFamily="34" charset="-122"/>
                <a:cs typeface="Calibri" pitchFamily="34" charset="-120"/>
              </a:rPr>
              <a:t>[4]  Sultani, W., Chen, C., Shah, M. (2018). Real-World Anomaly Detection in Surveillance Videos. CVPR.</a:t>
            </a:r>
            <a:endParaRPr lang="en-US" sz="1600" dirty="0"/>
          </a:p>
          <a:p>
            <a:pPr indent="0" marL="0">
              <a:spcAft>
                <a:spcPts val="2200"/>
              </a:spcAft>
              <a:buNone/>
            </a:pPr>
            <a:r>
              <a:rPr lang="en-US" sz="1600" dirty="0">
                <a:solidFill>
                  <a:srgbClr val="1F2A3C"/>
                </a:solidFill>
                <a:latin typeface="Calibri" pitchFamily="34" charset="0"/>
                <a:ea typeface="Calibri" pitchFamily="34" charset="-122"/>
                <a:cs typeface="Calibri" pitchFamily="34" charset="-120"/>
              </a:rPr>
              <a:t>[5]  Cheng, M., Cai, K., Li, M. (2020). RWF-2000: An Open Large Scale Video Database for Violence Detection. ICPR.</a:t>
            </a:r>
            <a:endParaRPr lang="en-US" sz="1600" dirty="0"/>
          </a:p>
          <a:p>
            <a:pPr indent="0" marL="0">
              <a:spcAft>
                <a:spcPts val="2200"/>
              </a:spcAft>
              <a:buNone/>
            </a:pPr>
            <a:r>
              <a:rPr lang="en-US" sz="1600" dirty="0">
                <a:solidFill>
                  <a:srgbClr val="1F2A3C"/>
                </a:solidFill>
                <a:latin typeface="Calibri" pitchFamily="34" charset="0"/>
                <a:ea typeface="Calibri" pitchFamily="34" charset="-122"/>
                <a:cs typeface="Calibri" pitchFamily="34" charset="-120"/>
              </a:rPr>
              <a:t>[6]  Mackworth, N. H. (1948). The Breakdown of Vigilance during Prolonged Visual Search. Quarterly Journal of Experimental Psychology, 1(1).</a:t>
            </a:r>
            <a:endParaRPr lang="en-US" sz="1600" dirty="0"/>
          </a:p>
          <a:p>
            <a:pPr indent="0" marL="0">
              <a:spcAft>
                <a:spcPts val="2200"/>
              </a:spcAft>
              <a:buNone/>
            </a:pPr>
            <a:r>
              <a:rPr lang="en-US" sz="1600" i="1" dirty="0">
                <a:solidFill>
                  <a:srgbClr val="5A6B82"/>
                </a:solidFill>
                <a:latin typeface="Calibri" pitchFamily="34" charset="0"/>
                <a:ea typeface="Calibri" pitchFamily="34" charset="-122"/>
                <a:cs typeface="Calibri" pitchFamily="34" charset="-120"/>
              </a:rPr>
              <a:t>[7]  Bonde et al.; Shanthi et al.; Praveen et al. (2025-2026). Full citations to be added by the team.</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 Real-Time AI CCTV Threat Detection - FYP-I Defense</dc:title>
  <dc:subject>PptxGenJS Presentation</dc:subject>
  <dc:creator>Muddassir Rizwan, Faiz Hussain, Qaim Mehdi</dc:creator>
  <cp:lastModifiedBy>Muddassir Rizwan, Faiz Hussain, Qaim Mehdi</cp:lastModifiedBy>
  <cp:revision>1</cp:revision>
  <dcterms:created xsi:type="dcterms:W3CDTF">2026-09-19T10:09:41Z</dcterms:created>
  <dcterms:modified xsi:type="dcterms:W3CDTF">2026-09-19T10:09:41Z</dcterms:modified>
</cp:coreProperties>
</file>